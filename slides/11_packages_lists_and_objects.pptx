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Relationship Id="rId66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11차시: 패키지, 리스트와 R 객체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패키지의 역할을 설명하고 설치와 불러오기를 구분할 수 있다.</a:t>
            </a:r>
          </a:p>
          <a:p>
            <a:pPr lvl="0" indent="-457200" marL="457200">
              <a:buAutoNum type="arabicPeriod"/>
            </a:pPr>
            <a:r>
              <a:rPr/>
              <a:t>서로 다른 종류의 데이터를 리스트에 저장하고 꺼낼 수 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attributes()</a:t>
            </a:r>
            <a:r>
              <a:rPr/>
              <a:t>로 객체 구조를 조사할 수 있다.</a:t>
            </a:r>
          </a:p>
          <a:p>
            <a:pPr lvl="0" indent="-457200" marL="457200">
              <a:buAutoNum type="arabicPeriod"/>
            </a:pPr>
            <a:r>
              <a:rPr/>
              <a:t>복합 R 객체를 RDS 파일로 저장하고 다시 불러올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함수와 인자의 역할을 설명할 수 있습니다.</a:t>
            </a:r>
          </a:p>
          <a:p>
            <a:pPr lvl="0"/>
            <a:r>
              <a:rPr/>
              <a:t>벡터, 행렬, 데이터 프레임을 만들고 값을 선택할 수 있습니다.</a:t>
            </a:r>
          </a:p>
          <a:p>
            <a:pPr lvl="0"/>
            <a:r>
              <a:rPr/>
              <a:t>CSV 파일을 불러오고 저장할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R의 기능은 패키지로 확장된다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패키지는 함수, 데이터, 도움말을 묶어 배포하는 단위입니다.</a:t>
            </a:r>
          </a:p>
          <a:p>
            <a:pPr lvl="0"/>
            <a:r>
              <a:rPr/>
              <a:t>R을 설치하면 기본 패키지와 권장 패키지가 함께 제공됩니다.</a:t>
            </a:r>
          </a:p>
          <a:p>
            <a:pPr lvl="0"/>
            <a:r>
              <a:rPr/>
              <a:t>필요한 외부 패키지를 추가하면 새로운 분석 기능을 사용할 수 있습니다.</a:t>
            </a:r>
          </a:p>
          <a:p>
            <a:pPr lvl="0"/>
            <a:r>
              <a:rPr/>
              <a:t>Seurat도 단일세포 전사체 분석 기능을 제공하는 R 패키지입니다.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 사용은 두 단계로 나뉜다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1. 설치: 컴퓨터에 패키지를 내려받아 준비한다.
2. 불러오기: 현재 R 세션에서 패키지를 사용하도록 연결한다.</a:t>
            </a:r>
          </a:p>
          <a:p>
            <a:pPr lvl="0" indent="0" marL="0">
              <a:buNone/>
            </a:pPr>
            <a:r>
              <a:rPr/>
              <a:t>설치는 보통 한 번, 불러오기는 R을 새로 시작할 때마다 수행합니다.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install.packages()</a:t>
            </a:r>
            <a:r>
              <a:rPr/>
              <a:t>로 외부 패키지를 설치한다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install.packages("ggplot2")</a:t>
            </a:r>
          </a:p>
          <a:p>
            <a:pPr lvl="0"/>
            <a:r>
              <a:rPr/>
              <a:t>따옴표 안에 패키지 이름을 작성합니다.</a:t>
            </a:r>
          </a:p>
          <a:p>
            <a:pPr lvl="0"/>
            <a:r>
              <a:rPr/>
              <a:t>인터넷 연결이 필요합니다.</a:t>
            </a:r>
          </a:p>
          <a:p>
            <a:pPr lvl="0"/>
            <a:r>
              <a:rPr/>
              <a:t>설치는 콘솔에서 한 번 실행하고 수업 스크립트에는 반복해서 넣지 않습니다.</a:t>
            </a:r>
          </a:p>
          <a:p>
            <a:pPr lvl="0" indent="0" marL="1270000">
              <a:buNone/>
            </a:pPr>
            <a:r>
              <a:rPr sz="2000"/>
              <a:t>이 차시에서는 추가 설치 없이 기본 R만으로 실습합니다.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큰 패키지는 설치 전에 준비 사항을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install.packages("Seurat")</a:t>
            </a:r>
          </a:p>
          <a:p>
            <a:pPr lvl="0"/>
            <a:r>
              <a:rPr/>
              <a:t>Seurat처럼 의존 패키지가 많은 패키지는 설치 시간이 오래 걸릴 수 있습니다.</a:t>
            </a:r>
          </a:p>
          <a:p>
            <a:pPr lvl="0"/>
            <a:r>
              <a:rPr/>
              <a:t>R 버전, 운영체제, 설치 오류 메시지를 함께 확인합니다.</a:t>
            </a:r>
          </a:p>
          <a:p>
            <a:pPr lvl="0"/>
            <a:r>
              <a:rPr/>
              <a:t>수업 중 매번 다시 설치하지 않습니다.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library()</a:t>
            </a:r>
            <a:r>
              <a:rPr/>
              <a:t>로 패키지를 현재 세션에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library(ggplot2)</a:t>
            </a:r>
          </a:p>
          <a:p>
            <a:pPr lvl="0"/>
            <a:r>
              <a:rPr/>
              <a:t>패키지 이름에 따옴표를 쓰지 않는 형태를 주로 사용합니다.</a:t>
            </a:r>
          </a:p>
          <a:p>
            <a:pPr lvl="0"/>
            <a:r>
              <a:rPr/>
              <a:t>설치되지 않은 패키지는 </a:t>
            </a:r>
            <a:r>
              <a:rPr>
                <a:latin typeface="Courier"/>
              </a:rPr>
              <a:t>library()</a:t>
            </a:r>
            <a:r>
              <a:rPr/>
              <a:t>로 불러올 수 없습니다.</a:t>
            </a:r>
          </a:p>
          <a:p>
            <a:pPr lvl="0"/>
            <a:r>
              <a:rPr/>
              <a:t>R을 다시 시작하면 필요한 패키지를 다시 불러옵니다.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설치와 불러오기를 구분한다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목적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실행 빈도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컴퓨터에 패키지 준비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install.packages()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보통 한 번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현재 세션에서 사용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library()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새 세션마다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오류 메시지에 “there is no package called”가 나오면 설치 여부를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패키지가 설치됐는지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installed.packages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/>
            <a:r>
              <a:rPr>
                <a:latin typeface="Courier"/>
              </a:rPr>
              <a:t>installed.packages()</a:t>
            </a:r>
            <a:r>
              <a:rPr/>
              <a:t>는 설치된 패키지 정보를 반환합니다.</a:t>
            </a:r>
          </a:p>
          <a:p>
            <a:pPr lvl="0"/>
            <a:r>
              <a:rPr/>
              <a:t>패키지 이름이 목록에 있는지 </a:t>
            </a:r>
            <a:r>
              <a:rPr>
                <a:latin typeface="Courier"/>
              </a:rPr>
              <a:t>%in%</a:t>
            </a:r>
            <a:r>
              <a:rPr/>
              <a:t>으로 확인할 수 있습니다.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requireNamespace()</a:t>
            </a:r>
            <a:r>
              <a:rPr/>
              <a:t>로 조용히 확인할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requireNamespace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quietly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requireNamespace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"a_package_not_installed"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quietly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설치되어 있으면 </a:t>
            </a:r>
            <a:r>
              <a:rPr>
                <a:latin typeface="Courier"/>
              </a:rPr>
              <a:t>TRUE</a:t>
            </a:r>
            <a:r>
              <a:rPr/>
              <a:t>, 없으면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패키지를 검색 경로에 연결하지 않고 설치 여부만 확인합니다.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 버전을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packageVersion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같은 코드도 패키지 버전에 따라 동작이 달라질 수 있습니다.</a:t>
            </a:r>
          </a:p>
          <a:p>
            <a:pPr lvl="0"/>
            <a:r>
              <a:rPr/>
              <a:t>재현 가능한 분석 기록에는 R과 주요 패키지 버전이 중요합니다.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패키지::함수</a:t>
            </a:r>
            <a:r>
              <a:rPr/>
              <a:t>로 출처를 명시한다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utils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패키지를 </a:t>
            </a:r>
            <a:r>
              <a:rPr>
                <a:latin typeface="Courier"/>
              </a:rPr>
              <a:t>library()</a:t>
            </a:r>
            <a:r>
              <a:rPr/>
              <a:t>로 불러오지 않고 특정 함수를 사용할 수 있습니다.</a:t>
            </a:r>
          </a:p>
          <a:p>
            <a:pPr lvl="0"/>
            <a:r>
              <a:rPr/>
              <a:t>함수가 어느 패키지에서 왔는지 코드에 분명히 표시됩니다.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이름의 함수가 있을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패키지가 같은 이름의 함수를 제공하면 어떤 함수가 사용되는지 혼동할 수 있습니다.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package_name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function_name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::</a:t>
            </a:r>
            <a:r>
              <a:rPr/>
              <a:t> 표기를 사용하면 원하는 패키지의 함수를 명시적으로 선택할 수 있습니다.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도움말에서 함수의 패키지를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median</a:t>
            </a:r>
          </a:p>
          <a:p>
            <a:pPr lvl="0" indent="0" marL="0">
              <a:buNone/>
            </a:pPr>
            <a:r>
              <a:rPr/>
              <a:t>도움말의 제목과 설명에서 함수가 속한 패키지, 인자, 반환값, 예제를 확인합니다.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sessionInfo()</a:t>
            </a:r>
            <a:r>
              <a:rPr/>
              <a:t>로 실행 환경을 기록한다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다음 정보를 확인할 수 있습니다.</a:t>
            </a:r>
          </a:p>
          <a:p>
            <a:pPr lvl="0"/>
            <a:r>
              <a:rPr/>
              <a:t>R 버전과 운영체제</a:t>
            </a:r>
          </a:p>
          <a:p>
            <a:pPr lvl="0"/>
            <a:r>
              <a:rPr/>
              <a:t>현재 연결된 패키지</a:t>
            </a:r>
          </a:p>
          <a:p>
            <a:pPr lvl="0"/>
            <a:r>
              <a:rPr/>
              <a:t>불러온 네임스페이스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서로 다른 자료형을 하나로 묶고 싶다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sample_id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</a:p>
          <a:p>
            <a:pPr lvl="0"/>
            <a:r>
              <a:rPr/>
              <a:t>벡터는 원소의 자료형을 하나로 맞춥니다.</a:t>
            </a:r>
          </a:p>
          <a:p>
            <a:pPr lvl="0"/>
            <a:r>
              <a:rPr/>
              <a:t>관련된 문자, 숫자, 논리값을 원래 자료형 그대로 묶으려면 리스트를 사용합니다.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list()</a:t>
            </a:r>
            <a:r>
              <a:rPr/>
              <a:t>로 리스트를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0" marL="0">
              <a:buNone/>
            </a:pPr>
            <a:r>
              <a:rPr/>
              <a:t>리스트의 각 원소는 서로 다른 자료형과 크기를 가질 수 있습니다.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리스트 원소에 이름을 붙인다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(sample_result)</a:t>
            </a:r>
          </a:p>
          <a:p>
            <a:pPr lvl="0" indent="0" marL="0">
              <a:buNone/>
            </a:pPr>
            <a:r>
              <a:rPr/>
              <a:t>이름을 붙이면 각 원소의 의미와 접근 방법이 분명해집니다.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로 이름이 있는 원소를 꺼낸다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는 원소의 내용을 원래 자료형으로 반환합니다.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[[ ]]</a:t>
            </a:r>
            <a:r>
              <a:rPr/>
              <a:t>로 원소의 내용을 꺼낸다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sample_result[[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</a:p>
          <a:p>
            <a:pPr lvl="0"/>
            <a:r>
              <a:rPr/>
              <a:t>위치 또는 이름을 사용할 수 있습니다.</a:t>
            </a:r>
          </a:p>
          <a:p>
            <a:pPr lvl="0"/>
            <a:r>
              <a:rPr/>
              <a:t>선택한 원소의 내용 자체를 반환합니다.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 ]</a:t>
            </a:r>
            <a:r>
              <a:rPr/>
              <a:t>는 원소를 포함한 리스트를 반환한다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결과는 원소가 하나여도 리스트입니다.</a:t>
            </a:r>
          </a:p>
          <a:p>
            <a:pPr lvl="0"/>
            <a:r>
              <a:rPr/>
              <a:t>리스트의 일부를 다시 리스트로 유지할 때 사용합니다.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 ]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의 결과를 비교한다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선택 방법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결과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 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리스트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[[ ]]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원소의 내용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이름으로 선택한 원소의 내용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원소를 리스트로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"passed_qc"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여러 원소를 선택할 때는 </a:t>
            </a:r>
            <a:r>
              <a:rPr>
                <a:latin typeface="Courier"/>
              </a:rPr>
              <a:t>[ ]</a:t>
            </a:r>
            <a:r>
              <a:rPr/>
              <a:t> 안에 이름 벡터를 사용합니다.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리스트에는 벡터와 데이터 프레임도 넣을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qc_labels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metadata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/>
              <a:t>각 원소는 길이가 다른 벡터나 전체 데이터 프레임일 수도 있습니다.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리스트 안에 리스트를 넣을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analysis_parameters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project_name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"training_project"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이처럼 리스트가 여러 단계로 들어 있는 구조를 중첩 리스트라고 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중첩 리스트의 값에 단계적으로 접근한다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analysis_parameters[[</a:t>
            </a:r>
            <a:r>
              <a:rPr>
                <a:solidFill>
                  <a:srgbClr val="20794D"/>
                </a:solidFill>
                <a:latin typeface="Courier"/>
              </a:rPr>
              <a:t>"qc"</a:t>
            </a:r>
            <a:r>
              <a:rPr>
                <a:solidFill>
                  <a:srgbClr val="003B4F"/>
                </a:solidFill>
                <a:latin typeface="Courier"/>
              </a:rPr>
              <a:t>]][[</a:t>
            </a:r>
            <a:r>
              <a:rPr>
                <a:solidFill>
                  <a:srgbClr val="20794D"/>
                </a:solidFill>
                <a:latin typeface="Courier"/>
              </a:rPr>
              <a:t>"max_mito"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</a:p>
          <a:p>
            <a:pPr lvl="0" indent="0" marL="0">
              <a:buNone/>
            </a:pPr>
            <a:r>
              <a:rPr/>
              <a:t>바깥 원소부터 안쪽 원소로 한 단계씩 이동합니다.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중간 구조를 확인하면서 접근한다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qc)</a:t>
            </a:r>
          </a:p>
          <a:p>
            <a:pPr lvl="0" indent="0" marL="0">
              <a:buNone/>
            </a:pPr>
            <a:r>
              <a:rPr/>
              <a:t>복잡한 객체에서는 이름을 추측하기보다 각 단계의 구조를 확인합니다.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기존 리스트 원소를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 indent="0" marL="0">
              <a:buNone/>
            </a:pPr>
            <a:r>
              <a:rPr/>
              <a:t>기존 이름에 새 값을 저장하면 해당 원소가 수정됩니다.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새 원소를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0" marL="0">
              <a:buNone/>
            </a:pPr>
            <a:r>
              <a:rPr/>
              <a:t>존재하지 않는 이름에 값을 저장하면 새 원소가 추가됩니다.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원소를 제거할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0" marL="0">
              <a:buNone/>
            </a:pPr>
            <a:r>
              <a:rPr/>
              <a:t>리스트 원소에 </a:t>
            </a:r>
            <a:r>
              <a:rPr>
                <a:latin typeface="Courier"/>
              </a:rPr>
              <a:t>NULL</a:t>
            </a:r>
            <a:r>
              <a:rPr/>
              <a:t>을 저장하면 해당 원소가 제거됩니다.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NULL</a:t>
            </a:r>
            <a:r>
              <a:rPr/>
              <a:t>과 </a:t>
            </a:r>
            <a:r>
              <a:rPr>
                <a:latin typeface="Courier"/>
              </a:rPr>
              <a:t>NA</a:t>
            </a:r>
            <a:r>
              <a:rPr/>
              <a:t>는 의미가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</a:t>
            </a:r>
            <a:r>
              <a:rPr/>
              <a:t>: 값이 있어야 하지만 알 수 없는 결측값</a:t>
            </a:r>
          </a:p>
          <a:p>
            <a:pPr lvl="0"/>
            <a:r>
              <a:rPr>
                <a:latin typeface="Courier"/>
              </a:rPr>
              <a:t>NULL</a:t>
            </a:r>
            <a:r>
              <a:rPr/>
              <a:t>: 객체나 원소 자체가 없음을 나타냄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measured_value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분석에서 두 값을 같은 의미로 사용하지 않습니다.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프레임도 리스트의 한 종류다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is.list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데이터 프레임은 길이가 같은 열 벡터들을 묶은 특별한 리스트입니다.</a:t>
            </a:r>
          </a:p>
          <a:p>
            <a:pPr lvl="0"/>
            <a:r>
              <a:rPr/>
              <a:t>데이터 프레임의 </a:t>
            </a:r>
            <a:r>
              <a:rPr>
                <a:latin typeface="Courier"/>
              </a:rPr>
              <a:t>$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가 리스트와 비슷하게 동작하는 이유입니다.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결과를 하나의 리스트로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analysis_result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metadata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summary =</a:t>
            </a:r>
            <a:r>
              <a:rPr>
                <a:solidFill>
                  <a:srgbClr val="003B4F"/>
                </a:solidFill>
                <a:latin typeface="Courier"/>
              </a:rPr>
              <a:t> condition_summary,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parameters =</a:t>
            </a:r>
            <a:r>
              <a:rPr>
                <a:solidFill>
                  <a:srgbClr val="003B4F"/>
                </a:solidFill>
                <a:latin typeface="Courier"/>
              </a:rPr>
              <a:t> analysis_parameters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관련된 입력 데이터, 결과, 설정값을 한 객체에 묶을 수 있습니다.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class()</a:t>
            </a:r>
            <a:r>
              <a:rPr/>
              <a:t>는 객체의 종류를 알려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/>
              <a:t>객체의 종류에 따라 사용할 수 있는 함수와 접근 방법이 달라집니다.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typeof()</a:t>
            </a:r>
            <a:r>
              <a:rPr/>
              <a:t>는 내부 저장 방식을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/>
              <a:t>데이터 프레임과 일반 리스트의 </a:t>
            </a:r>
            <a:r>
              <a:rPr>
                <a:latin typeface="Courier"/>
              </a:rPr>
              <a:t>class()</a:t>
            </a:r>
            <a:r>
              <a:rPr/>
              <a:t>는 다르지만 내부적으로 둘 다 리스트 구조를 사용합니다.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는 복잡한 객체를 조사하는 출발점이다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는 다음 정보를 한 번에 보여 줍니다.</a:t>
            </a:r>
          </a:p>
          <a:p>
            <a:pPr lvl="0"/>
            <a:r>
              <a:rPr/>
              <a:t>객체와 하위 원소의 종류</a:t>
            </a:r>
          </a:p>
          <a:p>
            <a:pPr lvl="0"/>
            <a:r>
              <a:rPr/>
              <a:t>원소 이름과 길이</a:t>
            </a:r>
          </a:p>
          <a:p>
            <a:pPr lvl="0"/>
            <a:r>
              <a:rPr/>
              <a:t>저장된 값의 일부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큰 객체는 표시할 깊이를 제한한다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중첩 단계가 많은 객체는 필요한 깊이까지만 확인하면 출력이 지나치게 길어지는 것을 막을 수 있습니다.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names()</a:t>
            </a:r>
            <a:r>
              <a:rPr/>
              <a:t>로 현재 단계의 원소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qc)</a:t>
            </a:r>
          </a:p>
          <a:p>
            <a:pPr lvl="0" indent="0" marL="0">
              <a:buNone/>
            </a:pPr>
            <a:r>
              <a:rPr/>
              <a:t>한 단계씩 이름을 확인한 뒤 필요한 원소에 접근합니다.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attributes()</a:t>
            </a:r>
            <a:r>
              <a:rPr/>
              <a:t>로 객체의 속성을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attributes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데이터 프레임에는 다음과 같은 속성이 있습니다.</a:t>
            </a:r>
          </a:p>
          <a:p>
            <a:pPr lvl="0"/>
            <a:r>
              <a:rPr/>
              <a:t>열 이름을 나타내는 </a:t>
            </a:r>
            <a:r>
              <a:rPr>
                <a:latin typeface="Courier"/>
              </a:rPr>
              <a:t>names</a:t>
            </a:r>
          </a:p>
          <a:p>
            <a:pPr lvl="0"/>
            <a:r>
              <a:rPr/>
              <a:t>행 이름을 나타내는 </a:t>
            </a:r>
            <a:r>
              <a:rPr>
                <a:latin typeface="Courier"/>
              </a:rPr>
              <a:t>row.names</a:t>
            </a:r>
          </a:p>
          <a:p>
            <a:pPr lvl="0"/>
            <a:r>
              <a:rPr/>
              <a:t>객체 종류를 나타내는 </a:t>
            </a:r>
            <a:r>
              <a:rPr>
                <a:latin typeface="Courier"/>
              </a:rPr>
              <a:t>class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행렬의 속성을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example_matrix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(example_matrix)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attributes</a:t>
            </a:r>
            <a:r>
              <a:rPr>
                <a:solidFill>
                  <a:srgbClr val="003B4F"/>
                </a:solidFill>
                <a:latin typeface="Courier"/>
              </a:rPr>
              <a:t>(example_matrix)</a:t>
            </a:r>
          </a:p>
          <a:p>
            <a:pPr lvl="0" indent="0" marL="0">
              <a:buNone/>
            </a:pPr>
            <a:r>
              <a:rPr/>
              <a:t>행렬은 차원을 나타내는 </a:t>
            </a:r>
            <a:r>
              <a:rPr>
                <a:latin typeface="Courier"/>
              </a:rPr>
              <a:t>dim</a:t>
            </a:r>
            <a:r>
              <a:rPr/>
              <a:t> 속성을 가집니다.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object.size()</a:t>
            </a:r>
            <a:r>
              <a:rPr/>
              <a:t>로 객체 크기를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object.size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object.size</a:t>
            </a:r>
            <a:r>
              <a:rPr>
                <a:solidFill>
                  <a:srgbClr val="003B4F"/>
                </a:solidFill>
                <a:latin typeface="Courier"/>
              </a:rPr>
              <a:t>(analysis_result),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"auto"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전사체 분석 객체는 클 수 있으므로 메모리에서 차지하는 크기를 확인하는 습관이 중요합니다.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함수는 객체의 클래스에 따라 다르게 동작할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같은 </a:t>
            </a:r>
            <a:r>
              <a:rPr>
                <a:latin typeface="Courier"/>
              </a:rPr>
              <a:t>summary()</a:t>
            </a:r>
            <a:r>
              <a:rPr/>
              <a:t>라도 숫자형 벡터와 데이터 프레임에서 다른 형태의 결과를 만듭니다.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사용 가능한 메서드를 확인할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methods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"summary"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/>
            <a:r>
              <a:rPr/>
              <a:t>R의 일부 함수는 객체 클래스에 맞는 메서드를 선택합니다.</a:t>
            </a:r>
          </a:p>
          <a:p>
            <a:pPr lvl="0"/>
            <a:r>
              <a:rPr/>
              <a:t>입문 단계에서는 먼저 </a:t>
            </a:r>
            <a:r>
              <a:rPr>
                <a:latin typeface="Courier"/>
              </a:rPr>
              <a:t>class()</a:t>
            </a:r>
            <a:r>
              <a:rPr/>
              <a:t>와 도움말로 올바른 사용법을 확인합니다.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복잡한 분석 객체는 구조를 먼저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1. class(object)
2. str(object, max.level = 2)
3. names(object)
4. 필요한 하위 원소의 class()와 names()</a:t>
            </a:r>
          </a:p>
          <a:p>
            <a:pPr lvl="0" indent="0" marL="0">
              <a:buNone/>
            </a:pPr>
            <a:r>
              <a:rPr/>
              <a:t>처음부터 깊은 위치를 추측하지 않고 바깥 구조부터 단계적으로 살펴봅니다.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Seurat 객체도 여러 정보를 담는 복합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Seurat 객체에는 일반적으로 다음과 같은 종류의 정보가 함께 들어 있습니다.</a:t>
            </a:r>
          </a:p>
          <a:p>
            <a:pPr lvl="0"/>
            <a:r>
              <a:rPr/>
              <a:t>발현 데이터</a:t>
            </a:r>
          </a:p>
          <a:p>
            <a:pPr lvl="0"/>
            <a:r>
              <a:rPr/>
              <a:t>세포 메타데이터</a:t>
            </a:r>
          </a:p>
          <a:p>
            <a:pPr lvl="0"/>
            <a:r>
              <a:rPr/>
              <a:t>차원 축소 결과</a:t>
            </a:r>
          </a:p>
          <a:p>
            <a:pPr lvl="0"/>
            <a:r>
              <a:rPr/>
              <a:t>분석 과정에서 생성된 결과와 설정</a:t>
            </a:r>
          </a:p>
          <a:p>
            <a:pPr lvl="0" indent="0" marL="0">
              <a:buNone/>
            </a:pPr>
            <a:r>
              <a:rPr/>
              <a:t>실제 접근 방법은 Seurat 버전과 객체 클래스의 공식 사용법을 확인합니다.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복잡한 객체는 제공된 접근 함수를 우선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객체 내부 구조는 패키지 버전에 따라 달라질 수 있습니다.</a:t>
            </a:r>
          </a:p>
          <a:p>
            <a:pPr lvl="0"/>
            <a:r>
              <a:rPr/>
              <a:t>내부 위치를 직접 수정하면 객체의 일관성이 깨질 수 있습니다.</a:t>
            </a:r>
          </a:p>
          <a:p>
            <a:pPr lvl="0"/>
            <a:r>
              <a:rPr/>
              <a:t>패키지가 제공하는 함수와 공식 도움말을 우선 사용합니다.</a:t>
            </a:r>
          </a:p>
          <a:p>
            <a:pPr lvl="0"/>
            <a:r>
              <a:rPr/>
              <a:t>문제가 생기면 </a:t>
            </a:r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str()</a:t>
            </a:r>
            <a:r>
              <a:rPr/>
              <a:t>, 패키지 버전을 함께 확인합니다.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CSV는 복합 객체 전체를 저장할 수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CSV는 하나의 직사각형 표를 저장하기에 적합합니다.</a:t>
            </a:r>
          </a:p>
          <a:p>
            <a:pPr lvl="0"/>
            <a:r>
              <a:rPr/>
              <a:t>리스트 안의 행렬, 데이터 프레임, 설정값을 한 CSV에 그대로 저장할 수 없습니다.</a:t>
            </a:r>
          </a:p>
          <a:p>
            <a:pPr lvl="0"/>
            <a:r>
              <a:rPr/>
              <a:t>R 객체 구조 전체를 보존하려면 RDS 형식을 사용할 수 있습니다.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saveRDS()</a:t>
            </a:r>
            <a:r>
              <a:rPr/>
              <a:t>로 객체 하나를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RDS 파일은 객체의 자료형과 중첩 구조를 함께 보존합니다.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readRDS()</a:t>
            </a:r>
            <a:r>
              <a:rPr/>
              <a:t>로 객체를 다시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restored_result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(restored_result)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(restored_result)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(restored_result,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readRDS()</a:t>
            </a:r>
            <a:r>
              <a:rPr/>
              <a:t>의 결과를 원하는 변수 이름에 저장합니다.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 전후 객체가 같은지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(analysis_result, restored_result)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TRUE</a:t>
            </a:r>
            <a:r>
              <a:rPr/>
              <a:t>이면 자료형과 값, 구조가 모두 같습니다.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CSV와 RDS를 목적에 맞게 선택한다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적합한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특징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데이터 프레임, 요약표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다른 프로그램에서도 열기 쉬움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리스트, 모델, 복합 R 객체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 객체 구조를 그대로 보존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공유 목적과 다시 사용할 방법을 고려해 저장 형식을 선택합니다.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설치와 불러오기를 혼동한다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한 번 설치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install.packages("package_name")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새 R 세션에서 불러오기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library(package_name)</a:t>
            </a:r>
          </a:p>
          <a:p>
            <a:pPr lvl="0" indent="0" marL="0">
              <a:buNone/>
            </a:pPr>
            <a:r>
              <a:rPr/>
              <a:t>설치 명령을 분석 스크립트가 실행될 때마다 반복하지 않습니다.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</a:t>
            </a:r>
            <a:r>
              <a:rPr>
                <a:latin typeface="Courier"/>
              </a:rPr>
              <a:t>[ ]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를 혼동한다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]])</a:t>
            </a:r>
          </a:p>
          <a:p>
            <a:pPr lvl="0" indent="0" marL="0">
              <a:buNone/>
            </a:pPr>
            <a:r>
              <a:rPr/>
              <a:t>필요한 결과가 리스트인지 원소 내용인지 확인합니다.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내부 구조를 추측한다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존재하지 않는 이름을 반복해서 시도하기보다 구조와 이름을 먼저 조사합니다.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패키지 상태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installed.packages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requireNamespace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quietly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packageVersion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설치, 불러오기, </a:t>
            </a:r>
            <a:r>
              <a:rPr>
                <a:latin typeface="Courier"/>
              </a:rPr>
              <a:t>::</a:t>
            </a:r>
            <a:r>
              <a:rPr/>
              <a:t> 사용의 차이를 설명합니다.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이름이 있는 리스트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세 선택 결과의 자료형을 비교합니다.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중첩된 분석 객체 탐색하기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min_cells</a:t>
            </a:r>
          </a:p>
          <a:p>
            <a:pPr lvl="0" indent="0" marL="0">
              <a:buNone/>
            </a:pPr>
            <a:r>
              <a:rPr/>
              <a:t>바깥 단계부터 이름과 구조를 확인해 필요한 값에 접근합니다.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RDS로 저장하고 복원하기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restored_result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(analysis_result, restored_result)</a:t>
            </a:r>
          </a:p>
          <a:p>
            <a:pPr lvl="0" indent="0" marL="0">
              <a:buNone/>
            </a:pPr>
            <a:r>
              <a:rPr/>
              <a:t>복원한 객체의 클래스, 이름, 구조도 확인합니다.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패키지 설치와 현재 세션에 불러오기는 서로 다른 과정입니다.</a:t>
            </a:r>
          </a:p>
          <a:p>
            <a:pPr lvl="0"/>
            <a:r>
              <a:rPr/>
              <a:t>리스트는 자료형과 크기가 다른 여러 객체를 함께 저장합니다.</a:t>
            </a:r>
          </a:p>
          <a:p>
            <a:pPr lvl="0"/>
            <a:r>
              <a:rPr>
                <a:latin typeface="Courier"/>
              </a:rPr>
              <a:t>[ ]</a:t>
            </a:r>
            <a:r>
              <a:rPr/>
              <a:t>는 리스트를, </a:t>
            </a:r>
            <a:r>
              <a:rPr>
                <a:latin typeface="Courier"/>
              </a:rPr>
              <a:t>[[ ]]</a:t>
            </a:r>
            <a:r>
              <a:rPr/>
              <a:t>와 </a:t>
            </a:r>
            <a:r>
              <a:rPr>
                <a:latin typeface="Courier"/>
              </a:rPr>
              <a:t>$</a:t>
            </a:r>
            <a:r>
              <a:rPr/>
              <a:t>는 원소 내용을 반환합니다.</a:t>
            </a:r>
          </a:p>
          <a:p>
            <a:pPr lvl="0"/>
            <a:r>
              <a:rPr/>
              <a:t>복잡한 객체는 </a:t>
            </a:r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, </a:t>
            </a:r>
            <a:r>
              <a:rPr>
                <a:latin typeface="Courier"/>
              </a:rPr>
              <a:t>attributes()</a:t>
            </a:r>
            <a:r>
              <a:rPr/>
              <a:t>로 조사합니다.</a:t>
            </a:r>
          </a:p>
          <a:p>
            <a:pPr lvl="0"/>
            <a:r>
              <a:rPr/>
              <a:t>RDS는 복합 R 객체의 구조를 보존하여 저장합니다.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install.packages()</a:t>
            </a:r>
            <a:r>
              <a:rPr/>
              <a:t>와 </a:t>
            </a:r>
            <a:r>
              <a:rPr>
                <a:latin typeface="Courier"/>
              </a:rPr>
              <a:t>library()</a:t>
            </a:r>
            <a:r>
              <a:rPr/>
              <a:t>는 어떻게 다릅니까?</a:t>
            </a:r>
          </a:p>
          <a:p>
            <a:pPr lvl="0" indent="-457200" marL="457200">
              <a:buAutoNum type="arabicPeriod"/>
            </a:pPr>
            <a:r>
              <a:rPr/>
              <a:t>리스트의 </a:t>
            </a:r>
            <a:r>
              <a:rPr>
                <a:latin typeface="Courier"/>
              </a:rPr>
              <a:t>[ ]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는 어떤 결과를 반환합니까?</a:t>
            </a:r>
          </a:p>
          <a:p>
            <a:pPr lvl="0" indent="-457200" marL="457200">
              <a:buAutoNum type="arabicPeriod"/>
            </a:pPr>
            <a:r>
              <a:rPr/>
              <a:t>처음 보는 복잡한 객체는 어떤 순서로 조사합니까?</a:t>
            </a:r>
          </a:p>
          <a:p>
            <a:pPr lvl="0" indent="-457200" marL="457200">
              <a:buAutoNum type="arabicPeriod"/>
            </a:pPr>
            <a:r>
              <a:rPr/>
              <a:t>CSV 대신 RDS를 사용하는 것이 적합한 상황은 언제입니까?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지금까지 배운 내용을 연결해 전사체 형태의 데이터를 분석하는 미니 프로젝트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11차시: 패키지, 리스트와 R 객체</dc:title>
  <dc:creator/>
  <cp:keywords/>
  <dcterms:created xsi:type="dcterms:W3CDTF">2026-07-12T09:24:19Z</dcterms:created>
  <dcterms:modified xsi:type="dcterms:W3CDTF">2026-07-12T09:24:19Z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