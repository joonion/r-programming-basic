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</p:sldIdLst>
  <p:sldSz cx="12192000" cy="6858000"/>
  <p:notesSz cx="6858000" cy="9144000"/>
  <p:defaultTextStyle>
    <a:defPPr>
      <a:defRPr lang="ko-KR"/>
    </a:defPPr>
    <a:lvl1pPr algn="l" defTabSz="914400" eaLnBrk="1" hangingPunct="1" latinLnBrk="1" marL="0" rtl="0">
      <a:defRPr altLang="en-US" b="1" kern="1200" lang="ko-KR" sz="3000">
        <a:solidFill>
          <a:srgbClr val="172033"/>
        </a:solidFill>
        <a:latin charset="-127" panose="02000503000000020004" pitchFamily="50" typeface="Pretendard"/>
        <a:ea charset="-127" panose="02000503000000020004" pitchFamily="50" typeface="Pretendard"/>
        <a:cs typeface="+mn-cs"/>
      </a:defRPr>
    </a:lvl1pPr>
    <a:lvl2pPr algn="l" defTabSz="914400" eaLnBrk="1" hangingPunct="1" latinLnBrk="1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1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1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1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1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1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1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1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 showGuides="1" snapToGrid="0">
      <p:cViewPr varScale="1">
        <p:scale>
          <a:sx d="100" n="113"/>
          <a:sy d="100" n="113"/>
        </p:scale>
        <p:origin x="312" y="108"/>
      </p:cViewPr>
      <p:guideLst>
        <p:guide orient="horz" pos="2160"/>
        <p:guide pos="3840"/>
      </p:guideLst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0" Type="http://schemas.openxmlformats.org/officeDocument/2006/relationships/slide" Target="slides/slide59.xml" /><Relationship Id="rId61" Type="http://schemas.openxmlformats.org/officeDocument/2006/relationships/slide" Target="slides/slide60.xml" /><Relationship Id="rId62" Type="http://schemas.openxmlformats.org/officeDocument/2006/relationships/slide" Target="slides/slide61.xml" /><Relationship Id="rId63" Type="http://schemas.openxmlformats.org/officeDocument/2006/relationships/slide" Target="slides/slide62.xml" /><Relationship Id="rId64" Type="http://schemas.openxmlformats.org/officeDocument/2006/relationships/slide" Target="slides/slide63.xml" /><Relationship Id="rId65" Type="http://schemas.openxmlformats.org/officeDocument/2006/relationships/slide" Target="slides/slide64.xml" /><Relationship Id="rId66" Type="http://schemas.openxmlformats.org/officeDocument/2006/relationships/slide" Target="slides/slide65.xml" /><Relationship Id="rId67" Type="http://schemas.openxmlformats.org/officeDocument/2006/relationships/slide" Target="slides/slide66.xml" /><Relationship Id="rId68" Type="http://schemas.openxmlformats.org/officeDocument/2006/relationships/slide" Target="slides/slide67.xml" /><Relationship Id="rId69" Type="http://schemas.openxmlformats.org/officeDocument/2006/relationships/slide" Target="slides/slide68.xml" /><Relationship Id="rId7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3" Type="http://schemas.openxmlformats.org/officeDocument/2006/relationships/tableStyles" Target="tableStyles.xml" /><Relationship Id="rId72" Type="http://schemas.openxmlformats.org/officeDocument/2006/relationships/theme" Target="theme/theme1.xml" /><Relationship Id="rId71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DC4F62-B626-4C1A-9258-8B7A85121C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36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53DA06A-F964-4BA7-B1A0-476AFBA404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0">
                <a:solidFill>
                  <a:srgbClr val="0F766E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5EA77F-A944-4F90-A580-BFB1EBDD9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247731-8C16-48CE-83E8-82961F5A4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3EC76E-53A1-48FD-AAA5-91D55E1A2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0F5A436-622D-4609-9CAD-93F62FE9C071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9035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3ADEE9-D4EA-4A02-8908-7CE7FA28F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DF8BB1-DB9D-47B4-AC6B-6E959AF59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657BB9-73CC-4070-8281-5B07E989F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B2FCBBD-DFA9-4E92-A913-26CF9C16EE1F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7119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xercise"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 b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3ADEE9-D4EA-4A02-8908-7CE7FA28F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DF8BB1-DB9D-47B4-AC6B-6E959AF59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657BB9-73CC-4070-8281-5B07E989F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B51DC66-B343-4339-8DFE-F337361B7142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624DEFA-F193-42BA-A7DC-72FAB0CB111A}"/>
              </a:ext>
            </a:extLst>
          </p:cNvPr>
          <p:cNvSpPr/>
          <p:nvPr userDrawn="1"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18FC79-1AA4-44C2-AB13-4EE8FD5EB7E8}"/>
              </a:ext>
            </a:extLst>
          </p:cNvPr>
          <p:cNvSpPr txBox="1"/>
          <p:nvPr userDrawn="1"/>
        </p:nvSpPr>
        <p:spPr>
          <a:xfrm>
            <a:off x="508000" y="990600"/>
            <a:ext cx="228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100" b="1">
                <a:solidFill>
                  <a:srgbClr val="0F766E"/>
                </a:solidFill>
                <a:latin typeface="Inter" panose="02000503000000020004" pitchFamily="2" charset="0"/>
                <a:ea typeface="Inter" panose="02000503000000020004" pitchFamily="2" charset="0"/>
              </a:rPr>
              <a:t>PRACTICE</a:t>
            </a:r>
            <a:endParaRPr lang="ko-KR" altLang="en-US" sz="1100" b="1">
              <a:solidFill>
                <a:srgbClr val="0F766E"/>
              </a:solidFill>
              <a:latin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9830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de / Demonstra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JetBrains Mono" panose="02000009000000000000" pitchFamily="49" charset="0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JetBrains Mono" panose="02000009000000000000" pitchFamily="49" charset="0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JetBrains Mono" panose="02000009000000000000" pitchFamily="49" charset="0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JetBrains Mono" panose="02000009000000000000" pitchFamily="49" charset="0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JetBrains Mono" panose="02000009000000000000" pitchFamily="49" charset="0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3ADEE9-D4EA-4A02-8908-7CE7FA28F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DF8BB1-DB9D-47B4-AC6B-6E959AF59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657BB9-73CC-4070-8281-5B07E989F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F65F950-2413-4CE2-8BD0-18A4BBCD72EB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8C3D350-ADF5-46FD-87CE-C07683F6982B}"/>
              </a:ext>
            </a:extLst>
          </p:cNvPr>
          <p:cNvSpPr/>
          <p:nvPr userDrawn="1"/>
        </p:nvSpPr>
        <p:spPr>
          <a:xfrm>
            <a:off x="457200" y="1422400"/>
            <a:ext cx="11277600" cy="457200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0862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00C25F-30DA-4EDD-8504-44DA909B4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8E1EED7-4C61-4A08-AF5B-A390C60A0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6A1FF6-51FE-4685-BA34-E0F89D454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B3851C-0BE4-4E91-95F4-2EC266D69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3CBF9E-951B-4FF6-85E6-6601F2386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5492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E8392-3978-4394-BAB4-2437C15AD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74FF69-769F-4677-B82A-E232B25BA9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52B5173-A205-47A2-953F-A236FB1D43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DD21268-4ABF-4DE0-998A-28F7BFCD2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BEFEE9E-EDCD-4886-92ED-3796485C8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E14DB4-8F62-4CD7-8DD2-AD422C0CF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8B169FF-FAD7-46E0-9D59-C9B5BEB076DC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6909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F9F672-094E-482F-8FE2-0C0D8F2E0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0AF80BD-BF78-49AF-BBBA-1A773DA2CE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8D6527-B034-41A0-9FC9-C530962C8B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E5785AA-E40F-4E95-B834-2D7649E02A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DA75630-B532-4D2B-BA6E-233076F4AD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005AF02-6B25-4BBC-9A62-947D98835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A29AF57-1554-4883-A5C0-D2E356058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F02C77D-EDE4-4302-857A-97BE6DADB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2813AE4-CA38-49CC-83A5-DA570C2D152E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4571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AC5B61-FD8F-4A03-8446-AFB1FC117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317F6E7-F469-4E45-A7CA-18C4220B7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081412A-6E99-4D2F-8564-CCE9309E2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7B49B12-B58B-42B1-9FC8-0F11E70ED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C9F98D1-EC0F-4996-8D0E-19D80403D7FB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5938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B3DAFDE-3EF4-4BC2-8C6E-53A0DCBB0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E806864-590A-497A-9E3B-31220A838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AE52D8-EF8D-4B38-BAE5-100369F3A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5789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96CAC9-BDCF-454F-B4EB-26821C0AC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F85D79-8D84-4463-A554-36DA89022A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4A32173-BE5A-4386-B8FC-0DD3565F6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5D7BBE8-F04D-4F20-A998-2847A7EC3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1091599-E0C3-4951-800C-0FA8BF5CD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9D06458-41C2-4B2E-9AF2-A62CE3660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39F72F4-84F2-4B08-8B7A-396EE76DDF26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9782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F8A6E4-6940-49AF-8B5F-9B16DB004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5AFC852-B328-4179-BC85-EB34AC8CD4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DBD367B-5A0C-4ADF-98EF-314F244CC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C903147-4754-4023-8B77-20EB33E5B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3ADDB5D-EDEB-4E99-BA69-F1F76F275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872CF2-966E-422A-927F-3BD6A6E59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7E2E2F7-28CA-4288-94F5-8E25DCD2A45E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5647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CE92E6-4E61-4E2B-9F4F-D23641A2E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E576B3A-9062-444C-9C47-61FA4351C0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1A3954-5D36-48F6-87B1-16A84AB44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A0FE3E-5C3F-4A6C-952A-7C8CB744F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068D49-B037-4EA4-BE8F-2516D3000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5064922-4160-4D2C-A562-270D09593F37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05819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C94EABC-274E-4BAD-AB22-188F885A3B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47306ED-34B5-4464-AFBE-9E25FC9A0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0C654F-F2FA-42D5-8AC8-4073F8FBA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31A3EE-B6E8-4AF1-9041-45D44926D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645F18-B2AB-45F4-8642-885F2B8AB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B5F32C9-BBE2-4217-A3E2-DE5FC68F3267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7587791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theme/theme1.xml" Type="http://schemas.openxmlformats.org/officeDocument/2006/relationships/them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461F8DA-C043-4CD7-86F2-E1A0EF4CB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altLang="en-US" lang="ko-KR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14F0DF-8367-4CE4-BFB7-B09F18D1638C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lang="ko-KR"/>
              <a:t>마스터 텍스트 스타일을 편집하려면 클릭</a:t>
            </a:r>
          </a:p>
          <a:p>
            <a:pPr lvl="1"/>
            <a:r>
              <a:rPr altLang="en-US" lang="ko-KR"/>
              <a:t>두 번째 수준</a:t>
            </a:r>
          </a:p>
          <a:p>
            <a:pPr lvl="2"/>
            <a:r>
              <a:rPr altLang="en-US" lang="ko-KR"/>
              <a:t>세 번째 수준</a:t>
            </a:r>
          </a:p>
          <a:p>
            <a:pPr lvl="3"/>
            <a:r>
              <a:rPr altLang="en-US" lang="ko-KR"/>
              <a:t>네 번째 수준</a:t>
            </a:r>
          </a:p>
          <a:p>
            <a:pPr lvl="4"/>
            <a:r>
              <a:rPr altLang="en-US" lang="ko-KR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183F21-A1A8-463E-86D3-0CFB7A05EF38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b="0" sz="900">
                <a:solidFill>
                  <a:srgbClr val="526077"/>
                </a:solidFill>
                <a:latin charset="0" panose="02000503000000020004" pitchFamily="2" typeface="Inter"/>
              </a:defRPr>
            </a:lvl1pPr>
          </a:lstStyle>
          <a:p>
            <a:fld id="{2696ECB5-D1DE-4FA4-9CD7-1650D2029999}" type="datetimeFigureOut">
              <a:rPr altLang="ko-KR" lang="en-US" smtClean="0">
                <a:ea charset="0" panose="02000503000000020004" pitchFamily="2" typeface="Inter"/>
              </a:rPr>
              <a:pPr/>
              <a:t>2026-07-12</a:t>
            </a:fld>
            <a:endParaRPr altLang="ko-KR" lang="en-US">
              <a:ea charset="0" panose="02000503000000020004" pitchFamily="2" typeface="Inter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0C5B5C-65C9-4D66-BC46-FDE4016F57BF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b="0" sz="900">
                <a:solidFill>
                  <a:srgbClr val="526077"/>
                </a:solidFill>
                <a:latin charset="0" panose="02000503000000020004" pitchFamily="2" typeface="Inter"/>
              </a:defRPr>
            </a:lvl1pPr>
          </a:lstStyle>
          <a:p>
            <a:endParaRPr altLang="en-US" 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2730EB-AE08-4C4E-A274-945B51E99D4F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b="0" sz="900">
                <a:solidFill>
                  <a:srgbClr val="526077"/>
                </a:solidFill>
                <a:latin charset="0" panose="02000503000000020004" pitchFamily="2" typeface="Inter"/>
              </a:defRPr>
            </a:lvl1pPr>
          </a:lstStyle>
          <a:p>
            <a:fld id="{812DBD89-BD24-4FCE-906C-9138E5983130}" type="slidenum">
              <a:rPr altLang="ko-KR" lang="en-US" smtClean="0">
                <a:ea charset="0" panose="02000503000000020004" pitchFamily="2" typeface="Inter"/>
              </a:rPr>
              <a:pPr/>
              <a:t>‹#›</a:t>
            </a:fld>
            <a:endParaRPr altLang="ko-KR" lang="en-US">
              <a:ea charset="0" panose="02000503000000020004" pitchFamily="2"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395331952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61" r:id="rId3"/>
    <p:sldLayoutId id="214748366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l" defTabSz="914400" eaLnBrk="1" hangingPunct="1" latinLnBrk="1" rtl="0">
        <a:lnSpc>
          <a:spcPct val="108000"/>
        </a:lnSpc>
        <a:spcBef>
          <a:spcPct val="0"/>
        </a:spcBef>
        <a:spcAft>
          <a:spcPts val="700"/>
        </a:spcAft>
        <a:buNone/>
        <a:defRPr b="0" kern="1200" sz="20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j-cs"/>
        </a:defRPr>
      </a:lvl1pPr>
    </p:titleStyle>
    <p:bodyStyle>
      <a:lvl1pPr algn="l" defTabSz="914400" eaLnBrk="1" hangingPunct="1" indent="-228600" latinLnBrk="1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1pPr>
      <a:lvl2pPr algn="l" defTabSz="914400" eaLnBrk="1" hangingPunct="1" indent="-228600" latinLnBrk="1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2pPr>
      <a:lvl3pPr algn="l" defTabSz="914400" eaLnBrk="1" hangingPunct="1" indent="-228600" latinLnBrk="1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3pPr>
      <a:lvl4pPr algn="l" defTabSz="914400" eaLnBrk="1" hangingPunct="1" indent="-228600" latinLnBrk="1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4pPr>
      <a:lvl5pPr algn="l" defTabSz="914400" eaLnBrk="1" hangingPunct="1" indent="-228600" latinLnBrk="1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5pPr>
      <a:lvl6pPr algn="l" defTabSz="914400" eaLnBrk="1" hangingPunct="1" indent="-228600" latinLnBrk="1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1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1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1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algn="l" defTabSz="914400" eaLnBrk="1" hangingPunct="1" latinLnBrk="1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1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1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1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1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1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1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1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1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DC4F62-B626-4C1A-9258-8B7A85121C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11차시: 패키지, 리스트와 R 객체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53DA06A-F964-4BA7-B1A0-476AFBA404D1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r>
              <a:rPr/>
              <a:t>R 기초 프로그래밍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오늘의 학습 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패키지의 역할을 설명하고 설치와 불러오기를 구분할 수 있다.</a:t>
            </a:r>
          </a:p>
          <a:p>
            <a:pPr lvl="0" indent="-457200" marL="457200">
              <a:buAutoNum type="arabicPeriod"/>
            </a:pPr>
            <a:r>
              <a:rPr/>
              <a:t>서로 다른 종류의 데이터를 리스트에 저장하고 꺼낼 수 있다.</a:t>
            </a:r>
          </a:p>
          <a:p>
            <a:pPr lvl="0" indent="-457200" marL="457200">
              <a:buAutoNum type="arabicPeriod"/>
            </a:pPr>
            <a:r>
              <a:rPr>
                <a:latin typeface="Courier"/>
              </a:rPr>
              <a:t>class()</a:t>
            </a:r>
            <a:r>
              <a:rPr/>
              <a:t>, </a:t>
            </a:r>
            <a:r>
              <a:rPr>
                <a:latin typeface="Courier"/>
              </a:rPr>
              <a:t>str()</a:t>
            </a:r>
            <a:r>
              <a:rPr/>
              <a:t>, </a:t>
            </a:r>
            <a:r>
              <a:rPr>
                <a:latin typeface="Courier"/>
              </a:rPr>
              <a:t>attributes()</a:t>
            </a:r>
            <a:r>
              <a:rPr/>
              <a:t>로 객체 구조를 조사할 수 있다.</a:t>
            </a:r>
          </a:p>
          <a:p>
            <a:pPr lvl="0" indent="-457200" marL="457200">
              <a:buAutoNum type="arabicPeriod"/>
            </a:pPr>
            <a:r>
              <a:rPr>
                <a:latin typeface="Courier"/>
              </a:rPr>
              <a:t>ggplot2</a:t>
            </a:r>
            <a:r>
              <a:rPr/>
              <a:t>와 Seurat의 시각화 결과가 R 객체임을 설명할 수 있다.</a:t>
            </a:r>
          </a:p>
          <a:p>
            <a:pPr lvl="0" indent="-457200" marL="457200">
              <a:buAutoNum type="arabicPeriod"/>
            </a:pPr>
            <a:r>
              <a:rPr/>
              <a:t>복합 R 객체를 RDS 파일로 저장하고 다시 불러올 수 있다.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선수 지식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함수와 인자의 역할을 설명할 수 있습니다.</a:t>
            </a:r>
          </a:p>
          <a:p>
            <a:pPr lvl="0"/>
            <a:r>
              <a:rPr/>
              <a:t>벡터, 행렬, 데이터 프레임을 만들고 값을 선택할 수 있습니다.</a:t>
            </a:r>
          </a:p>
          <a:p>
            <a:pPr lvl="0"/>
            <a:r>
              <a:rPr/>
              <a:t>CSV 파일을 불러오고 저장할 수 있습니다.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R의 기능은 패키지로 확장된다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패키지는 함수, 데이터, 도움말을 묶어 배포하는 단위입니다.</a:t>
            </a:r>
          </a:p>
          <a:p>
            <a:pPr lvl="0"/>
            <a:r>
              <a:rPr/>
              <a:t>R을 설치하면 기본 패키지와 권장 패키지가 함께 제공됩니다.</a:t>
            </a:r>
          </a:p>
          <a:p>
            <a:pPr lvl="0"/>
            <a:r>
              <a:rPr/>
              <a:t>필요한 외부 패키지를 추가하면 새로운 분석 기능을 사용할 수 있습니다.</a:t>
            </a:r>
          </a:p>
          <a:p>
            <a:pPr lvl="0"/>
            <a:r>
              <a:rPr/>
              <a:t>Seurat도 단일세포 전사체 분석 기능을 제공하는 R 패키지입니다.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패키지 사용은 두 단계로 나뉜다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1. 설치: 컴퓨터에 패키지를 내려받아 준비한다.
2. 불러오기: 현재 R 세션에서 패키지를 사용하도록 연결한다.</a:t>
            </a:r>
          </a:p>
          <a:p>
            <a:pPr lvl="0" indent="0" marL="0">
              <a:buNone/>
            </a:pPr>
            <a:r>
              <a:rPr/>
              <a:t>설치는 보통 한 번, 불러오기는 R을 새로 시작할 때마다 수행합니다.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install.packages()</a:t>
            </a:r>
            <a:r>
              <a:rPr/>
              <a:t>로 외부 패키지를 설치한다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install.packages("ggplot2")</a:t>
            </a:r>
          </a:p>
          <a:p>
            <a:pPr lvl="0"/>
            <a:r>
              <a:rPr/>
              <a:t>따옴표 안에 패키지 이름을 작성합니다.</a:t>
            </a:r>
          </a:p>
          <a:p>
            <a:pPr lvl="0"/>
            <a:r>
              <a:rPr/>
              <a:t>인터넷 연결이 필요합니다.</a:t>
            </a:r>
          </a:p>
          <a:p>
            <a:pPr lvl="0"/>
            <a:r>
              <a:rPr/>
              <a:t>설치는 콘솔에서 한 번 실행하고 수업 스크립트에는 반복해서 넣지 않습니다.</a:t>
            </a:r>
          </a:p>
          <a:p>
            <a:pPr lvl="0" indent="0" marL="1270000">
              <a:buNone/>
            </a:pPr>
            <a:r>
              <a:rPr sz="2000"/>
              <a:t>이 차시에서는 추가 설치 없이 기본 R만으로 실습합니다.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큰 패키지는 설치 전에 준비 사항을 확인한다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install.packages("Seurat")</a:t>
            </a:r>
          </a:p>
          <a:p>
            <a:pPr lvl="0"/>
            <a:r>
              <a:rPr/>
              <a:t>Seurat처럼 의존 패키지가 많은 패키지는 설치 시간이 오래 걸릴 수 있습니다.</a:t>
            </a:r>
          </a:p>
          <a:p>
            <a:pPr lvl="0"/>
            <a:r>
              <a:rPr/>
              <a:t>R 버전, 운영체제, 설치 오류 메시지를 함께 확인합니다.</a:t>
            </a:r>
          </a:p>
          <a:p>
            <a:pPr lvl="0"/>
            <a:r>
              <a:rPr/>
              <a:t>수업 중 매번 다시 설치하지 않습니다.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library()</a:t>
            </a:r>
            <a:r>
              <a:rPr/>
              <a:t>로 패키지를 현재 세션에 불러온다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library(ggplot2)</a:t>
            </a:r>
          </a:p>
          <a:p>
            <a:pPr lvl="0"/>
            <a:r>
              <a:rPr/>
              <a:t>패키지 이름에 따옴표를 쓰지 않는 형태를 주로 사용합니다.</a:t>
            </a:r>
          </a:p>
          <a:p>
            <a:pPr lvl="0"/>
            <a:r>
              <a:rPr/>
              <a:t>설치되지 않은 패키지는 </a:t>
            </a:r>
            <a:r>
              <a:rPr>
                <a:latin typeface="Courier"/>
              </a:rPr>
              <a:t>library()</a:t>
            </a:r>
            <a:r>
              <a:rPr/>
              <a:t>로 불러올 수 없습니다.</a:t>
            </a:r>
          </a:p>
          <a:p>
            <a:pPr lvl="0"/>
            <a:r>
              <a:rPr/>
              <a:t>R을 다시 시작하면 필요한 패키지를 다시 불러옵니다.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설치와 불러오기를 구분한다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목적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함수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실행 빈도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컴퓨터에 패키지 준비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install.packages()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보통 한 번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현재 세션에서 사용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library()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새 세션마다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오류 메시지에 “there is no package called”가 나오면 설치 여부를 확인합니다.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패키지가 설치됐는지 확인한다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20794D"/>
                </a:solidFill>
                <a:latin typeface="Courier"/>
              </a:rPr>
              <a:t>"stats"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%in%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rownames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installed.packages</a:t>
            </a:r>
            <a:r>
              <a:rPr>
                <a:solidFill>
                  <a:srgbClr val="003B4F"/>
                </a:solidFill>
                <a:latin typeface="Courier"/>
              </a:rPr>
              <a:t>())</a:t>
            </a:r>
          </a:p>
          <a:p>
            <a:pPr lvl="0"/>
            <a:r>
              <a:rPr>
                <a:latin typeface="Courier"/>
              </a:rPr>
              <a:t>installed.packages()</a:t>
            </a:r>
            <a:r>
              <a:rPr/>
              <a:t>는 설치된 패키지 정보를 반환합니다.</a:t>
            </a:r>
          </a:p>
          <a:p>
            <a:pPr lvl="0"/>
            <a:r>
              <a:rPr/>
              <a:t>패키지 이름이 목록에 있는지 </a:t>
            </a:r>
            <a:r>
              <a:rPr>
                <a:latin typeface="Courier"/>
              </a:rPr>
              <a:t>%in%</a:t>
            </a:r>
            <a:r>
              <a:rPr/>
              <a:t>으로 확인할 수 있습니다.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requireNamespace()</a:t>
            </a:r>
            <a:r>
              <a:rPr/>
              <a:t>로 조용히 확인할 수 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requireNamespace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"stats"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quietly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requireNamespace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"a_package_not_installed"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quietly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/>
            <a:r>
              <a:rPr/>
              <a:t>설치되어 있으면 </a:t>
            </a:r>
            <a:r>
              <a:rPr>
                <a:latin typeface="Courier"/>
              </a:rPr>
              <a:t>TRUE</a:t>
            </a:r>
            <a:r>
              <a:rPr/>
              <a:t>, 없으면 </a:t>
            </a:r>
            <a:r>
              <a:rPr>
                <a:latin typeface="Courier"/>
              </a:rPr>
              <a:t>FALSE</a:t>
            </a:r>
            <a:r>
              <a:rPr/>
              <a:t>입니다.</a:t>
            </a:r>
          </a:p>
          <a:p>
            <a:pPr lvl="0"/>
            <a:r>
              <a:rPr/>
              <a:t>패키지를 검색 경로에 연결하지 않고 설치 여부만 확인합니다.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패키지 버전을 확인한다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packageVersion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"stats"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/>
            <a:r>
              <a:rPr/>
              <a:t>같은 코드도 패키지 버전에 따라 동작이 달라질 수 있습니다.</a:t>
            </a:r>
          </a:p>
          <a:p>
            <a:pPr lvl="0"/>
            <a:r>
              <a:rPr/>
              <a:t>재현 가능한 분석 기록에는 R과 주요 패키지 버전이 중요합니다.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패키지::함수</a:t>
            </a:r>
            <a:r>
              <a:rPr/>
              <a:t>로 출처를 명시한다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stats</a:t>
            </a:r>
            <a:r>
              <a:rPr>
                <a:solidFill>
                  <a:srgbClr val="5E5E5E"/>
                </a:solidFill>
                <a:latin typeface="Courier"/>
              </a:rPr>
              <a:t>::</a:t>
            </a:r>
            <a:r>
              <a:rPr>
                <a:solidFill>
                  <a:srgbClr val="4758AB"/>
                </a:solidFill>
                <a:latin typeface="Courier"/>
              </a:rPr>
              <a:t>median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1350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980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utils</a:t>
            </a:r>
            <a:r>
              <a:rPr>
                <a:solidFill>
                  <a:srgbClr val="5E5E5E"/>
                </a:solidFill>
                <a:latin typeface="Courier"/>
              </a:rPr>
              <a:t>::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(sample_metadata)</a:t>
            </a:r>
          </a:p>
          <a:p>
            <a:pPr lvl="0"/>
            <a:r>
              <a:rPr/>
              <a:t>패키지를 </a:t>
            </a:r>
            <a:r>
              <a:rPr>
                <a:latin typeface="Courier"/>
              </a:rPr>
              <a:t>library()</a:t>
            </a:r>
            <a:r>
              <a:rPr/>
              <a:t>로 불러오지 않고 특정 함수를 사용할 수 있습니다.</a:t>
            </a:r>
          </a:p>
          <a:p>
            <a:pPr lvl="0"/>
            <a:r>
              <a:rPr/>
              <a:t>함수가 어느 패키지에서 왔는지 코드에 분명히 표시됩니다.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같은 이름의 함수가 있을 수 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여러 패키지가 같은 이름의 함수를 제공하면 어떤 함수가 사용되는지 혼동할 수 있습니다.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package_name</a:t>
            </a:r>
            <a:r>
              <a:rPr>
                <a:solidFill>
                  <a:srgbClr val="5E5E5E"/>
                </a:solidFill>
                <a:latin typeface="Courier"/>
              </a:rPr>
              <a:t>::</a:t>
            </a:r>
            <a:r>
              <a:rPr>
                <a:solidFill>
                  <a:srgbClr val="4758AB"/>
                </a:solidFill>
                <a:latin typeface="Courier"/>
              </a:rPr>
              <a:t>function_name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::</a:t>
            </a:r>
            <a:r>
              <a:rPr/>
              <a:t> 표기를 사용하면 원하는 패키지의 함수를 명시적으로 선택할 수 있습니다.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도움말에서 함수의 패키지를 확인한다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?stats</a:t>
            </a:r>
            <a:r>
              <a:rPr>
                <a:solidFill>
                  <a:srgbClr val="5E5E5E"/>
                </a:solidFill>
                <a:latin typeface="Courier"/>
              </a:rPr>
              <a:t>::</a:t>
            </a:r>
            <a:r>
              <a:rPr>
                <a:solidFill>
                  <a:srgbClr val="003B4F"/>
                </a:solidFill>
                <a:latin typeface="Courier"/>
              </a:rPr>
              <a:t>median</a:t>
            </a:r>
          </a:p>
          <a:p>
            <a:pPr lvl="0" indent="0" marL="0">
              <a:buNone/>
            </a:pPr>
            <a:r>
              <a:rPr/>
              <a:t>도움말의 제목과 설명에서 함수가 속한 패키지, 인자, 반환값, 예제를 확인합니다.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sessionInfo()</a:t>
            </a:r>
            <a:r>
              <a:rPr/>
              <a:t>로 실행 환경을 기록한다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sessionInfo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 marL="0">
              <a:buNone/>
            </a:pPr>
            <a:r>
              <a:rPr/>
              <a:t>다음 정보를 확인할 수 있습니다.</a:t>
            </a:r>
          </a:p>
          <a:p>
            <a:pPr lvl="0"/>
            <a:r>
              <a:rPr/>
              <a:t>R 버전과 운영체제</a:t>
            </a:r>
          </a:p>
          <a:p>
            <a:pPr lvl="0"/>
            <a:r>
              <a:rPr/>
              <a:t>현재 연결된 패키지</a:t>
            </a:r>
          </a:p>
          <a:p>
            <a:pPr lvl="0"/>
            <a:r>
              <a:rPr/>
              <a:t>불러온 네임스페이스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서로 다른 자료형을 하나로 묶고 싶다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sample_id &lt;- </a:t>
            </a:r>
            <a:r>
              <a:rPr>
                <a:solidFill>
                  <a:srgbClr val="20794D"/>
                </a:solidFill>
                <a:latin typeface="Courier"/>
              </a:rPr>
              <a:t>"control_1"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cell_count &lt;- </a:t>
            </a:r>
            <a:r>
              <a:rPr>
                <a:solidFill>
                  <a:srgbClr val="AD0000"/>
                </a:solidFill>
                <a:latin typeface="Courier"/>
              </a:rPr>
              <a:t>1240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passed_qc &lt;-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</a:p>
          <a:p>
            <a:pPr lvl="0"/>
            <a:r>
              <a:rPr/>
              <a:t>벡터는 원소의 자료형을 하나로 맞춥니다.</a:t>
            </a:r>
          </a:p>
          <a:p>
            <a:pPr lvl="0"/>
            <a:r>
              <a:rPr/>
              <a:t>관련된 문자, 숫자, 논리값을 원래 자료형 그대로 묶으려면 리스트를 사용합니다.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list()</a:t>
            </a:r>
            <a:r>
              <a:rPr/>
              <a:t>로 리스트를 만든다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sample_result &lt;- </a:t>
            </a:r>
            <a:r>
              <a:rPr>
                <a:solidFill>
                  <a:srgbClr val="4758AB"/>
                </a:solidFill>
                <a:latin typeface="Courier"/>
              </a:rPr>
              <a:t>list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"control_1"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AD0000"/>
                </a:solidFill>
                <a:latin typeface="Courier"/>
              </a:rPr>
              <a:t>1240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sample_result</a:t>
            </a:r>
          </a:p>
          <a:p>
            <a:pPr lvl="0" indent="0" marL="0">
              <a:buNone/>
            </a:pPr>
            <a:r>
              <a:rPr/>
              <a:t>리스트의 각 원소는 서로 다른 자료형과 크기를 가질 수 있습니다.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리스트 원소에 이름을 붙인다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sample_result &lt;- </a:t>
            </a:r>
            <a:r>
              <a:rPr>
                <a:solidFill>
                  <a:srgbClr val="4758AB"/>
                </a:solidFill>
                <a:latin typeface="Courier"/>
              </a:rPr>
              <a:t>list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sample_id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"control_1"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cell_count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1240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passed_qc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sample_result</a:t>
            </a:r>
            <a:br/>
            <a:r>
              <a:rPr>
                <a:solidFill>
                  <a:srgbClr val="4758AB"/>
                </a:solidFill>
                <a:latin typeface="Courier"/>
              </a:rPr>
              <a:t>names</a:t>
            </a:r>
            <a:r>
              <a:rPr>
                <a:solidFill>
                  <a:srgbClr val="003B4F"/>
                </a:solidFill>
                <a:latin typeface="Courier"/>
              </a:rPr>
              <a:t>(sample_result)</a:t>
            </a:r>
          </a:p>
          <a:p>
            <a:pPr lvl="0" indent="0" marL="0">
              <a:buNone/>
            </a:pPr>
            <a:r>
              <a:rPr/>
              <a:t>이름을 붙이면 각 원소의 의미와 접근 방법이 분명해집니다.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$</a:t>
            </a:r>
            <a:r>
              <a:rPr/>
              <a:t>로 이름이 있는 원소를 꺼낸다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sample_result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sample_id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sample_result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cell_count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sample_result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passed_qc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$</a:t>
            </a:r>
            <a:r>
              <a:rPr/>
              <a:t>는 원소의 내용을 원래 자료형으로 반환합니다.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[[ ]]</a:t>
            </a:r>
            <a:r>
              <a:rPr/>
              <a:t>로 원소의 내용을 꺼낸다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sample_result[[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]]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sample_result[[</a:t>
            </a:r>
            <a:r>
              <a:rPr>
                <a:solidFill>
                  <a:srgbClr val="20794D"/>
                </a:solidFill>
                <a:latin typeface="Courier"/>
              </a:rPr>
              <a:t>"cell_count"</a:t>
            </a:r>
            <a:r>
              <a:rPr>
                <a:solidFill>
                  <a:srgbClr val="003B4F"/>
                </a:solidFill>
                <a:latin typeface="Courier"/>
              </a:rPr>
              <a:t>]]</a:t>
            </a:r>
          </a:p>
          <a:p>
            <a:pPr lvl="0"/>
            <a:r>
              <a:rPr/>
              <a:t>위치 또는 이름을 사용할 수 있습니다.</a:t>
            </a:r>
          </a:p>
          <a:p>
            <a:pPr lvl="0"/>
            <a:r>
              <a:rPr/>
              <a:t>선택한 원소의 내용 자체를 반환합니다.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[ ]</a:t>
            </a:r>
            <a:r>
              <a:rPr/>
              <a:t>는 원소를 포함한 리스트를 반환한다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sample_result[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sample_result[</a:t>
            </a:r>
            <a:r>
              <a:rPr>
                <a:solidFill>
                  <a:srgbClr val="20794D"/>
                </a:solidFill>
                <a:latin typeface="Courier"/>
              </a:rPr>
              <a:t>"cell_count"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</a:p>
          <a:p>
            <a:pPr lvl="0"/>
            <a:r>
              <a:rPr/>
              <a:t>결과는 원소가 하나여도 리스트입니다.</a:t>
            </a:r>
          </a:p>
          <a:p>
            <a:pPr lvl="0"/>
            <a:r>
              <a:rPr/>
              <a:t>리스트의 일부를 다시 리스트로 유지할 때 사용합니다.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96CAC9-BDCF-454F-B4EB-26821C0AC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[ ]</a:t>
            </a:r>
            <a:r>
              <a:rPr/>
              <a:t>와 </a:t>
            </a:r>
            <a:r>
              <a:rPr>
                <a:latin typeface="Courier"/>
              </a:rPr>
              <a:t>[[ ]]</a:t>
            </a:r>
            <a:r>
              <a:rPr/>
              <a:t>의 결과를 비교한다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4A32173-BE5A-4386-B8FC-0DD3565F6F55}"/>
              </a:ext>
            </a:extLst>
          </p:cNvPr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class</a:t>
            </a:r>
            <a:r>
              <a:rPr>
                <a:solidFill>
                  <a:srgbClr val="003B4F"/>
                </a:solidFill>
                <a:latin typeface="Courier"/>
              </a:rPr>
              <a:t>(sample_result[</a:t>
            </a:r>
            <a:r>
              <a:rPr>
                <a:solidFill>
                  <a:srgbClr val="20794D"/>
                </a:solidFill>
                <a:latin typeface="Courier"/>
              </a:rPr>
              <a:t>"cell_count"</a:t>
            </a:r>
            <a:r>
              <a:rPr>
                <a:solidFill>
                  <a:srgbClr val="003B4F"/>
                </a:solidFill>
                <a:latin typeface="Courier"/>
              </a:rPr>
              <a:t>])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class</a:t>
            </a:r>
            <a:r>
              <a:rPr>
                <a:solidFill>
                  <a:srgbClr val="003B4F"/>
                </a:solidFill>
                <a:latin typeface="Courier"/>
              </a:rPr>
              <a:t>(sample_result[[</a:t>
            </a:r>
            <a:r>
              <a:rPr>
                <a:solidFill>
                  <a:srgbClr val="20794D"/>
                </a:solidFill>
                <a:latin typeface="Courier"/>
              </a:rPr>
              <a:t>"cell_count"</a:t>
            </a:r>
            <a:r>
              <a:rPr>
                <a:solidFill>
                  <a:srgbClr val="003B4F"/>
                </a:solidFill>
                <a:latin typeface="Courier"/>
              </a:rPr>
              <a:t>]])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181600" y="977900"/>
          <a:ext cx="6172200" cy="4864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6100"/>
                <a:gridCol w="3086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선택 방법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결과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[ 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리스트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[[ ]]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원소의 내용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$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이름으로 선택한 원소의 내용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여러 원소를 리스트로 선택한다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sample_result[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"sample_id"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"passed_qc"</a:t>
            </a:r>
            <a:r>
              <a:rPr>
                <a:solidFill>
                  <a:srgbClr val="003B4F"/>
                </a:solidFill>
                <a:latin typeface="Courier"/>
              </a:rPr>
              <a:t>)]</a:t>
            </a:r>
          </a:p>
          <a:p>
            <a:pPr lvl="0" indent="0" marL="0">
              <a:buNone/>
            </a:pPr>
            <a:r>
              <a:rPr/>
              <a:t>여러 원소를 선택할 때는 </a:t>
            </a:r>
            <a:r>
              <a:rPr>
                <a:latin typeface="Courier"/>
              </a:rPr>
              <a:t>[ ]</a:t>
            </a:r>
            <a:r>
              <a:rPr/>
              <a:t> 안에 이름 벡터를 사용합니다.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리스트에는 벡터와 데이터 프레임도 넣을 수 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analysis_result &lt;- </a:t>
            </a:r>
            <a:r>
              <a:rPr>
                <a:solidFill>
                  <a:srgbClr val="4758AB"/>
                </a:solidFill>
                <a:latin typeface="Courier"/>
              </a:rPr>
              <a:t>list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cell_counts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1240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1385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1090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qc_labels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"pass"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"pass"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"review"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metadata =</a:t>
            </a:r>
            <a:r>
              <a:rPr>
                <a:solidFill>
                  <a:srgbClr val="003B4F"/>
                </a:solidFill>
                <a:latin typeface="Courier"/>
              </a:rPr>
              <a:t> sample_metadata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str</a:t>
            </a:r>
            <a:r>
              <a:rPr>
                <a:solidFill>
                  <a:srgbClr val="003B4F"/>
                </a:solidFill>
                <a:latin typeface="Courier"/>
              </a:rPr>
              <a:t>(analysis_result)</a:t>
            </a:r>
          </a:p>
          <a:p>
            <a:pPr lvl="0" indent="0" marL="0">
              <a:buNone/>
            </a:pPr>
            <a:r>
              <a:rPr/>
              <a:t>각 원소는 길이가 다른 벡터나 전체 데이터 프레임일 수도 있습니다.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리스트 안에 리스트를 넣을 수 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analysis_parameters &lt;- </a:t>
            </a:r>
            <a:r>
              <a:rPr>
                <a:solidFill>
                  <a:srgbClr val="4758AB"/>
                </a:solidFill>
                <a:latin typeface="Courier"/>
              </a:rPr>
              <a:t>list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qc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list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min_cells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min_genes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2000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max_mito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8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project_name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"training_project"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이처럼 리스트가 여러 단계로 들어 있는 구조를 중첩 리스트라고 합니다.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중첩 리스트의 값에 단계적으로 접근한다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analysis_parameters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qc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min_cells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analysis_parameters[[</a:t>
            </a:r>
            <a:r>
              <a:rPr>
                <a:solidFill>
                  <a:srgbClr val="20794D"/>
                </a:solidFill>
                <a:latin typeface="Courier"/>
              </a:rPr>
              <a:t>"qc"</a:t>
            </a:r>
            <a:r>
              <a:rPr>
                <a:solidFill>
                  <a:srgbClr val="003B4F"/>
                </a:solidFill>
                <a:latin typeface="Courier"/>
              </a:rPr>
              <a:t>]][[</a:t>
            </a:r>
            <a:r>
              <a:rPr>
                <a:solidFill>
                  <a:srgbClr val="20794D"/>
                </a:solidFill>
                <a:latin typeface="Courier"/>
              </a:rPr>
              <a:t>"max_mito"</a:t>
            </a:r>
            <a:r>
              <a:rPr>
                <a:solidFill>
                  <a:srgbClr val="003B4F"/>
                </a:solidFill>
                <a:latin typeface="Courier"/>
              </a:rPr>
              <a:t>]]</a:t>
            </a:r>
          </a:p>
          <a:p>
            <a:pPr lvl="0" indent="0" marL="0">
              <a:buNone/>
            </a:pPr>
            <a:r>
              <a:rPr/>
              <a:t>바깥 원소부터 안쪽 원소로 한 단계씩 이동합니다.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중간 구조를 확인하면서 접근한다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names</a:t>
            </a:r>
            <a:r>
              <a:rPr>
                <a:solidFill>
                  <a:srgbClr val="003B4F"/>
                </a:solidFill>
                <a:latin typeface="Courier"/>
              </a:rPr>
              <a:t>(analysis_parameters)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names</a:t>
            </a:r>
            <a:r>
              <a:rPr>
                <a:solidFill>
                  <a:srgbClr val="003B4F"/>
                </a:solidFill>
                <a:latin typeface="Courier"/>
              </a:rPr>
              <a:t>(analysis_parameters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qc)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str</a:t>
            </a:r>
            <a:r>
              <a:rPr>
                <a:solidFill>
                  <a:srgbClr val="003B4F"/>
                </a:solidFill>
                <a:latin typeface="Courier"/>
              </a:rPr>
              <a:t>(analysis_parameters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qc)</a:t>
            </a:r>
          </a:p>
          <a:p>
            <a:pPr lvl="0" indent="0" marL="0">
              <a:buNone/>
            </a:pPr>
            <a:r>
              <a:rPr/>
              <a:t>복잡한 객체에서는 이름을 추측하기보다 각 단계의 구조를 확인합니다.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기존 리스트 원소를 수정한다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sample_result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cell_count &lt;- </a:t>
            </a:r>
            <a:r>
              <a:rPr>
                <a:solidFill>
                  <a:srgbClr val="AD0000"/>
                </a:solidFill>
                <a:latin typeface="Courier"/>
              </a:rPr>
              <a:t>1300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sample_result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cell_count</a:t>
            </a:r>
          </a:p>
          <a:p>
            <a:pPr lvl="0" indent="0" marL="0">
              <a:buNone/>
            </a:pPr>
            <a:r>
              <a:rPr/>
              <a:t>기존 이름에 새 값을 저장하면 해당 원소가 수정됩니다.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새 원소를 추가한다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sample_result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mito_percent &lt;- </a:t>
            </a:r>
            <a:r>
              <a:rPr>
                <a:solidFill>
                  <a:srgbClr val="AD0000"/>
                </a:solidFill>
                <a:latin typeface="Courier"/>
              </a:rPr>
              <a:t>4.2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sample_result</a:t>
            </a:r>
          </a:p>
          <a:p>
            <a:pPr lvl="0" indent="0" marL="0">
              <a:buNone/>
            </a:pPr>
            <a:r>
              <a:rPr/>
              <a:t>존재하지 않는 이름에 값을 저장하면 새 원소가 추가됩니다.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원소를 제거할 수 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sample_result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mito_percent &lt;- </a:t>
            </a:r>
            <a:r>
              <a:rPr>
                <a:solidFill>
                  <a:srgbClr val="8F5902"/>
                </a:solidFill>
                <a:latin typeface="Courier"/>
              </a:rPr>
              <a:t>NULL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sample_result</a:t>
            </a:r>
          </a:p>
          <a:p>
            <a:pPr lvl="0" indent="0" marL="0">
              <a:buNone/>
            </a:pPr>
            <a:r>
              <a:rPr/>
              <a:t>리스트 원소에 </a:t>
            </a:r>
            <a:r>
              <a:rPr>
                <a:latin typeface="Courier"/>
              </a:rPr>
              <a:t>NULL</a:t>
            </a:r>
            <a:r>
              <a:rPr/>
              <a:t>을 저장하면 해당 원소가 제거됩니다.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NULL</a:t>
            </a:r>
            <a:r>
              <a:rPr/>
              <a:t>과 </a:t>
            </a:r>
            <a:r>
              <a:rPr>
                <a:latin typeface="Courier"/>
              </a:rPr>
              <a:t>NA</a:t>
            </a:r>
            <a:r>
              <a:rPr/>
              <a:t>는 의미가 다르다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NA</a:t>
            </a:r>
            <a:r>
              <a:rPr/>
              <a:t>: 값이 있어야 하지만 알 수 없는 결측값</a:t>
            </a:r>
          </a:p>
          <a:p>
            <a:pPr lvl="0"/>
            <a:r>
              <a:rPr>
                <a:latin typeface="Courier"/>
              </a:rPr>
              <a:t>NULL</a:t>
            </a:r>
            <a:r>
              <a:rPr/>
              <a:t>: 객체나 원소 자체가 없음을 나타냄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measured_value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list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 marL="0">
              <a:buNone/>
            </a:pPr>
            <a:r>
              <a:rPr/>
              <a:t>분석에서 두 값을 같은 의미로 사용하지 않습니다.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데이터 프레임도 리스트의 한 종류다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is.list</a:t>
            </a:r>
            <a:r>
              <a:rPr>
                <a:solidFill>
                  <a:srgbClr val="003B4F"/>
                </a:solidFill>
                <a:latin typeface="Courier"/>
              </a:rPr>
              <a:t>(sample_metadata)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class</a:t>
            </a:r>
            <a:r>
              <a:rPr>
                <a:solidFill>
                  <a:srgbClr val="003B4F"/>
                </a:solidFill>
                <a:latin typeface="Courier"/>
              </a:rPr>
              <a:t>(sample_metadata)</a:t>
            </a:r>
          </a:p>
          <a:p>
            <a:pPr lvl="0"/>
            <a:r>
              <a:rPr/>
              <a:t>데이터 프레임은 길이가 같은 열 벡터들을 묶은 특별한 리스트입니다.</a:t>
            </a:r>
          </a:p>
          <a:p>
            <a:pPr lvl="0"/>
            <a:r>
              <a:rPr/>
              <a:t>데이터 프레임의 </a:t>
            </a:r>
            <a:r>
              <a:rPr>
                <a:latin typeface="Courier"/>
              </a:rPr>
              <a:t>$</a:t>
            </a:r>
            <a:r>
              <a:rPr/>
              <a:t>와 </a:t>
            </a:r>
            <a:r>
              <a:rPr>
                <a:latin typeface="Courier"/>
              </a:rPr>
              <a:t>[[ ]]</a:t>
            </a:r>
            <a:r>
              <a:rPr/>
              <a:t>가 리스트와 비슷하게 동작하는 이유입니다.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분석 결과를 하나의 리스트로 정리한다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condition_summary &lt;- </a:t>
            </a:r>
            <a:r>
              <a:rPr>
                <a:solidFill>
                  <a:srgbClr val="4758AB"/>
                </a:solidFill>
                <a:latin typeface="Courier"/>
              </a:rPr>
              <a:t>aggregate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cell_count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condition,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sample_metadata,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FUN =</a:t>
            </a:r>
            <a:r>
              <a:rPr>
                <a:solidFill>
                  <a:srgbClr val="003B4F"/>
                </a:solidFill>
                <a:latin typeface="Courier"/>
              </a:rPr>
              <a:t> mean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analysis_result &lt;- </a:t>
            </a:r>
            <a:r>
              <a:rPr>
                <a:solidFill>
                  <a:srgbClr val="4758AB"/>
                </a:solidFill>
                <a:latin typeface="Courier"/>
              </a:rPr>
              <a:t>list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metadata =</a:t>
            </a:r>
            <a:r>
              <a:rPr>
                <a:solidFill>
                  <a:srgbClr val="003B4F"/>
                </a:solidFill>
                <a:latin typeface="Courier"/>
              </a:rPr>
              <a:t> sample_metadata,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summary =</a:t>
            </a:r>
            <a:r>
              <a:rPr>
                <a:solidFill>
                  <a:srgbClr val="003B4F"/>
                </a:solidFill>
                <a:latin typeface="Courier"/>
              </a:rPr>
              <a:t> condition_summary,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parameters =</a:t>
            </a:r>
            <a:r>
              <a:rPr>
                <a:solidFill>
                  <a:srgbClr val="003B4F"/>
                </a:solidFill>
                <a:latin typeface="Courier"/>
              </a:rPr>
              <a:t> analysis_parameters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관련된 입력 데이터, 결과, 설정값을 한 객체에 묶을 수 있습니다.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class()</a:t>
            </a:r>
            <a:r>
              <a:rPr/>
              <a:t>는 객체의 종류를 알려 준다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class</a:t>
            </a:r>
            <a:r>
              <a:rPr>
                <a:solidFill>
                  <a:srgbClr val="003B4F"/>
                </a:solidFill>
                <a:latin typeface="Courier"/>
              </a:rPr>
              <a:t>(sample_metadata)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class</a:t>
            </a:r>
            <a:r>
              <a:rPr>
                <a:solidFill>
                  <a:srgbClr val="003B4F"/>
                </a:solidFill>
                <a:latin typeface="Courier"/>
              </a:rPr>
              <a:t>(sample_metadata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cell_count)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class</a:t>
            </a:r>
            <a:r>
              <a:rPr>
                <a:solidFill>
                  <a:srgbClr val="003B4F"/>
                </a:solidFill>
                <a:latin typeface="Courier"/>
              </a:rPr>
              <a:t>(analysis_result)</a:t>
            </a:r>
          </a:p>
          <a:p>
            <a:pPr lvl="0" indent="0" marL="0">
              <a:buNone/>
            </a:pPr>
            <a:r>
              <a:rPr/>
              <a:t>객체의 종류에 따라 사용할 수 있는 함수와 접근 방법이 달라집니다.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typeof()</a:t>
            </a:r>
            <a:r>
              <a:rPr/>
              <a:t>는 내부 저장 방식을 보여 준다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typeof</a:t>
            </a:r>
            <a:r>
              <a:rPr>
                <a:solidFill>
                  <a:srgbClr val="003B4F"/>
                </a:solidFill>
                <a:latin typeface="Courier"/>
              </a:rPr>
              <a:t>(sample_metadata)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typeof</a:t>
            </a:r>
            <a:r>
              <a:rPr>
                <a:solidFill>
                  <a:srgbClr val="003B4F"/>
                </a:solidFill>
                <a:latin typeface="Courier"/>
              </a:rPr>
              <a:t>(analysis_result)</a:t>
            </a:r>
          </a:p>
          <a:p>
            <a:pPr lvl="0" indent="0" marL="0">
              <a:buNone/>
            </a:pPr>
            <a:r>
              <a:rPr/>
              <a:t>데이터 프레임과 일반 리스트의 </a:t>
            </a:r>
            <a:r>
              <a:rPr>
                <a:latin typeface="Courier"/>
              </a:rPr>
              <a:t>class()</a:t>
            </a:r>
            <a:r>
              <a:rPr/>
              <a:t>는 다르지만 내부적으로 둘 다 리스트 구조를 사용합니다.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str()</a:t>
            </a:r>
            <a:r>
              <a:rPr/>
              <a:t>는 복잡한 객체를 조사하는 출발점이다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str</a:t>
            </a:r>
            <a:r>
              <a:rPr>
                <a:solidFill>
                  <a:srgbClr val="003B4F"/>
                </a:solidFill>
                <a:latin typeface="Courier"/>
              </a:rPr>
              <a:t>(analysis_result)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str()</a:t>
            </a:r>
            <a:r>
              <a:rPr/>
              <a:t>는 다음 정보를 한 번에 보여 줍니다.</a:t>
            </a:r>
          </a:p>
          <a:p>
            <a:pPr lvl="0"/>
            <a:r>
              <a:rPr/>
              <a:t>객체와 하위 원소의 종류</a:t>
            </a:r>
          </a:p>
          <a:p>
            <a:pPr lvl="0"/>
            <a:r>
              <a:rPr/>
              <a:t>원소 이름과 길이</a:t>
            </a:r>
          </a:p>
          <a:p>
            <a:pPr lvl="0"/>
            <a:r>
              <a:rPr/>
              <a:t>저장된 값의 일부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큰 객체는 표시할 깊이를 제한한다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str</a:t>
            </a:r>
            <a:r>
              <a:rPr>
                <a:solidFill>
                  <a:srgbClr val="003B4F"/>
                </a:solidFill>
                <a:latin typeface="Courier"/>
              </a:rPr>
              <a:t>(analysis_result, </a:t>
            </a:r>
            <a:r>
              <a:rPr>
                <a:solidFill>
                  <a:srgbClr val="657422"/>
                </a:solidFill>
                <a:latin typeface="Courier"/>
              </a:rPr>
              <a:t>max.level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중첩 단계가 많은 객체는 필요한 깊이까지만 확인하면 출력이 지나치게 길어지는 것을 막을 수 있습니다.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names()</a:t>
            </a:r>
            <a:r>
              <a:rPr/>
              <a:t>로 현재 단계의 원소 이름을 확인한다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names</a:t>
            </a:r>
            <a:r>
              <a:rPr>
                <a:solidFill>
                  <a:srgbClr val="003B4F"/>
                </a:solidFill>
                <a:latin typeface="Courier"/>
              </a:rPr>
              <a:t>(analysis_result)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names</a:t>
            </a:r>
            <a:r>
              <a:rPr>
                <a:solidFill>
                  <a:srgbClr val="003B4F"/>
                </a:solidFill>
                <a:latin typeface="Courier"/>
              </a:rPr>
              <a:t>(analysis_result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parameters)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names</a:t>
            </a:r>
            <a:r>
              <a:rPr>
                <a:solidFill>
                  <a:srgbClr val="003B4F"/>
                </a:solidFill>
                <a:latin typeface="Courier"/>
              </a:rPr>
              <a:t>(analysis_result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parameters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qc)</a:t>
            </a:r>
          </a:p>
          <a:p>
            <a:pPr lvl="0" indent="0" marL="0">
              <a:buNone/>
            </a:pPr>
            <a:r>
              <a:rPr/>
              <a:t>한 단계씩 이름을 확인한 뒤 필요한 원소에 접근합니다.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attributes()</a:t>
            </a:r>
            <a:r>
              <a:rPr/>
              <a:t>로 객체의 속성을 확인한다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attributes</a:t>
            </a:r>
            <a:r>
              <a:rPr>
                <a:solidFill>
                  <a:srgbClr val="003B4F"/>
                </a:solidFill>
                <a:latin typeface="Courier"/>
              </a:rPr>
              <a:t>(sample_metadata)</a:t>
            </a:r>
          </a:p>
          <a:p>
            <a:pPr lvl="0" indent="0" marL="0">
              <a:buNone/>
            </a:pPr>
            <a:r>
              <a:rPr/>
              <a:t>데이터 프레임에는 다음과 같은 속성이 있습니다.</a:t>
            </a:r>
          </a:p>
          <a:p>
            <a:pPr lvl="0"/>
            <a:r>
              <a:rPr/>
              <a:t>열 이름을 나타내는 </a:t>
            </a:r>
            <a:r>
              <a:rPr>
                <a:latin typeface="Courier"/>
              </a:rPr>
              <a:t>names</a:t>
            </a:r>
          </a:p>
          <a:p>
            <a:pPr lvl="0"/>
            <a:r>
              <a:rPr/>
              <a:t>행 이름을 나타내는 </a:t>
            </a:r>
            <a:r>
              <a:rPr>
                <a:latin typeface="Courier"/>
              </a:rPr>
              <a:t>row.names</a:t>
            </a:r>
          </a:p>
          <a:p>
            <a:pPr lvl="0"/>
            <a:r>
              <a:rPr/>
              <a:t>객체 종류를 나타내는 </a:t>
            </a:r>
            <a:r>
              <a:rPr>
                <a:latin typeface="Courier"/>
              </a:rPr>
              <a:t>class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행렬의 속성을 확인한다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example_matrix &lt;- </a:t>
            </a:r>
            <a:r>
              <a:rPr>
                <a:solidFill>
                  <a:srgbClr val="4758AB"/>
                </a:solidFill>
                <a:latin typeface="Courier"/>
              </a:rPr>
              <a:t>matrix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nrow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class</a:t>
            </a:r>
            <a:r>
              <a:rPr>
                <a:solidFill>
                  <a:srgbClr val="003B4F"/>
                </a:solidFill>
                <a:latin typeface="Courier"/>
              </a:rPr>
              <a:t>(example_matrix)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attributes</a:t>
            </a:r>
            <a:r>
              <a:rPr>
                <a:solidFill>
                  <a:srgbClr val="003B4F"/>
                </a:solidFill>
                <a:latin typeface="Courier"/>
              </a:rPr>
              <a:t>(example_matrix)</a:t>
            </a:r>
          </a:p>
          <a:p>
            <a:pPr lvl="0" indent="0" marL="0">
              <a:buNone/>
            </a:pPr>
            <a:r>
              <a:rPr/>
              <a:t>행렬은 차원을 나타내는 </a:t>
            </a:r>
            <a:r>
              <a:rPr>
                <a:latin typeface="Courier"/>
              </a:rPr>
              <a:t>dim</a:t>
            </a:r>
            <a:r>
              <a:rPr/>
              <a:t> 속성을 가집니다.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object.size()</a:t>
            </a:r>
            <a:r>
              <a:rPr/>
              <a:t>로 객체 크기를 확인한다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object.size</a:t>
            </a:r>
            <a:r>
              <a:rPr>
                <a:solidFill>
                  <a:srgbClr val="003B4F"/>
                </a:solidFill>
                <a:latin typeface="Courier"/>
              </a:rPr>
              <a:t>(analysis_result)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format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object.size</a:t>
            </a:r>
            <a:r>
              <a:rPr>
                <a:solidFill>
                  <a:srgbClr val="003B4F"/>
                </a:solidFill>
                <a:latin typeface="Courier"/>
              </a:rPr>
              <a:t>(analysis_result), </a:t>
            </a:r>
            <a:r>
              <a:rPr>
                <a:solidFill>
                  <a:srgbClr val="657422"/>
                </a:solidFill>
                <a:latin typeface="Courier"/>
              </a:rPr>
              <a:t>units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"auto"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전사체 분석 객체는 클 수 있으므로 메모리에서 차지하는 크기를 확인하는 습관이 중요합니다.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함수는 객체의 클래스에 따라 다르게 동작할 수 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cell_count)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(sample_metadata)</a:t>
            </a:r>
          </a:p>
          <a:p>
            <a:pPr lvl="0" indent="0" marL="0">
              <a:buNone/>
            </a:pPr>
            <a:r>
              <a:rPr/>
              <a:t>같은 </a:t>
            </a:r>
            <a:r>
              <a:rPr>
                <a:latin typeface="Courier"/>
              </a:rPr>
              <a:t>summary()</a:t>
            </a:r>
            <a:r>
              <a:rPr/>
              <a:t>라도 숫자형 벡터와 데이터 프레임에서 다른 형태의 결과를 만듭니다.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사용 가능한 메서드를 확인할 수 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methods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"summary"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</a:p>
          <a:p>
            <a:pPr lvl="0"/>
            <a:r>
              <a:rPr/>
              <a:t>R의 일부 함수는 객체 클래스에 맞는 메서드를 선택합니다.</a:t>
            </a:r>
          </a:p>
          <a:p>
            <a:pPr lvl="0"/>
            <a:r>
              <a:rPr/>
              <a:t>입문 단계에서는 먼저 </a:t>
            </a:r>
            <a:r>
              <a:rPr>
                <a:latin typeface="Courier"/>
              </a:rPr>
              <a:t>class()</a:t>
            </a:r>
            <a:r>
              <a:rPr/>
              <a:t>와 도움말로 올바른 사용법을 확인합니다.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ggplot2</a:t>
            </a:r>
            <a:r>
              <a:rPr/>
              <a:t> 그래프도 조사할 수 있는 R 객체다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(ggplot2)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qc_plot &lt;-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sample_metadata,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condition,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cell_count)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class</a:t>
            </a:r>
            <a:r>
              <a:rPr>
                <a:solidFill>
                  <a:srgbClr val="003B4F"/>
                </a:solidFill>
                <a:latin typeface="Courier"/>
              </a:rPr>
              <a:t>(qc_plot)</a:t>
            </a:r>
          </a:p>
          <a:p>
            <a:pPr lvl="0" indent="0" marL="0">
              <a:buNone/>
            </a:pPr>
            <a:r>
              <a:rPr/>
              <a:t>그래프를 화면에 그리는 명령의 결과를 이름에 저장하면 다시 사용하고 수정할 수 있습니다.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기존 그래프 객체에 층을 더할 수 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labeled_plot &lt;- qc_plot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"실험 조건별 세포 수"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"실험 조건"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"세포 수"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 marL="0">
              <a:buNone/>
            </a:pPr>
            <a:r>
              <a:rPr/>
              <a:t>원본 </a:t>
            </a:r>
            <a:r>
              <a:rPr>
                <a:latin typeface="Courier"/>
              </a:rPr>
              <a:t>qc_plot</a:t>
            </a:r>
            <a:r>
              <a:rPr/>
              <a:t>은 유지되고, 설명이 추가된 새 객체가 만들어집니다.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patchwork</a:t>
            </a:r>
            <a:r>
              <a:rPr/>
              <a:t> 결과도 하나의 복합 객체다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(patchwork)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relationship_plot &lt;-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sample_metadata,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cell_count,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median_genes)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combined_plot &lt;- labeled_plot </a:t>
            </a:r>
            <a:r>
              <a:rPr>
                <a:solidFill>
                  <a:srgbClr val="5E5E5E"/>
                </a:solidFill>
                <a:latin typeface="Courier"/>
              </a:rPr>
              <a:t>|</a:t>
            </a:r>
            <a:r>
              <a:rPr>
                <a:solidFill>
                  <a:srgbClr val="003B4F"/>
                </a:solidFill>
                <a:latin typeface="Courier"/>
              </a:rPr>
              <a:t> relationship_plot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class</a:t>
            </a:r>
            <a:r>
              <a:rPr>
                <a:solidFill>
                  <a:srgbClr val="003B4F"/>
                </a:solidFill>
                <a:latin typeface="Courier"/>
              </a:rPr>
              <a:t>(combined_plot)</a:t>
            </a:r>
          </a:p>
          <a:p>
            <a:pPr lvl="0" indent="0" marL="0">
              <a:buNone/>
            </a:pPr>
            <a:r>
              <a:rPr/>
              <a:t>완성된 그래프를 객체로 다루기 때문에 조합과 저장을 단계적으로 수행할 수 있습니다.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Seurat 시각화 함수도 그래프 객체를 반환한다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부록의 Seurat 실습에서 실행</a:t>
            </a:r>
            <a:br/>
            <a:r>
              <a:rPr>
                <a:solidFill>
                  <a:srgbClr val="003B4F"/>
                </a:solidFill>
                <a:latin typeface="Courier"/>
              </a:rPr>
              <a:t>umap_plot &lt;- </a:t>
            </a:r>
            <a:r>
              <a:rPr>
                <a:solidFill>
                  <a:srgbClr val="4758AB"/>
                </a:solidFill>
                <a:latin typeface="Courier"/>
              </a:rPr>
              <a:t>DimPlot</a:t>
            </a:r>
            <a:r>
              <a:rPr>
                <a:solidFill>
                  <a:srgbClr val="003B4F"/>
                </a:solidFill>
                <a:latin typeface="Courier"/>
              </a:rPr>
              <a:t>(pbmc, </a:t>
            </a:r>
            <a:r>
              <a:rPr>
                <a:solidFill>
                  <a:srgbClr val="657422"/>
                </a:solidFill>
                <a:latin typeface="Courier"/>
              </a:rPr>
              <a:t>reduction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"umap"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class</a:t>
            </a:r>
            <a:r>
              <a:rPr>
                <a:solidFill>
                  <a:srgbClr val="003B4F"/>
                </a:solidFill>
                <a:latin typeface="Courier"/>
              </a:rPr>
              <a:t>(umap_plot)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umap_plot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ggtitle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"PBMC 세포 군집"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DimPlot()</a:t>
            </a:r>
            <a:r>
              <a:rPr/>
              <a:t>, </a:t>
            </a:r>
            <a:r>
              <a:rPr>
                <a:latin typeface="Courier"/>
              </a:rPr>
              <a:t>FeaturePlot()</a:t>
            </a:r>
            <a:r>
              <a:rPr/>
              <a:t>, </a:t>
            </a:r>
            <a:r>
              <a:rPr>
                <a:latin typeface="Courier"/>
              </a:rPr>
              <a:t>VlnPlot()</a:t>
            </a:r>
            <a:r>
              <a:rPr/>
              <a:t>의 결과도 이름에 저장해 제목을 더하거나 </a:t>
            </a:r>
            <a:r>
              <a:rPr>
                <a:latin typeface="Courier"/>
              </a:rPr>
              <a:t>patchwork</a:t>
            </a:r>
            <a:r>
              <a:rPr/>
              <a:t>로 조합할 수 있습니다.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그래프 객체는 </a:t>
            </a:r>
            <a:r>
              <a:rPr>
                <a:latin typeface="Courier"/>
              </a:rPr>
              <a:t>ggsave()</a:t>
            </a:r>
            <a:r>
              <a:rPr/>
              <a:t>로 명시해 저장한다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ggsave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filename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"results/qc_plot.png"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plot =</a:t>
            </a:r>
            <a:r>
              <a:rPr>
                <a:solidFill>
                  <a:srgbClr val="003B4F"/>
                </a:solidFill>
                <a:latin typeface="Courier"/>
              </a:rPr>
              <a:t> labeled_plot,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height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dpi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150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plot</a:t>
            </a:r>
            <a:r>
              <a:rPr/>
              <a:t> 인자에 저장할 객체를 명시하면 마지막으로 표시된 그래프에 의존하지 않습니다.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복잡한 분석 객체는 구조를 먼저 확인한다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1. class(object)
2. str(object, max.level = 2)
3. names(object)
4. 필요한 하위 원소의 class()와 names()</a:t>
            </a:r>
          </a:p>
          <a:p>
            <a:pPr lvl="0" indent="0" marL="0">
              <a:buNone/>
            </a:pPr>
            <a:r>
              <a:rPr/>
              <a:t>처음부터 깊은 위치를 추측하지 않고 바깥 구조부터 단계적으로 살펴봅니다.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Seurat 객체도 여러 정보를 담는 복합 객체다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Seurat 객체에는 일반적으로 다음과 같은 종류의 정보가 함께 들어 있습니다.</a:t>
            </a:r>
          </a:p>
          <a:p>
            <a:pPr lvl="0"/>
            <a:r>
              <a:rPr/>
              <a:t>발현 데이터</a:t>
            </a:r>
          </a:p>
          <a:p>
            <a:pPr lvl="0"/>
            <a:r>
              <a:rPr/>
              <a:t>세포 메타데이터</a:t>
            </a:r>
          </a:p>
          <a:p>
            <a:pPr lvl="0"/>
            <a:r>
              <a:rPr/>
              <a:t>차원 축소 결과</a:t>
            </a:r>
          </a:p>
          <a:p>
            <a:pPr lvl="0"/>
            <a:r>
              <a:rPr/>
              <a:t>분석 과정에서 생성된 결과와 설정</a:t>
            </a:r>
          </a:p>
          <a:p>
            <a:pPr lvl="0" indent="0" marL="0">
              <a:buNone/>
            </a:pPr>
            <a:r>
              <a:rPr/>
              <a:t>실제 접근 방법은 Seurat 버전과 객체 클래스의 공식 사용법을 확인합니다.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복잡한 객체는 제공된 접근 함수를 우선 사용한다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객체 내부 구조는 패키지 버전에 따라 달라질 수 있습니다.</a:t>
            </a:r>
          </a:p>
          <a:p>
            <a:pPr lvl="0"/>
            <a:r>
              <a:rPr/>
              <a:t>내부 위치를 직접 수정하면 객체의 일관성이 깨질 수 있습니다.</a:t>
            </a:r>
          </a:p>
          <a:p>
            <a:pPr lvl="0"/>
            <a:r>
              <a:rPr/>
              <a:t>패키지가 제공하는 함수와 공식 도움말을 우선 사용합니다.</a:t>
            </a:r>
          </a:p>
          <a:p>
            <a:pPr lvl="0"/>
            <a:r>
              <a:rPr/>
              <a:t>문제가 생기면 </a:t>
            </a:r>
            <a:r>
              <a:rPr>
                <a:latin typeface="Courier"/>
              </a:rPr>
              <a:t>class()</a:t>
            </a:r>
            <a:r>
              <a:rPr/>
              <a:t>, </a:t>
            </a:r>
            <a:r>
              <a:rPr>
                <a:latin typeface="Courier"/>
              </a:rPr>
              <a:t>str()</a:t>
            </a:r>
            <a:r>
              <a:rPr/>
              <a:t>, 패키지 버전을 함께 확인합니다.</a:t>
            </a:r>
          </a:p>
        </p:txBody>
      </p:sp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CSV는 복합 객체 전체를 저장할 수 없다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CSV는 하나의 직사각형 표를 저장하기에 적합합니다.</a:t>
            </a:r>
          </a:p>
          <a:p>
            <a:pPr lvl="0"/>
            <a:r>
              <a:rPr/>
              <a:t>리스트 안의 행렬, 데이터 프레임, 설정값을 한 CSV에 그대로 저장할 수 없습니다.</a:t>
            </a:r>
          </a:p>
          <a:p>
            <a:pPr lvl="0"/>
            <a:r>
              <a:rPr/>
              <a:t>R 객체 구조 전체를 보존하려면 RDS 형식을 사용할 수 있습니다.</a:t>
            </a:r>
          </a:p>
        </p:txBody>
      </p:sp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saveRDS()</a:t>
            </a:r>
            <a:r>
              <a:rPr/>
              <a:t>로 객체 하나를 저장한다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dir.create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"results"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showWarnings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saveRDS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analysis_result,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"results/analysis_result.rds"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RDS 파일은 객체의 자료형과 중첩 구조를 함께 보존합니다.</a:t>
            </a:r>
          </a:p>
        </p:txBody>
      </p:sp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readRDS()</a:t>
            </a:r>
            <a:r>
              <a:rPr/>
              <a:t>로 객체를 다시 불러온다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restored_result &lt;- </a:t>
            </a:r>
            <a:r>
              <a:rPr>
                <a:solidFill>
                  <a:srgbClr val="4758AB"/>
                </a:solidFill>
                <a:latin typeface="Courier"/>
              </a:rPr>
              <a:t>readRDS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"results/analysis_result.rds"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class</a:t>
            </a:r>
            <a:r>
              <a:rPr>
                <a:solidFill>
                  <a:srgbClr val="003B4F"/>
                </a:solidFill>
                <a:latin typeface="Courier"/>
              </a:rPr>
              <a:t>(restored_result)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names</a:t>
            </a:r>
            <a:r>
              <a:rPr>
                <a:solidFill>
                  <a:srgbClr val="003B4F"/>
                </a:solidFill>
                <a:latin typeface="Courier"/>
              </a:rPr>
              <a:t>(restored_result)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str</a:t>
            </a:r>
            <a:r>
              <a:rPr>
                <a:solidFill>
                  <a:srgbClr val="003B4F"/>
                </a:solidFill>
                <a:latin typeface="Courier"/>
              </a:rPr>
              <a:t>(restored_result, </a:t>
            </a:r>
            <a:r>
              <a:rPr>
                <a:solidFill>
                  <a:srgbClr val="657422"/>
                </a:solidFill>
                <a:latin typeface="Courier"/>
              </a:rPr>
              <a:t>max.level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readRDS()</a:t>
            </a:r>
            <a:r>
              <a:rPr/>
              <a:t>의 결과를 원하는 변수 이름에 저장합니다.</a:t>
            </a:r>
          </a:p>
        </p:txBody>
      </p:sp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저장 전후 객체가 같은지 확인한다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identical</a:t>
            </a:r>
            <a:r>
              <a:rPr>
                <a:solidFill>
                  <a:srgbClr val="003B4F"/>
                </a:solidFill>
                <a:latin typeface="Courier"/>
              </a:rPr>
              <a:t>(analysis_result, restored_result)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TRUE</a:t>
            </a:r>
            <a:r>
              <a:rPr/>
              <a:t>이면 자료형과 값, 구조가 모두 같습니다.</a:t>
            </a:r>
          </a:p>
        </p:txBody>
      </p:sp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CSV와 RDS를 목적에 맞게 선택한다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형식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적합한 대상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특징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CSV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데이터 프레임, 요약표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다른 프로그램에서도 열기 쉬움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리스트, 모델, 복합 R 객체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 객체 구조를 그대로 보존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공유 목적과 다시 사용할 방법을 고려해 저장 형식을 선택합니다.</a:t>
            </a:r>
          </a:p>
        </p:txBody>
      </p:sp>
    </p:spTree>
  </p:cSld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흔한 오류 1: 설치와 불러오기를 혼동한다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한 번 설치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install.packages("package_name")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새 R 세션에서 불러오기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library(package_name)</a:t>
            </a:r>
          </a:p>
          <a:p>
            <a:pPr lvl="0" indent="0" marL="0">
              <a:buNone/>
            </a:pPr>
            <a:r>
              <a:rPr/>
              <a:t>설치 명령을 분석 스크립트가 실행될 때마다 반복하지 않습니다.</a:t>
            </a:r>
          </a:p>
        </p:txBody>
      </p:sp>
    </p:spTree>
  </p:cSld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흔한 오류 2: </a:t>
            </a:r>
            <a:r>
              <a:rPr>
                <a:latin typeface="Courier"/>
              </a:rPr>
              <a:t>[ ]</a:t>
            </a:r>
            <a:r>
              <a:rPr/>
              <a:t>와 </a:t>
            </a:r>
            <a:r>
              <a:rPr>
                <a:latin typeface="Courier"/>
              </a:rPr>
              <a:t>[[ ]]</a:t>
            </a:r>
            <a:r>
              <a:rPr/>
              <a:t>를 혼동한다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class</a:t>
            </a:r>
            <a:r>
              <a:rPr>
                <a:solidFill>
                  <a:srgbClr val="003B4F"/>
                </a:solidFill>
                <a:latin typeface="Courier"/>
              </a:rPr>
              <a:t>(sample_result[</a:t>
            </a:r>
            <a:r>
              <a:rPr>
                <a:solidFill>
                  <a:srgbClr val="20794D"/>
                </a:solidFill>
                <a:latin typeface="Courier"/>
              </a:rPr>
              <a:t>"cell_count"</a:t>
            </a:r>
            <a:r>
              <a:rPr>
                <a:solidFill>
                  <a:srgbClr val="003B4F"/>
                </a:solidFill>
                <a:latin typeface="Courier"/>
              </a:rPr>
              <a:t>])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class</a:t>
            </a:r>
            <a:r>
              <a:rPr>
                <a:solidFill>
                  <a:srgbClr val="003B4F"/>
                </a:solidFill>
                <a:latin typeface="Courier"/>
              </a:rPr>
              <a:t>(sample_result[[</a:t>
            </a:r>
            <a:r>
              <a:rPr>
                <a:solidFill>
                  <a:srgbClr val="20794D"/>
                </a:solidFill>
                <a:latin typeface="Courier"/>
              </a:rPr>
              <a:t>"cell_count"</a:t>
            </a:r>
            <a:r>
              <a:rPr>
                <a:solidFill>
                  <a:srgbClr val="003B4F"/>
                </a:solidFill>
                <a:latin typeface="Courier"/>
              </a:rPr>
              <a:t>]])</a:t>
            </a:r>
          </a:p>
          <a:p>
            <a:pPr lvl="0" indent="0" marL="0">
              <a:buNone/>
            </a:pPr>
            <a:r>
              <a:rPr/>
              <a:t>필요한 결과가 리스트인지 원소 내용인지 확인합니다.</a:t>
            </a:r>
          </a:p>
        </p:txBody>
      </p:sp>
    </p:spTree>
  </p:cSld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흔한 오류 3: 내부 구조를 추측한다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class</a:t>
            </a:r>
            <a:r>
              <a:rPr>
                <a:solidFill>
                  <a:srgbClr val="003B4F"/>
                </a:solidFill>
                <a:latin typeface="Courier"/>
              </a:rPr>
              <a:t>(analysis_result)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names</a:t>
            </a:r>
            <a:r>
              <a:rPr>
                <a:solidFill>
                  <a:srgbClr val="003B4F"/>
                </a:solidFill>
                <a:latin typeface="Courier"/>
              </a:rPr>
              <a:t>(analysis_result)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str</a:t>
            </a:r>
            <a:r>
              <a:rPr>
                <a:solidFill>
                  <a:srgbClr val="003B4F"/>
                </a:solidFill>
                <a:latin typeface="Courier"/>
              </a:rPr>
              <a:t>(analysis_result, </a:t>
            </a:r>
            <a:r>
              <a:rPr>
                <a:solidFill>
                  <a:srgbClr val="657422"/>
                </a:solidFill>
                <a:latin typeface="Courier"/>
              </a:rPr>
              <a:t>max.level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존재하지 않는 이름을 반복해서 시도하기보다 구조와 이름을 먼저 조사합니다.</a:t>
            </a:r>
          </a:p>
        </p:txBody>
      </p:sp>
    </p:spTree>
  </p:cSld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실습 1: 패키지 상태 확인하기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20794D"/>
                </a:solidFill>
                <a:latin typeface="Courier"/>
              </a:rPr>
              <a:t>"stats"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%in%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rownames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installed.packages</a:t>
            </a:r>
            <a:r>
              <a:rPr>
                <a:solidFill>
                  <a:srgbClr val="003B4F"/>
                </a:solidFill>
                <a:latin typeface="Courier"/>
              </a:rPr>
              <a:t>())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requireNamespace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"stats"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quietly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packageVersion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"stats"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stats</a:t>
            </a:r>
            <a:r>
              <a:rPr>
                <a:solidFill>
                  <a:srgbClr val="5E5E5E"/>
                </a:solidFill>
                <a:latin typeface="Courier"/>
              </a:rPr>
              <a:t>::</a:t>
            </a:r>
            <a:r>
              <a:rPr>
                <a:solidFill>
                  <a:srgbClr val="4758AB"/>
                </a:solidFill>
                <a:latin typeface="Courier"/>
              </a:rPr>
              <a:t>median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1350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980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</a:p>
          <a:p>
            <a:pPr lvl="0" indent="0" marL="0">
              <a:buNone/>
            </a:pPr>
            <a:r>
              <a:rPr/>
              <a:t>설치, 불러오기, </a:t>
            </a:r>
            <a:r>
              <a:rPr>
                <a:latin typeface="Courier"/>
              </a:rPr>
              <a:t>::</a:t>
            </a:r>
            <a:r>
              <a:rPr/>
              <a:t> 사용의 차이를 설명합니다.</a:t>
            </a:r>
          </a:p>
        </p:txBody>
      </p:sp>
    </p:spTree>
  </p:cSld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실습 2: 이름이 있는 리스트 만들기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sample_result &lt;- </a:t>
            </a:r>
            <a:r>
              <a:rPr>
                <a:solidFill>
                  <a:srgbClr val="4758AB"/>
                </a:solidFill>
                <a:latin typeface="Courier"/>
              </a:rPr>
              <a:t>list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sample_id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"control_1"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cell_count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1240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passed_qc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sample_result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cell_count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sample_result[[</a:t>
            </a:r>
            <a:r>
              <a:rPr>
                <a:solidFill>
                  <a:srgbClr val="20794D"/>
                </a:solidFill>
                <a:latin typeface="Courier"/>
              </a:rPr>
              <a:t>"cell_count"</a:t>
            </a:r>
            <a:r>
              <a:rPr>
                <a:solidFill>
                  <a:srgbClr val="003B4F"/>
                </a:solidFill>
                <a:latin typeface="Courier"/>
              </a:rPr>
              <a:t>]]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sample_result[</a:t>
            </a:r>
            <a:r>
              <a:rPr>
                <a:solidFill>
                  <a:srgbClr val="20794D"/>
                </a:solidFill>
                <a:latin typeface="Courier"/>
              </a:rPr>
              <a:t>"cell_count"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</a:p>
          <a:p>
            <a:pPr lvl="0" indent="0" marL="0">
              <a:buNone/>
            </a:pPr>
            <a:r>
              <a:rPr/>
              <a:t>세 선택 결과의 자료형을 비교합니다.</a:t>
            </a:r>
          </a:p>
        </p:txBody>
      </p:sp>
    </p:spTree>
  </p:cSld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실습 3: 중첩된 분석 객체 탐색하기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names</a:t>
            </a:r>
            <a:r>
              <a:rPr>
                <a:solidFill>
                  <a:srgbClr val="003B4F"/>
                </a:solidFill>
                <a:latin typeface="Courier"/>
              </a:rPr>
              <a:t>(analysis_result)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str</a:t>
            </a:r>
            <a:r>
              <a:rPr>
                <a:solidFill>
                  <a:srgbClr val="003B4F"/>
                </a:solidFill>
                <a:latin typeface="Courier"/>
              </a:rPr>
              <a:t>(analysis_result, </a:t>
            </a:r>
            <a:r>
              <a:rPr>
                <a:solidFill>
                  <a:srgbClr val="657422"/>
                </a:solidFill>
                <a:latin typeface="Courier"/>
              </a:rPr>
              <a:t>max.level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analysis_result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parameters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qc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min_cells</a:t>
            </a:r>
          </a:p>
          <a:p>
            <a:pPr lvl="0" indent="0" marL="0">
              <a:buNone/>
            </a:pPr>
            <a:r>
              <a:rPr/>
              <a:t>바깥 단계부터 이름과 구조를 확인해 필요한 값에 접근합니다.</a:t>
            </a:r>
          </a:p>
        </p:txBody>
      </p:sp>
    </p:spTree>
  </p:cSld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실습 4: RDS로 저장하고 복원하기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saveRDS</a:t>
            </a:r>
            <a:r>
              <a:rPr>
                <a:solidFill>
                  <a:srgbClr val="003B4F"/>
                </a:solidFill>
                <a:latin typeface="Courier"/>
              </a:rPr>
              <a:t>(analysis_result, </a:t>
            </a:r>
            <a:r>
              <a:rPr>
                <a:solidFill>
                  <a:srgbClr val="20794D"/>
                </a:solidFill>
                <a:latin typeface="Courier"/>
              </a:rPr>
              <a:t>"results/analysis_result.rds"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restored_result &lt;- </a:t>
            </a:r>
            <a:r>
              <a:rPr>
                <a:solidFill>
                  <a:srgbClr val="4758AB"/>
                </a:solidFill>
                <a:latin typeface="Courier"/>
              </a:rPr>
              <a:t>readRDS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"results/analysis_result.rds"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identical</a:t>
            </a:r>
            <a:r>
              <a:rPr>
                <a:solidFill>
                  <a:srgbClr val="003B4F"/>
                </a:solidFill>
                <a:latin typeface="Courier"/>
              </a:rPr>
              <a:t>(analysis_result, restored_result)</a:t>
            </a:r>
          </a:p>
          <a:p>
            <a:pPr lvl="0" indent="0" marL="0">
              <a:buNone/>
            </a:pPr>
            <a:r>
              <a:rPr/>
              <a:t>복원한 객체의 클래스, 이름, 구조도 확인합니다.</a:t>
            </a:r>
          </a:p>
        </p:txBody>
      </p:sp>
    </p:spTree>
  </p:cSld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오늘 배운 내용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패키지 설치와 현재 세션에 불러오기는 서로 다른 과정입니다.</a:t>
            </a:r>
          </a:p>
          <a:p>
            <a:pPr lvl="0"/>
            <a:r>
              <a:rPr/>
              <a:t>리스트는 자료형과 크기가 다른 여러 객체를 함께 저장합니다.</a:t>
            </a:r>
          </a:p>
          <a:p>
            <a:pPr lvl="0"/>
            <a:r>
              <a:rPr>
                <a:latin typeface="Courier"/>
              </a:rPr>
              <a:t>[ ]</a:t>
            </a:r>
            <a:r>
              <a:rPr/>
              <a:t>는 리스트를, </a:t>
            </a:r>
            <a:r>
              <a:rPr>
                <a:latin typeface="Courier"/>
              </a:rPr>
              <a:t>[[ ]]</a:t>
            </a:r>
            <a:r>
              <a:rPr/>
              <a:t>와 </a:t>
            </a:r>
            <a:r>
              <a:rPr>
                <a:latin typeface="Courier"/>
              </a:rPr>
              <a:t>$</a:t>
            </a:r>
            <a:r>
              <a:rPr/>
              <a:t>는 원소 내용을 반환합니다.</a:t>
            </a:r>
          </a:p>
          <a:p>
            <a:pPr lvl="0"/>
            <a:r>
              <a:rPr/>
              <a:t>복잡한 객체는 </a:t>
            </a:r>
            <a:r>
              <a:rPr>
                <a:latin typeface="Courier"/>
              </a:rPr>
              <a:t>class()</a:t>
            </a:r>
            <a:r>
              <a:rPr/>
              <a:t>, </a:t>
            </a:r>
            <a:r>
              <a:rPr>
                <a:latin typeface="Courier"/>
              </a:rPr>
              <a:t>str()</a:t>
            </a:r>
            <a:r>
              <a:rPr/>
              <a:t>, </a:t>
            </a:r>
            <a:r>
              <a:rPr>
                <a:latin typeface="Courier"/>
              </a:rPr>
              <a:t>names()</a:t>
            </a:r>
            <a:r>
              <a:rPr/>
              <a:t>, </a:t>
            </a:r>
            <a:r>
              <a:rPr>
                <a:latin typeface="Courier"/>
              </a:rPr>
              <a:t>attributes()</a:t>
            </a:r>
            <a:r>
              <a:rPr/>
              <a:t>로 조사합니다.</a:t>
            </a:r>
          </a:p>
          <a:p>
            <a:pPr lvl="0"/>
            <a:r>
              <a:rPr/>
              <a:t>RDS는 복합 R 객체의 구조를 보존하여 저장합니다.</a:t>
            </a:r>
          </a:p>
        </p:txBody>
      </p:sp>
    </p:spTree>
  </p:cSld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종료 점검과 다음 차시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>
                <a:latin typeface="Courier"/>
              </a:rPr>
              <a:t>install.packages()</a:t>
            </a:r>
            <a:r>
              <a:rPr/>
              <a:t>와 </a:t>
            </a:r>
            <a:r>
              <a:rPr>
                <a:latin typeface="Courier"/>
              </a:rPr>
              <a:t>library()</a:t>
            </a:r>
            <a:r>
              <a:rPr/>
              <a:t>는 어떻게 다릅니까?</a:t>
            </a:r>
          </a:p>
          <a:p>
            <a:pPr lvl="0" indent="-457200" marL="457200">
              <a:buAutoNum type="arabicPeriod"/>
            </a:pPr>
            <a:r>
              <a:rPr/>
              <a:t>리스트의 </a:t>
            </a:r>
            <a:r>
              <a:rPr>
                <a:latin typeface="Courier"/>
              </a:rPr>
              <a:t>[ ]</a:t>
            </a:r>
            <a:r>
              <a:rPr/>
              <a:t>와 </a:t>
            </a:r>
            <a:r>
              <a:rPr>
                <a:latin typeface="Courier"/>
              </a:rPr>
              <a:t>[[ ]]</a:t>
            </a:r>
            <a:r>
              <a:rPr/>
              <a:t>는 어떤 결과를 반환합니까?</a:t>
            </a:r>
          </a:p>
          <a:p>
            <a:pPr lvl="0" indent="-457200" marL="457200">
              <a:buAutoNum type="arabicPeriod"/>
            </a:pPr>
            <a:r>
              <a:rPr/>
              <a:t>처음 보는 복잡한 객체는 어떤 순서로 조사합니까?</a:t>
            </a:r>
          </a:p>
          <a:p>
            <a:pPr lvl="0" indent="-457200" marL="457200">
              <a:buAutoNum type="arabicPeriod"/>
            </a:pPr>
            <a:r>
              <a:rPr/>
              <a:t>CSV 대신 RDS를 사용하는 것이 적합한 상황은 언제입니까?</a:t>
            </a:r>
          </a:p>
          <a:p>
            <a:pPr lvl="0" indent="0" marL="0">
              <a:buNone/>
            </a:pPr>
            <a:r>
              <a:rPr b="1"/>
              <a:t>다음 차시:</a:t>
            </a:r>
            <a:r>
              <a:rPr/>
              <a:t> 지금까지 배운 내용을 연결해 전사체 형태의 데이터를 분석하는 미니 프로젝트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사용자 지정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Pretendard</vt:lpstr>
      <vt:lpstr>맑은 고딕</vt:lpstr>
      <vt:lpstr>Arial</vt:lpstr>
      <vt:lpstr>Inter</vt:lpstr>
      <vt:lpstr>JetBrains Mono</vt:lpstr>
      <vt:lpstr>Office 테마</vt:lpstr>
      <vt:lpstr>R Programming Lecture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11차시: 패키지, 리스트와 R 객체</dc:title>
  <dc:creator/>
  <cp:keywords/>
  <dcterms:created xsi:type="dcterms:W3CDTF">2026-07-12T11:16:04Z</dcterms:created>
  <dcterms:modified xsi:type="dcterms:W3CDTF">2026-07-12T11:16:04Z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ngines">
    <vt:lpwstr/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subtitle">
    <vt:lpwstr>R 기초 프로그래밍</vt:lpwstr>
  </property>
  <property fmtid="{D5CDD505-2E9C-101B-9397-08002B2CF9AE}" pid="9" name="toc-title">
    <vt:lpwstr>목차</vt:lpwstr>
  </property>
</Properties>
</file>