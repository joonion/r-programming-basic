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7" Type="http://schemas.openxmlformats.org/officeDocument/2006/relationships/tableStyles" Target="tableStyles.xml" /><Relationship Id="rId76" Type="http://schemas.openxmlformats.org/officeDocument/2006/relationships/theme" Target="theme/theme1.xml" /><Relationship Id="rId7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10차시: 데이터 요약과 시각화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전체 데이터와 그룹별 데이터를 기초 통계량으로 요약할 수 있다.</a:t>
            </a:r>
          </a:p>
          <a:p>
            <a:pPr lvl="0" indent="-457200" marL="457200">
              <a:buAutoNum type="arabicPeriod"/>
            </a:pPr>
            <a:r>
              <a:rPr/>
              <a:t>분석 질문과 자료형에 맞는 </a:t>
            </a:r>
            <a:r>
              <a:rPr>
                <a:latin typeface="Courier"/>
              </a:rPr>
              <a:t>ggplot2</a:t>
            </a:r>
            <a:r>
              <a:rPr/>
              <a:t> 그래프를 선택할 수 있다.</a:t>
            </a:r>
          </a:p>
          <a:p>
            <a:pPr lvl="0" indent="-457200" marL="457200">
              <a:buAutoNum type="arabicPeriod"/>
            </a:pPr>
            <a:r>
              <a:rPr/>
              <a:t>그래프를 객체로 저장하고 </a:t>
            </a:r>
            <a:r>
              <a:rPr>
                <a:latin typeface="Courier"/>
              </a:rPr>
              <a:t>patchwork</a:t>
            </a:r>
            <a:r>
              <a:rPr/>
              <a:t>로 조합할 수 있다.</a:t>
            </a:r>
          </a:p>
          <a:p>
            <a:pPr lvl="0" indent="-457200" marL="457200">
              <a:buAutoNum type="arabicPeriod"/>
            </a:pPr>
            <a:r>
              <a:rPr/>
              <a:t>요약표와 그래프를 파일로 저장하고 확인할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CSV 파일을 데이터 프레임으로 불러올 수 있습니다.</a:t>
            </a:r>
          </a:p>
          <a:p>
            <a:pPr lvl="0"/>
            <a:r>
              <a:rPr/>
              <a:t>데이터 프레임의 열을 선택하고 조건으로 행을 선택할 수 있습니다.</a:t>
            </a:r>
          </a:p>
          <a:p>
            <a:pPr lvl="0"/>
            <a:r>
              <a:rPr/>
              <a:t>함수를 호출하고 인자를 이름으로 지정할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이번 차시의 분석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데이터 확인
  ↓
전체 요약
  ↓
그룹별 요약
  ↓
질문에 맞는 그래프 선택
  ↓
표와 그래프 저장</a:t>
            </a:r>
          </a:p>
          <a:p>
            <a:pPr lvl="0" indent="0" marL="0">
              <a:buNone/>
            </a:pPr>
            <a:r>
              <a:rPr/>
              <a:t>숫자만 계산하는 데서 끝나지 않고 결과가 무엇을 의미하는지 해석합니다.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샘플 메타데이터를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요약과 시각화 전에 행 수, 열 이름, 자료형을 먼저 확인합니다.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 질문을 먼저 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이번 차시에서는 다음 질문을 살펴봅니다.</a:t>
            </a:r>
          </a:p>
          <a:p>
            <a:pPr lvl="0" indent="-457200" marL="457200">
              <a:buAutoNum type="arabicPeriod"/>
            </a:pPr>
            <a:r>
              <a:rPr/>
              <a:t>각 실험 조건에는 샘플이 몇 개 있는가?</a:t>
            </a:r>
          </a:p>
          <a:p>
            <a:pPr lvl="0" indent="-457200" marL="457200">
              <a:buAutoNum type="arabicPeriod"/>
            </a:pPr>
            <a:r>
              <a:rPr/>
              <a:t>세포 수는 어느 범위에 분포하는가?</a:t>
            </a:r>
          </a:p>
          <a:p>
            <a:pPr lvl="0" indent="-457200" marL="457200">
              <a:buAutoNum type="arabicPeriod"/>
            </a:pPr>
            <a:r>
              <a:rPr/>
              <a:t>조건별 세포 수에 차이가 있는가?</a:t>
            </a:r>
          </a:p>
          <a:p>
            <a:pPr lvl="0" indent="-457200" marL="457200">
              <a:buAutoNum type="arabicPeriod"/>
            </a:pPr>
            <a:r>
              <a:rPr/>
              <a:t>세포 수와 검출 유전자 수는 어떤 관계가 있는가?</a:t>
            </a:r>
          </a:p>
          <a:p>
            <a:pPr lvl="0" indent="0" marL="0">
              <a:buNone/>
            </a:pPr>
            <a:r>
              <a:rPr/>
              <a:t>질문이 정해져야 필요한 요약과 그래프를 선택할 수 있습니다.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로 전체 모습을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숫자형 열의 최솟값, 사분위수, 중앙값, 평균, 최댓값</a:t>
            </a:r>
          </a:p>
          <a:p>
            <a:pPr lvl="0"/>
            <a:r>
              <a:rPr/>
              <a:t>논리형 열의 </a:t>
            </a:r>
            <a:r>
              <a:rPr>
                <a:latin typeface="Courier"/>
              </a:rPr>
              <a:t>TRUE</a:t>
            </a:r>
            <a:r>
              <a:rPr/>
              <a:t>, </a:t>
            </a:r>
            <a:r>
              <a:rPr>
                <a:latin typeface="Courier"/>
              </a:rPr>
              <a:t>FALSE</a:t>
            </a:r>
            <a:r>
              <a:rPr/>
              <a:t> 개수</a:t>
            </a:r>
          </a:p>
          <a:p>
            <a:pPr lvl="0"/>
            <a:r>
              <a:rPr/>
              <a:t>결측값이 있는 열의 </a:t>
            </a:r>
            <a:r>
              <a:rPr>
                <a:latin typeface="Courier"/>
              </a:rPr>
              <a:t>NA's</a:t>
            </a:r>
            <a:r>
              <a:rPr/>
              <a:t> 개수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숫자형 열을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각 함수는 데이터의 서로 다른 특징을 보여 줍니다.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평균과 중앙값을 구분한다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평균</a:t>
            </a:r>
            <a:r>
              <a:rPr/>
              <a:t>: 모든 값을 더한 뒤 개수로 나눈 값</a:t>
            </a:r>
          </a:p>
          <a:p>
            <a:pPr lvl="0"/>
            <a:r>
              <a:rPr b="1"/>
              <a:t>중앙값</a:t>
            </a:r>
            <a:r>
              <a:rPr/>
              <a:t>: 값을 정렬했을 때 가운데에 있는 값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극단적으로 크거나 작은 값이 있으면 평균과 중앙값이 달라질 수 있습니다.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범위와 사분위 범위를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>
                <a:latin typeface="Courier"/>
              </a:rPr>
              <a:t>range()</a:t>
            </a:r>
            <a:r>
              <a:rPr/>
              <a:t>는 최솟값과 최댓값을 반환합니다.</a:t>
            </a:r>
          </a:p>
          <a:p>
            <a:pPr lvl="0"/>
            <a:r>
              <a:rPr>
                <a:latin typeface="Courier"/>
              </a:rPr>
              <a:t>quantile()</a:t>
            </a:r>
            <a:r>
              <a:rPr/>
              <a:t>은 사분위수를 보여 줍니다.</a:t>
            </a:r>
          </a:p>
          <a:p>
            <a:pPr lvl="0"/>
            <a:r>
              <a:rPr>
                <a:latin typeface="Courier"/>
              </a:rPr>
              <a:t>IQR()</a:t>
            </a:r>
            <a:r>
              <a:rPr/>
              <a:t>은 3사분위수와 1사분위수의 차이입니다.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표준편차는 값이 퍼진 정도를 나타낸다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/>
              <a:t>표준편차가 작으면 값들이 평균 주변에 모여 있습니다.</a:t>
            </a:r>
          </a:p>
          <a:p>
            <a:pPr lvl="0"/>
            <a:r>
              <a:rPr/>
              <a:t>표준편차가 크면 값들이 더 넓게 퍼져 있습니다.</a:t>
            </a:r>
          </a:p>
          <a:p>
            <a:pPr lvl="0"/>
            <a:r>
              <a:rPr/>
              <a:t>서로 다른 단위의 변수는 표준편차만으로 직접 비교하지 않습니다.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있으면 먼저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doublet_rates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(doublet_rates)</a:t>
            </a:r>
          </a:p>
          <a:p>
            <a:pPr lvl="0" indent="0" marL="0">
              <a:buNone/>
            </a:pPr>
            <a:r>
              <a:rPr/>
              <a:t>결측값이 포함되면 기본 평균 결과도 </a:t>
            </a:r>
            <a:r>
              <a:rPr>
                <a:latin typeface="Courier"/>
              </a:rPr>
              <a:t>NA</a:t>
            </a:r>
            <a:r>
              <a:rPr/>
              <a:t>입니다.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필요한 경우 결측값을 제외하고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(doublet_rates,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(doublet_rates,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na.rm = TRUE</a:t>
            </a:r>
            <a:r>
              <a:rPr/>
              <a:t>를 사용하기 전에 결측 원인과 제외 가능 여부를 판단해야 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범주별 개수를 </a:t>
            </a:r>
            <a:r>
              <a:rPr>
                <a:latin typeface="Courier"/>
              </a:rPr>
              <a:t>table()</a:t>
            </a:r>
            <a:r>
              <a:rPr/>
              <a:t>로 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condition_counts &lt;- 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condition_counts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table()</a:t>
            </a:r>
            <a:r>
              <a:rPr/>
              <a:t>은 각 고유한 값이 몇 번 나타나는지 계산합니다.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두 범주를 함께 교차 집계한다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행은 실험 조건, 열은 QC 통과 여부가 되어 조합별 개수를 보여 줍니다.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비율로 바꾸어 볼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(condition_counts)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prop.table</a:t>
            </a:r>
            <a:r>
              <a:rPr>
                <a:solidFill>
                  <a:srgbClr val="003B4F"/>
                </a:solidFill>
                <a:latin typeface="Courier"/>
              </a:rPr>
              <a:t>(condition_counts)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prop.table()</a:t>
            </a:r>
            <a:r>
              <a:rPr/>
              <a:t>은 전체 합이 1이 되도록 개수를 비율로 변환합니다.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그룹별 요약은 나누고 계산하는 과정이다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control 값들 ─→ 평균 계산
treated 값들 ─→ 평균 계산</a:t>
            </a:r>
          </a:p>
          <a:p>
            <a:pPr lvl="0" indent="0" marL="0">
              <a:buNone/>
            </a:pPr>
            <a:r>
              <a:rPr/>
              <a:t>그룹 변수와 요약할 숫자형 변수가 필요합니다.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tapply()</a:t>
            </a:r>
            <a:r>
              <a:rPr/>
              <a:t>로 그룹별 한 값을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mean_cell_counts &lt;- </a:t>
            </a:r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mean_cell_counts</a:t>
            </a:r>
          </a:p>
          <a:p>
            <a:pPr lvl="0" indent="-457200" marL="457200">
              <a:buAutoNum type="arabicPeriod"/>
            </a:pPr>
            <a:r>
              <a:rPr/>
              <a:t>첫 번째 인자: 요약할 값</a:t>
            </a:r>
          </a:p>
          <a:p>
            <a:pPr lvl="0" indent="-457200" marL="457200">
              <a:buAutoNum type="arabicPeriod"/>
            </a:pPr>
            <a:r>
              <a:rPr/>
              <a:t>두 번째 인자: 그룹</a:t>
            </a:r>
          </a:p>
          <a:p>
            <a:pPr lvl="0" indent="-457200" marL="457200">
              <a:buAutoNum type="arabicPeriod"/>
            </a:pPr>
            <a:r>
              <a:rPr/>
              <a:t>세 번째 인자: 적용할 함수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다른 요약 함수도 적용할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median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같은 그룹 기준에 여러 요약 함수를 적용해 비교할 수 있습니다.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있는 열을 그룹별로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na.rm = TRUE</a:t>
            </a:r>
            <a:r>
              <a:rPr/>
              <a:t>가 </a:t>
            </a:r>
            <a:r>
              <a:rPr>
                <a:latin typeface="Courier"/>
              </a:rPr>
              <a:t>mean()</a:t>
            </a:r>
            <a:r>
              <a:rPr/>
              <a:t>으로 전달되어 그룹별 결측값을 제외합니다.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aggregate()</a:t>
            </a:r>
            <a:r>
              <a:rPr/>
              <a:t>는 결과를 데이터 프레임으로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 &lt;- 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</a:p>
          <a:p>
            <a:pPr lvl="0"/>
            <a:r>
              <a:rPr>
                <a:latin typeface="Courier"/>
              </a:rPr>
              <a:t>cell_count ~ condition</a:t>
            </a:r>
            <a:r>
              <a:rPr/>
              <a:t>은 조건별 세포 수를 뜻합니다.</a:t>
            </a:r>
          </a:p>
          <a:p>
            <a:pPr lvl="0"/>
            <a:r>
              <a:rPr/>
              <a:t>결과가 표 형태라 저장하거나 다른 열을 추가하기 쉽습니다.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숫자형 열을 함께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 &lt;- 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(cell_count, median_genes, mito_percent)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cbind()</a:t>
            </a:r>
            <a:r>
              <a:rPr/>
              <a:t>로 함께 요약할 숫자형 열을 묶습니다.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그룹별 샘플 수를 요약표에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condition_counts &lt;- 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sample_count &lt;-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condition_counts[condition_summary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</a:p>
          <a:p>
            <a:pPr lvl="0" indent="0" marL="0">
              <a:buNone/>
            </a:pPr>
            <a:r>
              <a:rPr/>
              <a:t>같은 조건 이름을 이용해 개수를 올바른 행에 연결합니다.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표시할 자릿수를 정리한다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round()</a:t>
            </a:r>
            <a:r>
              <a:rPr/>
              <a:t>는 표시할 소수점 자릿수를 정리합니다.</a:t>
            </a:r>
          </a:p>
          <a:p>
            <a:pPr lvl="0"/>
            <a:r>
              <a:rPr/>
              <a:t>원본 측정값을 바꾸기보다 요약 결과의 표시를 정리합니다.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dplyr로 그룹별 요약을 읽기 쉽게 표현한다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dplyr_summary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dplyr_summary</a:t>
            </a:r>
          </a:p>
          <a:p>
            <a:pPr lvl="0" indent="0" marL="0">
              <a:buNone/>
            </a:pPr>
            <a:r>
              <a:rPr/>
              <a:t>기본 R의 </a:t>
            </a:r>
            <a:r>
              <a:rPr>
                <a:latin typeface="Courier"/>
              </a:rPr>
              <a:t>tapply()</a:t>
            </a:r>
            <a:r>
              <a:rPr/>
              <a:t>와 </a:t>
            </a:r>
            <a:r>
              <a:rPr>
                <a:latin typeface="Courier"/>
              </a:rPr>
              <a:t>aggregate()</a:t>
            </a:r>
            <a:r>
              <a:rPr/>
              <a:t>를 다른 문법으로 표현한 것입니다.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group_by()</a:t>
            </a:r>
            <a:r>
              <a:rPr/>
              <a:t>는 뒤의 계산에 사용할 그룹을 지정한다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grouped_metadata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grouped_metadata</a:t>
            </a:r>
          </a:p>
          <a:p>
            <a:pPr lvl="0"/>
            <a:r>
              <a:rPr/>
              <a:t>데이터의 행이 즉시 분리되는 것은 아닙니다.</a:t>
            </a:r>
          </a:p>
          <a:p>
            <a:pPr lvl="0"/>
            <a:r>
              <a:rPr/>
              <a:t>객체에 그룹 정보가 추가됩니다.</a:t>
            </a:r>
          </a:p>
          <a:p>
            <a:pPr lvl="0"/>
            <a:r>
              <a:rPr/>
              <a:t>이후 </a:t>
            </a:r>
            <a:r>
              <a:rPr>
                <a:latin typeface="Courier"/>
              </a:rPr>
              <a:t>summarise()</a:t>
            </a:r>
            <a:r>
              <a:rPr/>
              <a:t>와 </a:t>
            </a:r>
            <a:r>
              <a:rPr>
                <a:latin typeface="Courier"/>
              </a:rPr>
              <a:t>slice_head()</a:t>
            </a:r>
            <a:r>
              <a:rPr/>
              <a:t> 등이 그룹별로 동작합니다.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summarise()</a:t>
            </a:r>
            <a:r>
              <a:rPr/>
              <a:t>는 그룹마다 요약 행을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condition_summary_dplyr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median_cells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(cell_count),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(mito_percent),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condition_summary_dplyr</a:t>
            </a:r>
          </a:p>
          <a:p>
            <a:pPr lvl="0"/>
            <a:r>
              <a:rPr>
                <a:latin typeface="Courier"/>
              </a:rPr>
              <a:t>n()</a:t>
            </a:r>
            <a:r>
              <a:rPr/>
              <a:t>은 각 그룹의 행 개수를 반환합니다.</a:t>
            </a:r>
          </a:p>
          <a:p>
            <a:pPr lvl="0"/>
            <a:r>
              <a:rPr/>
              <a:t>각 요약식은 결과 데이터의 한 열이 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 처리는 기존 함수와 같다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doublet_summary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mean_doublet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(doublet_rate,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데이터 마스킹으로 열 이름을 직접 쓰지만 </a:t>
            </a:r>
            <a:r>
              <a:rPr>
                <a:latin typeface="Courier"/>
              </a:rPr>
              <a:t>mean()</a:t>
            </a:r>
            <a:r>
              <a:rPr/>
              <a:t>과 </a:t>
            </a:r>
            <a:r>
              <a:rPr>
                <a:latin typeface="Courier"/>
              </a:rPr>
              <a:t>is.na()</a:t>
            </a:r>
            <a:r>
              <a:rPr/>
              <a:t>의 의미는 같습니다.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ungroup()</a:t>
            </a:r>
            <a:r>
              <a:rPr/>
              <a:t>은 그룹 상태를 제거한다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grouped_metadata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ungrouped_metadata &lt;- grouped_metadata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그룹 상태가 필요 없어진 시점에 제거할 수 있습니다.</a:t>
            </a:r>
          </a:p>
          <a:p>
            <a:pPr lvl="0"/>
            <a:r>
              <a:rPr>
                <a:latin typeface="Courier"/>
              </a:rPr>
              <a:t>summarise(.groups = "drop")</a:t>
            </a:r>
            <a:r>
              <a:rPr/>
              <a:t>도 요약 후 그룹을 제거합니다.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는 행의 순서를 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(cell_count))</a:t>
            </a:r>
          </a:p>
          <a:p>
            <a:pPr lvl="0"/>
            <a:r>
              <a:rPr>
                <a:latin typeface="Courier"/>
              </a:rPr>
              <a:t>arrange(cell_count)</a:t>
            </a:r>
            <a:r>
              <a:rPr/>
              <a:t>는 작은 값부터 정렬합니다.</a:t>
            </a:r>
          </a:p>
          <a:p>
            <a:pPr lvl="0"/>
            <a:r>
              <a:rPr>
                <a:latin typeface="Courier"/>
              </a:rPr>
              <a:t>desc(cell_count)</a:t>
            </a:r>
            <a:r>
              <a:rPr/>
              <a:t>는 큰 값부터 정렬합니다.</a:t>
            </a:r>
          </a:p>
          <a:p>
            <a:pPr lvl="0"/>
            <a:r>
              <a:rPr/>
              <a:t>원본 데이터의 값은 바뀌지 않고 행 순서만 달라집니다.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slice_head()</a:t>
            </a:r>
            <a:r>
              <a:rPr/>
              <a:t>는 그룹마다 처음 n개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top_samples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(cell_count))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top_samples</a:t>
            </a:r>
          </a:p>
          <a:p>
            <a:pPr lvl="0" indent="0" marL="0">
              <a:buNone/>
            </a:pPr>
            <a:r>
              <a:rPr/>
              <a:t>먼저 정렬한 뒤 </a:t>
            </a:r>
            <a:r>
              <a:rPr>
                <a:latin typeface="Courier"/>
              </a:rPr>
              <a:t>slice_head()</a:t>
            </a:r>
            <a:r>
              <a:rPr/>
              <a:t>를 사용해야 큰 값 순서의 상위 행을 선택할 수 있습니다.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Seurat 마커 결과도 같은 흐름으로 정리한다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top_markers &lt;- pbmc_markers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(cluster)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(avg_log2FC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(avg_log2FC))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공식 PBMC 튜토리얼의 그룹별 상위 마커 선택과 같은 구조입니다.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그래프는 질문에 맞게 선택한다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질문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그래프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범주별 개수는 몇 개인가?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막대그래프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 값은 어떻게 분포하는가?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히스토그램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그룹별 분포가 어떻게 다른가?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상자그림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두 숫자형 변수는 어떤 관계인가?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산점도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그래프에 모든 정보를 넣기보다 질문 하나에 집중합니다.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막대그래프로 범주별 개수를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condition_counts &lt;- 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(condition_counts)</a:t>
            </a:r>
          </a:p>
          <a:p>
            <a:pPr lvl="0"/>
            <a:r>
              <a:rPr/>
              <a:t>막대의 높이는 각 범주의 개수입니다.</a:t>
            </a:r>
          </a:p>
          <a:p>
            <a:pPr lvl="0"/>
            <a:r>
              <a:rPr/>
              <a:t>범주형 자료의 빈도를 비교할 때 사용합니다.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막대그래프에 설명을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condition_counts,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샘플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"샘플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main</a:t>
            </a:r>
            <a:r>
              <a:rPr/>
              <a:t>: 그래프 제목</a:t>
            </a:r>
          </a:p>
          <a:p>
            <a:pPr lvl="0"/>
            <a:r>
              <a:rPr>
                <a:latin typeface="Courier"/>
              </a:rPr>
              <a:t>xlab</a:t>
            </a:r>
            <a:r>
              <a:rPr/>
              <a:t>, </a:t>
            </a:r>
            <a:r>
              <a:rPr>
                <a:latin typeface="Courier"/>
              </a:rPr>
              <a:t>ylab</a:t>
            </a:r>
            <a:r>
              <a:rPr/>
              <a:t>: 축 이름</a:t>
            </a:r>
          </a:p>
          <a:p>
            <a:pPr lvl="0"/>
            <a:r>
              <a:rPr>
                <a:latin typeface="Courier"/>
              </a:rPr>
              <a:t>col</a:t>
            </a:r>
            <a:r>
              <a:rPr/>
              <a:t>: 막대 색상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그룹별 평균도 막대그래프로 표현할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mean_cell_counts,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"조건별 평균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"평균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평균 막대만으로는 각 값의 분포가 보이지 않는다는 한계가 있습니다.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히스토그램은 숫자형 값의 분포를 보여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</a:p>
          <a:p>
            <a:pPr lvl="0"/>
            <a:r>
              <a:rPr/>
              <a:t>x축은 값의 구간입니다.</a:t>
            </a:r>
          </a:p>
          <a:p>
            <a:pPr lvl="0"/>
            <a:r>
              <a:rPr/>
              <a:t>y축은 각 구간에 속한 관측값의 개수입니다.</a:t>
            </a:r>
          </a:p>
          <a:p>
            <a:pPr lvl="0"/>
            <a:r>
              <a:rPr/>
              <a:t>샘플 수가 적으면 분포 해석에 주의합니다.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히스토그램에 설명을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"샘플별 세포 수 분포"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"빈도"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"#70AD47"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breaks</a:t>
            </a:r>
            <a:r>
              <a:rPr/>
              <a:t>는 값을 나눌 구간 수에 영향을 줍니다.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상자그림은 그룹별 분포를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상자 안의 굵은 선은 중앙값입니다.</a:t>
            </a:r>
          </a:p>
          <a:p>
            <a:pPr lvl="0"/>
            <a:r>
              <a:rPr/>
              <a:t>상자는 가운데 50%의 값이 있는 범위를 나타냅니다.</a:t>
            </a:r>
          </a:p>
          <a:p>
            <a:pPr lvl="0"/>
            <a:r>
              <a:rPr/>
              <a:t>그룹별 값의 중심과 퍼짐을 비교할 수 있습니다.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상자그림에 설명을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표본 수가 매우 적을 때는 상자 모양만으로 차이를 단정하지 않습니다.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산점도는 두 숫자형 변수의 관계를 보여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점은 샘플 하나를 나타냅니다.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산점도에 설명과 점 모양을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수와 검출 유전자 수의 관계"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pch = 19</a:t>
            </a:r>
            <a:r>
              <a:rPr/>
              <a:t>는 채워진 원을 사용합니다.</a:t>
            </a:r>
          </a:p>
          <a:p>
            <a:pPr lvl="0"/>
            <a:r>
              <a:rPr/>
              <a:t>산점도에서 x축과 y축에 어떤 변수를 놓았는지 명확히 표시합니다.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조건에 따라 점 색상을 지정할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point_colors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point_colors,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색상은 데이터와 같은 길이의 벡터로 지정할 수 있습니다.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범례로 색상의 의미를 설명한다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"bottomright"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색상이나 모양으로 그룹을 구분했다면 범례를 함께 제공합니다.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 제목은 내용을 구체적으로 적는다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피해야 할 제목:</a:t>
            </a:r>
          </a:p>
          <a:p>
            <a:pPr lvl="0" indent="0">
              <a:buNone/>
            </a:pPr>
            <a:r>
              <a:rPr>
                <a:latin typeface="Courier"/>
              </a:rPr>
              <a:t>결과 그래프</a:t>
            </a:r>
          </a:p>
          <a:p>
            <a:pPr lvl="0" indent="0" marL="0">
              <a:buNone/>
            </a:pPr>
            <a:r>
              <a:rPr/>
              <a:t>권장 제목:</a:t>
            </a:r>
          </a:p>
          <a:p>
            <a:pPr lvl="0" indent="0">
              <a:buNone/>
            </a:pPr>
            <a:r>
              <a:rPr>
                <a:latin typeface="Courier"/>
              </a:rPr>
              <a:t>실험 조건별 세포 수
세포 수와 검출 유전자 수의 관계</a:t>
            </a:r>
          </a:p>
          <a:p>
            <a:pPr lvl="0" indent="0" marL="0">
              <a:buNone/>
            </a:pPr>
            <a:r>
              <a:rPr/>
              <a:t>제목만 읽어도 무엇을 보여 주는지 알 수 있게 작성합니다.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축 이름에는 변수와 단위를 적는다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xlab = </a:t>
            </a:r>
            <a:r>
              <a:rPr>
                <a:solidFill>
                  <a:srgbClr val="20794D"/>
                </a:solidFill>
                <a:latin typeface="Courier"/>
              </a:rPr>
              <a:t>"미토콘드리아 유전자 비율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ylab =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</a:p>
          <a:p>
            <a:pPr lvl="0"/>
            <a:r>
              <a:rPr/>
              <a:t>열 이름을 그대로 복사하기보다 사람이 이해할 표현을 사용합니다.</a:t>
            </a:r>
          </a:p>
          <a:p>
            <a:pPr lvl="0"/>
            <a:r>
              <a:rPr/>
              <a:t>단위가 있으면 괄호 안에 표시합니다.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ggplot2</a:t>
            </a:r>
            <a:r>
              <a:rPr/>
              <a:t>는 같은 문법으로 여러 그래프를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콘솔에서 한 번만 실행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install.packages("ggplot2")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install.packages("patchwork")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/>
            <a:r>
              <a:rPr/>
              <a:t>기본 R 그래프는 빠른 확인에 유용합니다.</a:t>
            </a:r>
          </a:p>
          <a:p>
            <a:pPr lvl="0"/>
            <a:r>
              <a:rPr>
                <a:latin typeface="Courier"/>
              </a:rPr>
              <a:t>ggplot2</a:t>
            </a:r>
            <a:r>
              <a:rPr/>
              <a:t>는 데이터, 표현 규칙, 그래프 종류를 층으로 조합합니다.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는 완성된 그래프 여러 개를 한 화면에 배치합니다.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그래프는 데이터, </a:t>
            </a:r>
            <a:r>
              <a:rPr>
                <a:latin typeface="Courier"/>
              </a:rPr>
              <a:t>aes()</a:t>
            </a:r>
            <a:r>
              <a:rPr/>
              <a:t>, </a:t>
            </a:r>
            <a:r>
              <a:rPr>
                <a:latin typeface="Courier"/>
              </a:rPr>
              <a:t>geom_*()</a:t>
            </a:r>
            <a:r>
              <a:rPr/>
              <a:t>에서 시작한다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mapping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median_genes)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data</a:t>
            </a:r>
            <a:r>
              <a:rPr/>
              <a:t>: 사용할 데이터 프레임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aes()</a:t>
            </a:r>
            <a:r>
              <a:rPr/>
              <a:t>: 열을 축, 색상 등에 연결하는 규칙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geom_*()</a:t>
            </a:r>
            <a:r>
              <a:rPr/>
              <a:t>: 점, 막대, 상자와 같은 표현 방법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aes()</a:t>
            </a:r>
            <a:r>
              <a:rPr/>
              <a:t>에서도 데이터 마스킹 문법을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condition))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aes()</a:t>
            </a:r>
            <a:r>
              <a:rPr/>
              <a:t> 안에서는 </a:t>
            </a:r>
            <a:r>
              <a:rPr>
                <a:latin typeface="Courier"/>
              </a:rPr>
              <a:t>sample_metadata$cell_count</a:t>
            </a:r>
            <a:r>
              <a:rPr/>
              <a:t> 대신 열 이름을 바로 씁니다. 7차시의 </a:t>
            </a:r>
            <a:r>
              <a:rPr>
                <a:latin typeface="Courier"/>
              </a:rPr>
              <a:t>filter()</a:t>
            </a:r>
            <a:r>
              <a:rPr/>
              <a:t>와 같은 데이터 마스킹 문법입니다.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연결할 값과 고정할 값은 위치가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condition 값에 따라 색상이 달라진다.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condition)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모든 점을 같은 색으로 그린다.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"#2563EB"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데이터 열과 연결할 값은 </a:t>
            </a:r>
            <a:r>
              <a:rPr>
                <a:latin typeface="Courier"/>
              </a:rPr>
              <a:t>aes()</a:t>
            </a:r>
            <a:r>
              <a:rPr/>
              <a:t> 안에, 고정할 값은 밖에 둡니다.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질문에 맞는 </a:t>
            </a:r>
            <a:r>
              <a:rPr>
                <a:latin typeface="Courier"/>
              </a:rPr>
              <a:t>geom_*()</a:t>
            </a:r>
            <a:r>
              <a:rPr/>
              <a:t>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(sample_metadata,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condition))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(sample_metadata,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cell_count))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막대는 개수, 히스토그램은 분포, 상자그림은 그룹별 분포를 보여 줍니다.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와 테마로 설명을 정돈한다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relationship_plot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condition)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수와 검출 유전자 수의 관계"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범주 색상은 분석 전체에서 일관되게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condition_colors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"#2563EB"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"#B45309"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relationship_plot &lt;- relationship_plot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condition_colors)</a:t>
            </a:r>
          </a:p>
          <a:p>
            <a:pPr lvl="0" indent="0" marL="0">
              <a:buNone/>
            </a:pPr>
            <a:r>
              <a:rPr/>
              <a:t>같은 범주는 여러 그래프에서 같은 색으로 표현합니다.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그래프도 이름을 붙여 저장하는 R 객체다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(relationship_plot)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relationship_plot</a:t>
            </a:r>
          </a:p>
          <a:p>
            <a:pPr lvl="0" indent="0" marL="0">
              <a:buNone/>
            </a:pPr>
            <a:r>
              <a:rPr/>
              <a:t>그래프 객체는 다시 표시하거나, 제목과 층을 더하거나, 다른 그래프와 조합할 수 있습니다.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로 그래프를 조합한다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condition)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 &lt;- cell_box_plot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relationship_plot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"PBMC 샘플 QC 요약"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|</a:t>
            </a:r>
            <a:r>
              <a:rPr/>
              <a:t>: 좌우 배치</a:t>
            </a:r>
          </a:p>
          <a:p>
            <a:pPr lvl="0"/>
            <a:r>
              <a:rPr>
                <a:latin typeface="Courier"/>
              </a:rPr>
              <a:t>/</a:t>
            </a:r>
            <a:r>
              <a:rPr/>
              <a:t>: 위아래 배치</a:t>
            </a:r>
          </a:p>
          <a:p>
            <a:pPr lvl="0"/>
            <a:r>
              <a:rPr/>
              <a:t>Seurat의 여러 QC 그래프도 같은 방식으로 조합할 수 있습니다.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그래프를 해석할 때 주의한다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그래프에서 보이는 차이가 항상 중요한 생물학적 차이는 아닙니다.</a:t>
            </a:r>
          </a:p>
          <a:p>
            <a:pPr lvl="0"/>
            <a:r>
              <a:rPr/>
              <a:t>샘플 수가 적으면 우연한 패턴일 수 있습니다.</a:t>
            </a:r>
          </a:p>
          <a:p>
            <a:pPr lvl="0"/>
            <a:r>
              <a:rPr/>
              <a:t>상관관계가 원인과 결과를 의미하지는 않습니다.</a:t>
            </a:r>
          </a:p>
          <a:p>
            <a:pPr lvl="0"/>
            <a:r>
              <a:rPr/>
              <a:t>축 범위와 결측값 처리 방법도 함께 확인합니다.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요약표를 CSV 파일로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condition_summary,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"results/condition_summary.csv"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저장한 파일을 다시 불러와 행, 열, 값을 확인합니다.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png()</a:t>
            </a:r>
            <a:r>
              <a:rPr/>
              <a:t>로 그래프 저장을 시작한다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"results/cell_count_by_condition.png"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이후에 그리는 그래프가 PNG 파일로 전달됩니다.</a:t>
            </a:r>
          </a:p>
          <a:p>
            <a:pPr lvl="0"/>
            <a:r>
              <a:rPr/>
              <a:t>너비와 높이는 픽셀 단위입니다.</a:t>
            </a:r>
          </a:p>
          <a:p>
            <a:pPr lvl="0"/>
            <a:r>
              <a:rPr>
                <a:latin typeface="Courier"/>
              </a:rPr>
              <a:t>res</a:t>
            </a:r>
            <a:r>
              <a:rPr/>
              <a:t>는 해상도를 지정합니다.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그래프를 그리고 </a:t>
            </a:r>
            <a:r>
              <a:rPr>
                <a:latin typeface="Courier"/>
              </a:rPr>
              <a:t>dev.off()</a:t>
            </a:r>
            <a:r>
              <a:rPr/>
              <a:t>로 저장을 마친다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dev.off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dev.off()</a:t>
            </a:r>
            <a:r>
              <a:rPr/>
              <a:t>를 실행해야 그래프 파일 저장이 완료됩니다.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저장된 결과 파일을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"results/condition_summary.csv"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"results/cell_count_by_condition.png"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RStudio의 Files 창에서도 결과 파일을 열어 표와 그래프를 직접 확인합니다.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숫자형 변수를 막대그래프로만 표현한다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샘플별 숫자형 값의 분포를 보려면 히스토그램을 고려합니다.</a:t>
            </a:r>
          </a:p>
          <a:p>
            <a:pPr lvl="0"/>
            <a:r>
              <a:rPr/>
              <a:t>그룹별 분포를 비교하려면 상자그림을 고려합니다.</a:t>
            </a:r>
          </a:p>
          <a:p>
            <a:pPr lvl="0"/>
            <a:r>
              <a:rPr/>
              <a:t>그룹 평균 막대그래프는 원래 값의 퍼짐을 숨길 수 있습니다.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축 이름이 없다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그래프만 따로 보아도 변수의 의미를 알 수 있게 작성합니다.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</a:t>
            </a:r>
            <a:r>
              <a:rPr>
                <a:latin typeface="Courier"/>
              </a:rPr>
              <a:t>dev.off()</a:t>
            </a:r>
            <a:r>
              <a:rPr/>
              <a:t>를 실행하지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"results/example.png"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dev.off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파일 저장 코드는 </a:t>
            </a:r>
            <a:r>
              <a:rPr>
                <a:latin typeface="Courier"/>
              </a:rPr>
              <a:t>png()</a:t>
            </a:r>
            <a:r>
              <a:rPr/>
              <a:t> → 그래프 함수 → </a:t>
            </a:r>
            <a:r>
              <a:rPr>
                <a:latin typeface="Courier"/>
              </a:rPr>
              <a:t>dev.off()</a:t>
            </a:r>
            <a:r>
              <a:rPr/>
              <a:t> 순서로 작성합니다.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전체와 그룹별 요약하기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조건별 평균과 중앙값을 비교합니다.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그룹별 요약표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 &lt;- 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(cell_count, median_genes, mito_percent)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</a:p>
          <a:p>
            <a:pPr lvl="0" indent="0" marL="0">
              <a:buNone/>
            </a:pPr>
            <a:r>
              <a:rPr/>
              <a:t>샘플 수를 추가하고 소수점 자릿수를 정리합니다.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질문별 그래프 작성하기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median_genes)</a:t>
            </a:r>
          </a:p>
          <a:p>
            <a:pPr lvl="0" indent="0" marL="0">
              <a:buNone/>
            </a:pPr>
            <a:r>
              <a:rPr/>
              <a:t>각 그래프가 어떤 질문에 답하는지 설명합니다.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결과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condition_summary,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"results/condition_summary.csv"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"results/cell_count_by_condition.png"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dev.off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저장한 표와 그래프 파일을 직접 열어 확인합니다.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5: dplyr로 그룹별 요약하기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condition_summary_dplyr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(median_genes),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aggregate()</a:t>
            </a:r>
            <a:r>
              <a:rPr/>
              <a:t> 결과와 행 수 및 평균값을 비교합니다.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6: 그룹별 상위 마커 선택하기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top_markers &lt;- pbmc_markers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(cluster)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(avg_log2FC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(avg_log2FC))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각 cluster에서 어떤 유전자가 선택됐는지 확인합니다.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전체 요약과 그룹별 요약은 서로 다른 질문에 답합니다.</a:t>
            </a:r>
          </a:p>
          <a:p>
            <a:pPr lvl="0"/>
            <a:r>
              <a:rPr>
                <a:latin typeface="Courier"/>
              </a:rPr>
              <a:t>table()</a:t>
            </a:r>
            <a:r>
              <a:rPr/>
              <a:t>, </a:t>
            </a:r>
            <a:r>
              <a:rPr>
                <a:latin typeface="Courier"/>
              </a:rPr>
              <a:t>tapply()</a:t>
            </a:r>
            <a:r>
              <a:rPr/>
              <a:t>, </a:t>
            </a:r>
            <a:r>
              <a:rPr>
                <a:latin typeface="Courier"/>
              </a:rPr>
              <a:t>aggregate()</a:t>
            </a:r>
            <a:r>
              <a:rPr/>
              <a:t>로 그룹 정보를 요약할 수 있습니다.</a:t>
            </a:r>
          </a:p>
          <a:p>
            <a:pPr lvl="0"/>
            <a:r>
              <a:rPr/>
              <a:t>dplyr의 </a:t>
            </a:r>
            <a:r>
              <a:rPr>
                <a:latin typeface="Courier"/>
              </a:rPr>
              <a:t>group_by()</a:t>
            </a:r>
            <a:r>
              <a:rPr/>
              <a:t>와 </a:t>
            </a:r>
            <a:r>
              <a:rPr>
                <a:latin typeface="Courier"/>
              </a:rPr>
              <a:t>summarise()</a:t>
            </a:r>
            <a:r>
              <a:rPr/>
              <a:t>로 그룹별 요약표를 만들 수 있습니다.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와 </a:t>
            </a:r>
            <a:r>
              <a:rPr>
                <a:latin typeface="Courier"/>
              </a:rPr>
              <a:t>slice_head()</a:t>
            </a:r>
            <a:r>
              <a:rPr/>
              <a:t>로 그룹별 상위 행을 선택할 수 있습니다.</a:t>
            </a:r>
          </a:p>
          <a:p>
            <a:pPr lvl="0"/>
            <a:r>
              <a:rPr/>
              <a:t>질문과 자료형에 맞춰 막대그래프, 히스토그램, 상자그림, 산점도를 선택합니다.</a:t>
            </a:r>
          </a:p>
          <a:p>
            <a:pPr lvl="0"/>
            <a:r>
              <a:rPr/>
              <a:t>제목, 축 이름, 범례로 그래프의 의미를 설명합니다.</a:t>
            </a:r>
          </a:p>
          <a:p>
            <a:pPr lvl="0"/>
            <a:r>
              <a:rPr/>
              <a:t>요약표는 </a:t>
            </a:r>
            <a:r>
              <a:rPr>
                <a:latin typeface="Courier"/>
              </a:rPr>
              <a:t>write.csv()</a:t>
            </a:r>
            <a:r>
              <a:rPr/>
              <a:t>, 그래프는 </a:t>
            </a:r>
            <a:r>
              <a:rPr>
                <a:latin typeface="Courier"/>
              </a:rPr>
              <a:t>png()</a:t>
            </a:r>
            <a:r>
              <a:rPr/>
              <a:t>와 </a:t>
            </a:r>
            <a:r>
              <a:rPr>
                <a:latin typeface="Courier"/>
              </a:rPr>
              <a:t>dev.off()</a:t>
            </a:r>
            <a:r>
              <a:rPr/>
              <a:t>로 저장합니다.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tapply()</a:t>
            </a:r>
            <a:r>
              <a:rPr/>
              <a:t>의 세 가지 주요 인자는 무엇입니까?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group_by()</a:t>
            </a:r>
            <a:r>
              <a:rPr/>
              <a:t>와 </a:t>
            </a:r>
            <a:r>
              <a:rPr>
                <a:latin typeface="Courier"/>
              </a:rPr>
              <a:t>summarise()</a:t>
            </a:r>
            <a:r>
              <a:rPr/>
              <a:t>는 각각 어떤 역할을 합니까?</a:t>
            </a:r>
          </a:p>
          <a:p>
            <a:pPr lvl="0" indent="-457200" marL="457200">
              <a:buAutoNum type="arabicPeriod"/>
            </a:pPr>
            <a:r>
              <a:rPr/>
              <a:t>그룹별 상위 행을 선택하기 전에 왜 정렬해야 합니까?</a:t>
            </a:r>
          </a:p>
          <a:p>
            <a:pPr lvl="0" indent="-457200" marL="457200">
              <a:buAutoNum type="arabicPeriod"/>
            </a:pPr>
            <a:r>
              <a:rPr/>
              <a:t>그룹별 숫자형 분포를 비교하려면 어떤 그래프가 적합합니까?</a:t>
            </a:r>
          </a:p>
          <a:p>
            <a:pPr lvl="0" indent="-457200" marL="457200">
              <a:buAutoNum type="arabicPeriod"/>
            </a:pPr>
            <a:r>
              <a:rPr/>
              <a:t>PNG 그래프 저장을 마칠 때 어떤 함수를 실행합니까?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패키지를 사용하고 리스트와 복잡한 R 객체의 구조 살펴보기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10차시: 데이터 요약과 시각화</dc:title>
  <dc:creator/>
  <cp:keywords/>
  <dcterms:created xsi:type="dcterms:W3CDTF">2026-07-12T11:16:03Z</dcterms:created>
  <dcterms:modified xsi:type="dcterms:W3CDTF">2026-07-12T11:16:03Z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