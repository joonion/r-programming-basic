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</p:sldIdLst>
  <p:sldSz cx="12192000" cy="6858000"/>
  <p:notesSz cx="6858000" cy="9144000"/>
  <p:defaultTextStyle>
    <a:defPPr>
      <a:defRPr lang="ko-KR"/>
    </a:defPPr>
    <a:lvl1pPr algn="l" defTabSz="914400" eaLnBrk="1" hangingPunct="1" latinLnBrk="1" marL="0" rtl="0">
      <a:defRPr altLang="en-US" b="1" kern="1200" lang="ko-KR" sz="3000">
        <a:solidFill>
          <a:srgbClr val="172033"/>
        </a:solidFill>
        <a:latin charset="-127" panose="02000503000000020004" pitchFamily="50" typeface="Pretendard"/>
        <a:ea charset="-127" panose="02000503000000020004" pitchFamily="50" typeface="Pretendard"/>
        <a:cs typeface="+mn-cs"/>
      </a:defRPr>
    </a:lvl1pPr>
    <a:lvl2pPr algn="l" defTabSz="914400" eaLnBrk="1" hangingPunct="1" latinLnBrk="1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1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1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1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1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1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1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1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20"/>
    <p:restoredTop sz="94660"/>
  </p:normalViewPr>
  <p:slideViewPr>
    <p:cSldViewPr showGuides="1" snapToGrid="0">
      <p:cViewPr varScale="1">
        <p:scale>
          <a:sx d="100" n="113"/>
          <a:sy d="100" n="113"/>
        </p:scale>
        <p:origin x="312" y="108"/>
      </p:cViewPr>
      <p:guideLst>
        <p:guide orient="horz" pos="2160"/>
        <p:guide pos="3840"/>
      </p:guideLst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8" Type="http://schemas.openxmlformats.org/officeDocument/2006/relationships/tableStyles" Target="tableStyles.xml" /><Relationship Id="rId57" Type="http://schemas.openxmlformats.org/officeDocument/2006/relationships/theme" Target="theme/theme1.xml" /><Relationship Id="rId56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DC4F62-B626-4C1A-9258-8B7A85121C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36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53DA06A-F964-4BA7-B1A0-476AFBA404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 b="0">
                <a:solidFill>
                  <a:srgbClr val="0F766E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5EA77F-A944-4F90-A580-BFB1EBDD9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247731-8C16-48CE-83E8-82961F5A4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3EC76E-53A1-48FD-AAA5-91D55E1A2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0F5A436-622D-4609-9CAD-93F62FE9C071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9035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3ADEE9-D4EA-4A02-8908-7CE7FA28F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DF8BB1-DB9D-47B4-AC6B-6E959AF59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657BB9-73CC-4070-8281-5B07E989F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B2FCBBD-DFA9-4E92-A913-26CF9C16EE1F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7119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xercise">
    <p:bg>
      <p:bgPr>
        <a:solidFill>
          <a:srgbClr val="17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 b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3ADEE9-D4EA-4A02-8908-7CE7FA28F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DF8BB1-DB9D-47B4-AC6B-6E959AF59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657BB9-73CC-4070-8281-5B07E989F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B51DC66-B343-4339-8DFE-F337361B7142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624DEFA-F193-42BA-A7DC-72FAB0CB111A}"/>
              </a:ext>
            </a:extLst>
          </p:cNvPr>
          <p:cNvSpPr/>
          <p:nvPr userDrawn="1"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18FC79-1AA4-44C2-AB13-4EE8FD5EB7E8}"/>
              </a:ext>
            </a:extLst>
          </p:cNvPr>
          <p:cNvSpPr txBox="1"/>
          <p:nvPr userDrawn="1"/>
        </p:nvSpPr>
        <p:spPr>
          <a:xfrm>
            <a:off x="508000" y="990600"/>
            <a:ext cx="228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100" b="1">
                <a:solidFill>
                  <a:srgbClr val="0F766E"/>
                </a:solidFill>
                <a:latin typeface="Inter" panose="02000503000000020004" pitchFamily="2" charset="0"/>
                <a:ea typeface="Inter" panose="02000503000000020004" pitchFamily="2" charset="0"/>
              </a:rPr>
              <a:t>PRACTICE</a:t>
            </a:r>
            <a:endParaRPr lang="ko-KR" altLang="en-US" sz="1100" b="1">
              <a:solidFill>
                <a:srgbClr val="0F766E"/>
              </a:solidFill>
              <a:latin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9830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de / Demonstrati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JetBrains Mono" panose="02000009000000000000" pitchFamily="49" charset="0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JetBrains Mono" panose="02000009000000000000" pitchFamily="49" charset="0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JetBrains Mono" panose="02000009000000000000" pitchFamily="49" charset="0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JetBrains Mono" panose="02000009000000000000" pitchFamily="49" charset="0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JetBrains Mono" panose="02000009000000000000" pitchFamily="49" charset="0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3ADEE9-D4EA-4A02-8908-7CE7FA28F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DF8BB1-DB9D-47B4-AC6B-6E959AF59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657BB9-73CC-4070-8281-5B07E989F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F65F950-2413-4CE2-8BD0-18A4BBCD72EB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8C3D350-ADF5-46FD-87CE-C07683F6982B}"/>
              </a:ext>
            </a:extLst>
          </p:cNvPr>
          <p:cNvSpPr/>
          <p:nvPr userDrawn="1"/>
        </p:nvSpPr>
        <p:spPr>
          <a:xfrm>
            <a:off x="457200" y="1422400"/>
            <a:ext cx="11277600" cy="457200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0862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00C25F-30DA-4EDD-8504-44DA909B4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8E1EED7-4C61-4A08-AF5B-A390C60A0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6A1FF6-51FE-4685-BA34-E0F89D454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B3851C-0BE4-4E91-95F4-2EC266D69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3CBF9E-951B-4FF6-85E6-6601F2386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5492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CE8392-3978-4394-BAB4-2437C15AD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74FF69-769F-4677-B82A-E232B25BA9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52B5173-A205-47A2-953F-A236FB1D43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DD21268-4ABF-4DE0-998A-28F7BFCD2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BEFEE9E-EDCD-4886-92ED-3796485C8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BE14DB4-8F62-4CD7-8DD2-AD422C0CF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8B169FF-FAD7-46E0-9D59-C9B5BEB076DC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6909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F9F672-094E-482F-8FE2-0C0D8F2E0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0AF80BD-BF78-49AF-BBBA-1A773DA2CE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8D6527-B034-41A0-9FC9-C530962C8B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E5785AA-E40F-4E95-B834-2D7649E02A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DA75630-B532-4D2B-BA6E-233076F4AD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005AF02-6B25-4BBC-9A62-947D98835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A29AF57-1554-4883-A5C0-D2E356058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F02C77D-EDE4-4302-857A-97BE6DADB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2813AE4-CA38-49CC-83A5-DA570C2D152E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4571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AC5B61-FD8F-4A03-8446-AFB1FC117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317F6E7-F469-4E45-A7CA-18C4220B7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081412A-6E99-4D2F-8564-CCE9309E2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7B49B12-B58B-42B1-9FC8-0F11E70ED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C9F98D1-EC0F-4996-8D0E-19D80403D7FB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5938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B3DAFDE-3EF4-4BC2-8C6E-53A0DCBB0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E806864-590A-497A-9E3B-31220A838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AE52D8-EF8D-4B38-BAE5-100369F3A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5789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96CAC9-BDCF-454F-B4EB-26821C0AC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F85D79-8D84-4463-A554-36DA89022A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4A32173-BE5A-4386-B8FC-0DD3565F6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5D7BBE8-F04D-4F20-A998-2847A7EC3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1091599-E0C3-4951-800C-0FA8BF5CD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9D06458-41C2-4B2E-9AF2-A62CE3660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39F72F4-84F2-4B08-8B7A-396EE76DDF26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9782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F8A6E4-6940-49AF-8B5F-9B16DB004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5AFC852-B328-4179-BC85-EB34AC8CD4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DBD367B-5A0C-4ADF-98EF-314F244CCF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C903147-4754-4023-8B77-20EB33E5B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3ADDB5D-EDEB-4E99-BA69-F1F76F275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3872CF2-966E-422A-927F-3BD6A6E59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7E2E2F7-28CA-4288-94F5-8E25DCD2A45E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5647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CE92E6-4E61-4E2B-9F4F-D23641A2E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E576B3A-9062-444C-9C47-61FA4351C0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1A3954-5D36-48F6-87B1-16A84AB44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A0FE3E-5C3F-4A6C-952A-7C8CB744F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068D49-B037-4EA4-BE8F-2516D3000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5064922-4160-4D2C-A562-270D09593F37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05819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C94EABC-274E-4BAD-AB22-188F885A3B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47306ED-34B5-4464-AFBE-9E25FC9A04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0C654F-F2FA-42D5-8AC8-4073F8FBA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31A3EE-B6E8-4AF1-9041-45D44926D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645F18-B2AB-45F4-8642-885F2B8AB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B5F32C9-BBE2-4217-A3E2-DE5FC68F3267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7587791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theme/theme1.xml" Type="http://schemas.openxmlformats.org/officeDocument/2006/relationships/theme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461F8DA-C043-4CD7-86F2-E1A0EF4CB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altLang="en-US" lang="ko-KR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B14F0DF-8367-4CE4-BFB7-B09F18D1638C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lang="ko-KR"/>
              <a:t>마스터 텍스트 스타일을 편집하려면 클릭</a:t>
            </a:r>
          </a:p>
          <a:p>
            <a:pPr lvl="1"/>
            <a:r>
              <a:rPr altLang="en-US" lang="ko-KR"/>
              <a:t>두 번째 수준</a:t>
            </a:r>
          </a:p>
          <a:p>
            <a:pPr lvl="2"/>
            <a:r>
              <a:rPr altLang="en-US" lang="ko-KR"/>
              <a:t>세 번째 수준</a:t>
            </a:r>
          </a:p>
          <a:p>
            <a:pPr lvl="3"/>
            <a:r>
              <a:rPr altLang="en-US" lang="ko-KR"/>
              <a:t>네 번째 수준</a:t>
            </a:r>
          </a:p>
          <a:p>
            <a:pPr lvl="4"/>
            <a:r>
              <a:rPr altLang="en-US" lang="ko-KR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183F21-A1A8-463E-86D3-0CFB7A05EF38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b="0" sz="900">
                <a:solidFill>
                  <a:srgbClr val="526077"/>
                </a:solidFill>
                <a:latin charset="0" panose="02000503000000020004" pitchFamily="2" typeface="Inter"/>
              </a:defRPr>
            </a:lvl1pPr>
          </a:lstStyle>
          <a:p>
            <a:fld id="{2696ECB5-D1DE-4FA4-9CD7-1650D2029999}" type="datetimeFigureOut">
              <a:rPr altLang="ko-KR" lang="en-US" smtClean="0">
                <a:ea charset="0" panose="02000503000000020004" pitchFamily="2" typeface="Inter"/>
              </a:rPr>
              <a:pPr/>
              <a:t>2026-07-12</a:t>
            </a:fld>
            <a:endParaRPr altLang="ko-KR" lang="en-US">
              <a:ea charset="0" panose="02000503000000020004" pitchFamily="2" typeface="Inter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0C5B5C-65C9-4D66-BC46-FDE4016F57BF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b="0" sz="900">
                <a:solidFill>
                  <a:srgbClr val="526077"/>
                </a:solidFill>
                <a:latin charset="0" panose="02000503000000020004" pitchFamily="2" typeface="Inter"/>
              </a:defRPr>
            </a:lvl1pPr>
          </a:lstStyle>
          <a:p>
            <a:endParaRPr altLang="en-US" 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2730EB-AE08-4C4E-A274-945B51E99D4F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b="0" sz="900">
                <a:solidFill>
                  <a:srgbClr val="526077"/>
                </a:solidFill>
                <a:latin charset="0" panose="02000503000000020004" pitchFamily="2" typeface="Inter"/>
              </a:defRPr>
            </a:lvl1pPr>
          </a:lstStyle>
          <a:p>
            <a:fld id="{812DBD89-BD24-4FCE-906C-9138E5983130}" type="slidenum">
              <a:rPr altLang="ko-KR" lang="en-US" smtClean="0">
                <a:ea charset="0" panose="02000503000000020004" pitchFamily="2" typeface="Inter"/>
              </a:rPr>
              <a:pPr/>
              <a:t>‹#›</a:t>
            </a:fld>
            <a:endParaRPr altLang="ko-KR" lang="en-US">
              <a:ea charset="0" panose="02000503000000020004" pitchFamily="2"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395331952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61" r:id="rId3"/>
    <p:sldLayoutId id="214748366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txStyles>
    <p:titleStyle>
      <a:lvl1pPr algn="l" defTabSz="914400" eaLnBrk="1" hangingPunct="1" latinLnBrk="1" rtl="0">
        <a:lnSpc>
          <a:spcPct val="108000"/>
        </a:lnSpc>
        <a:spcBef>
          <a:spcPct val="0"/>
        </a:spcBef>
        <a:spcAft>
          <a:spcPts val="700"/>
        </a:spcAft>
        <a:buNone/>
        <a:defRPr b="0" kern="1200" sz="20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j-cs"/>
        </a:defRPr>
      </a:lvl1pPr>
    </p:titleStyle>
    <p:bodyStyle>
      <a:lvl1pPr algn="l" defTabSz="914400" eaLnBrk="1" hangingPunct="1" indent="-228600" latinLnBrk="1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1pPr>
      <a:lvl2pPr algn="l" defTabSz="914400" eaLnBrk="1" hangingPunct="1" indent="-228600" latinLnBrk="1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2pPr>
      <a:lvl3pPr algn="l" defTabSz="914400" eaLnBrk="1" hangingPunct="1" indent="-228600" latinLnBrk="1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3pPr>
      <a:lvl4pPr algn="l" defTabSz="914400" eaLnBrk="1" hangingPunct="1" indent="-228600" latinLnBrk="1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4pPr>
      <a:lvl5pPr algn="l" defTabSz="914400" eaLnBrk="1" hangingPunct="1" indent="-228600" latinLnBrk="1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5pPr>
      <a:lvl6pPr algn="l" defTabSz="914400" eaLnBrk="1" hangingPunct="1" indent="-228600" latinLnBrk="1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1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1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1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algn="l" defTabSz="914400" eaLnBrk="1" hangingPunct="1" latinLnBrk="1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1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1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1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1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1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1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1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1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DC4F62-B626-4C1A-9258-8B7A85121C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10차시: 데이터 요약과 시각화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53DA06A-F964-4BA7-B1A0-476AFBA404D1}"/>
              </a:ext>
            </a:extLst>
          </p:cNvPr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pPr lvl="0" indent="0" marL="0">
              <a:buNone/>
            </a:pPr>
            <a:r>
              <a:rPr/>
              <a:t>R 기초 프로그래밍</a:t>
            </a: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오늘의 학습 목표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전체 데이터와 그룹별 데이터를 기초 통계량으로 요약할 수 있다.</a:t>
            </a:r>
          </a:p>
          <a:p>
            <a:pPr lvl="0" indent="-457200" marL="457200">
              <a:buAutoNum type="arabicPeriod"/>
            </a:pPr>
            <a:r>
              <a:rPr/>
              <a:t>분석 질문과 자료형에 맞는 기본 그래프를 선택할 수 있다.</a:t>
            </a:r>
          </a:p>
          <a:p>
            <a:pPr lvl="0" indent="-457200" marL="457200">
              <a:buAutoNum type="arabicPeriod"/>
            </a:pPr>
            <a:r>
              <a:rPr/>
              <a:t>제목, 축 이름, 색상이 포함된 그래프를 작성할 수 있다.</a:t>
            </a:r>
          </a:p>
          <a:p>
            <a:pPr lvl="0" indent="-457200" marL="457200">
              <a:buAutoNum type="arabicPeriod"/>
            </a:pPr>
            <a:r>
              <a:rPr/>
              <a:t>요약표와 그래프를 파일로 저장하고 확인할 수 있다.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선수 지식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CSV 파일을 데이터 프레임으로 불러올 수 있습니다.</a:t>
            </a:r>
          </a:p>
          <a:p>
            <a:pPr lvl="0"/>
            <a:r>
              <a:rPr/>
              <a:t>데이터 프레임의 열을 선택하고 조건으로 행을 선택할 수 있습니다.</a:t>
            </a:r>
          </a:p>
          <a:p>
            <a:pPr lvl="0"/>
            <a:r>
              <a:rPr/>
              <a:t>함수를 호출하고 인자를 이름으로 지정할 수 있습니다.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이번 차시의 분석 흐름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데이터 확인
  ↓
전체 요약
  ↓
그룹별 요약
  ↓
질문에 맞는 그래프 선택
  ↓
표와 그래프 저장</a:t>
            </a:r>
          </a:p>
          <a:p>
            <a:pPr lvl="0" indent="0" marL="0">
              <a:buNone/>
            </a:pPr>
            <a:r>
              <a:rPr/>
              <a:t>숫자만 계산하는 데서 끝나지 않고 결과가 무엇을 의미하는지 해석합니다.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샘플 메타데이터를 불러온다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sample_metadata &lt;- </a:t>
            </a:r>
            <a:r>
              <a:rPr>
                <a:solidFill>
                  <a:srgbClr val="4758AB"/>
                </a:solidFill>
                <a:latin typeface="Courier"/>
              </a:rPr>
              <a:t>read.csv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"data/sample_metadata.csv"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(sample_metadata)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str</a:t>
            </a:r>
            <a:r>
              <a:rPr>
                <a:solidFill>
                  <a:srgbClr val="003B4F"/>
                </a:solidFill>
                <a:latin typeface="Courier"/>
              </a:rPr>
              <a:t>(sample_metadata)</a:t>
            </a:r>
          </a:p>
          <a:p>
            <a:pPr lvl="0" indent="0" marL="0">
              <a:buNone/>
            </a:pPr>
            <a:r>
              <a:rPr/>
              <a:t>요약과 시각화 전에 행 수, 열 이름, 자료형을 먼저 확인합니다.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분석 질문을 먼저 정한다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이번 차시에서는 다음 질문을 살펴봅니다.</a:t>
            </a:r>
          </a:p>
          <a:p>
            <a:pPr lvl="0" indent="-457200" marL="457200">
              <a:buAutoNum type="arabicPeriod"/>
            </a:pPr>
            <a:r>
              <a:rPr/>
              <a:t>각 실험 조건에는 샘플이 몇 개 있는가?</a:t>
            </a:r>
          </a:p>
          <a:p>
            <a:pPr lvl="0" indent="-457200" marL="457200">
              <a:buAutoNum type="arabicPeriod"/>
            </a:pPr>
            <a:r>
              <a:rPr/>
              <a:t>세포 수는 어느 범위에 분포하는가?</a:t>
            </a:r>
          </a:p>
          <a:p>
            <a:pPr lvl="0" indent="-457200" marL="457200">
              <a:buAutoNum type="arabicPeriod"/>
            </a:pPr>
            <a:r>
              <a:rPr/>
              <a:t>조건별 세포 수에 차이가 있는가?</a:t>
            </a:r>
          </a:p>
          <a:p>
            <a:pPr lvl="0" indent="-457200" marL="457200">
              <a:buAutoNum type="arabicPeriod"/>
            </a:pPr>
            <a:r>
              <a:rPr/>
              <a:t>세포 수와 검출 유전자 수는 어떤 관계가 있는가?</a:t>
            </a:r>
          </a:p>
          <a:p>
            <a:pPr lvl="0" indent="0" marL="0">
              <a:buNone/>
            </a:pPr>
            <a:r>
              <a:rPr/>
              <a:t>질문이 정해져야 필요한 요약과 그래프를 선택할 수 있습니다.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summary()</a:t>
            </a:r>
            <a:r>
              <a:rPr/>
              <a:t>로 전체 모습을 확인한다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(sample_metadata)</a:t>
            </a:r>
          </a:p>
          <a:p>
            <a:pPr lvl="0"/>
            <a:r>
              <a:rPr/>
              <a:t>숫자형 열의 최솟값, 사분위수, 중앙값, 평균, 최댓값</a:t>
            </a:r>
          </a:p>
          <a:p>
            <a:pPr lvl="0"/>
            <a:r>
              <a:rPr/>
              <a:t>논리형 열의 </a:t>
            </a:r>
            <a:r>
              <a:rPr>
                <a:latin typeface="Courier"/>
              </a:rPr>
              <a:t>TRUE</a:t>
            </a:r>
            <a:r>
              <a:rPr/>
              <a:t>, </a:t>
            </a:r>
            <a:r>
              <a:rPr>
                <a:latin typeface="Courier"/>
              </a:rPr>
              <a:t>FALSE</a:t>
            </a:r>
            <a:r>
              <a:rPr/>
              <a:t> 개수</a:t>
            </a:r>
          </a:p>
          <a:p>
            <a:pPr lvl="0"/>
            <a:r>
              <a:rPr/>
              <a:t>결측값이 있는 열의 </a:t>
            </a:r>
            <a:r>
              <a:rPr>
                <a:latin typeface="Courier"/>
              </a:rPr>
              <a:t>NA's</a:t>
            </a:r>
            <a:r>
              <a:rPr/>
              <a:t> 개수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한 숫자형 열을 요약한다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cell_counts &lt;- 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cell_count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min</a:t>
            </a:r>
            <a:r>
              <a:rPr>
                <a:solidFill>
                  <a:srgbClr val="003B4F"/>
                </a:solidFill>
                <a:latin typeface="Courier"/>
              </a:rPr>
              <a:t>(cell_counts)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max</a:t>
            </a:r>
            <a:r>
              <a:rPr>
                <a:solidFill>
                  <a:srgbClr val="003B4F"/>
                </a:solidFill>
                <a:latin typeface="Courier"/>
              </a:rPr>
              <a:t>(cell_counts)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(cell_counts)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median</a:t>
            </a:r>
            <a:r>
              <a:rPr>
                <a:solidFill>
                  <a:srgbClr val="003B4F"/>
                </a:solidFill>
                <a:latin typeface="Courier"/>
              </a:rPr>
              <a:t>(cell_counts)</a:t>
            </a:r>
          </a:p>
          <a:p>
            <a:pPr lvl="0" indent="0" marL="0">
              <a:buNone/>
            </a:pPr>
            <a:r>
              <a:rPr/>
              <a:t>각 함수는 데이터의 서로 다른 특징을 보여 줍니다.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평균과 중앙값을 구분한다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평균</a:t>
            </a:r>
            <a:r>
              <a:rPr/>
              <a:t>: 모든 값을 더한 뒤 개수로 나눈 값</a:t>
            </a:r>
          </a:p>
          <a:p>
            <a:pPr lvl="0"/>
            <a:r>
              <a:rPr b="1"/>
              <a:t>중앙값</a:t>
            </a:r>
            <a:r>
              <a:rPr/>
              <a:t>: 값을 정렬했을 때 가운데에 있는 값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(cell_counts)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median</a:t>
            </a:r>
            <a:r>
              <a:rPr>
                <a:solidFill>
                  <a:srgbClr val="003B4F"/>
                </a:solidFill>
                <a:latin typeface="Courier"/>
              </a:rPr>
              <a:t>(cell_counts)</a:t>
            </a:r>
          </a:p>
          <a:p>
            <a:pPr lvl="0" indent="0" marL="0">
              <a:buNone/>
            </a:pPr>
            <a:r>
              <a:rPr/>
              <a:t>극단적으로 크거나 작은 값이 있으면 평균과 중앙값이 달라질 수 있습니다.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범위와 사분위 범위를 확인한다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range</a:t>
            </a:r>
            <a:r>
              <a:rPr>
                <a:solidFill>
                  <a:srgbClr val="003B4F"/>
                </a:solidFill>
                <a:latin typeface="Courier"/>
              </a:rPr>
              <a:t>(cell_counts)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quantile</a:t>
            </a:r>
            <a:r>
              <a:rPr>
                <a:solidFill>
                  <a:srgbClr val="003B4F"/>
                </a:solidFill>
                <a:latin typeface="Courier"/>
              </a:rPr>
              <a:t>(cell_counts)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IQR</a:t>
            </a:r>
            <a:r>
              <a:rPr>
                <a:solidFill>
                  <a:srgbClr val="003B4F"/>
                </a:solidFill>
                <a:latin typeface="Courier"/>
              </a:rPr>
              <a:t>(cell_counts)</a:t>
            </a:r>
          </a:p>
          <a:p>
            <a:pPr lvl="0"/>
            <a:r>
              <a:rPr>
                <a:latin typeface="Courier"/>
              </a:rPr>
              <a:t>range()</a:t>
            </a:r>
            <a:r>
              <a:rPr/>
              <a:t>는 최솟값과 최댓값을 반환합니다.</a:t>
            </a:r>
          </a:p>
          <a:p>
            <a:pPr lvl="0"/>
            <a:r>
              <a:rPr>
                <a:latin typeface="Courier"/>
              </a:rPr>
              <a:t>quantile()</a:t>
            </a:r>
            <a:r>
              <a:rPr/>
              <a:t>은 사분위수를 보여 줍니다.</a:t>
            </a:r>
          </a:p>
          <a:p>
            <a:pPr lvl="0"/>
            <a:r>
              <a:rPr>
                <a:latin typeface="Courier"/>
              </a:rPr>
              <a:t>IQR()</a:t>
            </a:r>
            <a:r>
              <a:rPr/>
              <a:t>은 3사분위수와 1사분위수의 차이입니다.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표준편차는 값이 퍼진 정도를 나타낸다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(cell_counts)</a:t>
            </a:r>
          </a:p>
          <a:p>
            <a:pPr lvl="0"/>
            <a:r>
              <a:rPr/>
              <a:t>표준편차가 작으면 값들이 평균 주변에 모여 있습니다.</a:t>
            </a:r>
          </a:p>
          <a:p>
            <a:pPr lvl="0"/>
            <a:r>
              <a:rPr/>
              <a:t>표준편차가 크면 값들이 더 넓게 퍼져 있습니다.</a:t>
            </a:r>
          </a:p>
          <a:p>
            <a:pPr lvl="0"/>
            <a:r>
              <a:rPr/>
              <a:t>서로 다른 단위의 변수는 표준편차만으로 직접 비교하지 않습니다.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결측값이 있으면 먼저 확인한다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doublet_rates &lt;- 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doublet_rate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(doublet_rates)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(doublet_rates))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(doublet_rates)</a:t>
            </a:r>
          </a:p>
          <a:p>
            <a:pPr lvl="0" indent="0" marL="0">
              <a:buNone/>
            </a:pPr>
            <a:r>
              <a:rPr/>
              <a:t>결측값이 포함되면 기본 평균 결과도 </a:t>
            </a:r>
            <a:r>
              <a:rPr>
                <a:latin typeface="Courier"/>
              </a:rPr>
              <a:t>NA</a:t>
            </a:r>
            <a:r>
              <a:rPr/>
              <a:t>입니다.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필요한 경우 결측값을 제외하고 요약한다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(doublet_rates,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median</a:t>
            </a:r>
            <a:r>
              <a:rPr>
                <a:solidFill>
                  <a:srgbClr val="003B4F"/>
                </a:solidFill>
                <a:latin typeface="Courier"/>
              </a:rPr>
              <a:t>(doublet_rates,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na.rm = TRUE</a:t>
            </a:r>
            <a:r>
              <a:rPr/>
              <a:t>를 사용하기 전에 결측 원인과 제외 가능 여부를 판단해야 합니다.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범주별 개수를 </a:t>
            </a:r>
            <a:r>
              <a:rPr>
                <a:latin typeface="Courier"/>
              </a:rPr>
              <a:t>table()</a:t>
            </a:r>
            <a:r>
              <a:rPr/>
              <a:t>로 센다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condition_counts &lt;- </a:t>
            </a:r>
            <a:r>
              <a:rPr>
                <a:solidFill>
                  <a:srgbClr val="4758AB"/>
                </a:solidFill>
                <a:latin typeface="Courier"/>
              </a:rPr>
              <a:t>table</a:t>
            </a:r>
            <a:r>
              <a:rPr>
                <a:solidFill>
                  <a:srgbClr val="003B4F"/>
                </a:solidFill>
                <a:latin typeface="Courier"/>
              </a:rPr>
              <a:t>(sample_metadata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condition)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condition_counts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table()</a:t>
            </a:r>
            <a:r>
              <a:rPr/>
              <a:t>은 각 고유한 값이 몇 번 나타나는지 계산합니다.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두 범주를 함께 교차 집계한다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table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condition,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passed_qc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행은 실험 조건, 열은 QC 통과 여부가 되어 조합별 개수를 보여 줍니다.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비율로 바꾸어 볼 수 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condition_counts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(condition_counts)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prop.table</a:t>
            </a:r>
            <a:r>
              <a:rPr>
                <a:solidFill>
                  <a:srgbClr val="003B4F"/>
                </a:solidFill>
                <a:latin typeface="Courier"/>
              </a:rPr>
              <a:t>(condition_counts)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prop.table()</a:t>
            </a:r>
            <a:r>
              <a:rPr/>
              <a:t>은 전체 합이 1이 되도록 개수를 비율로 변환합니다.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그룹별 요약은 나누고 계산하는 과정이다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control 값들 ─→ 평균 계산
treated 값들 ─→ 평균 계산</a:t>
            </a:r>
          </a:p>
          <a:p>
            <a:pPr lvl="0" indent="0" marL="0">
              <a:buNone/>
            </a:pPr>
            <a:r>
              <a:rPr/>
              <a:t>그룹 변수와 요약할 숫자형 변수가 필요합니다.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condition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cell_count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tapply()</a:t>
            </a:r>
            <a:r>
              <a:rPr/>
              <a:t>로 그룹별 한 값을 계산한다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mean_cell_counts &lt;- </a:t>
            </a:r>
            <a:r>
              <a:rPr>
                <a:solidFill>
                  <a:srgbClr val="4758AB"/>
                </a:solidFill>
                <a:latin typeface="Courier"/>
              </a:rPr>
              <a:t>tapply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cell_count,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condition,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mean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mean_cell_counts</a:t>
            </a:r>
          </a:p>
          <a:p>
            <a:pPr lvl="0" indent="-457200" marL="457200">
              <a:buAutoNum type="arabicPeriod"/>
            </a:pPr>
            <a:r>
              <a:rPr/>
              <a:t>첫 번째 인자: 요약할 값</a:t>
            </a:r>
          </a:p>
          <a:p>
            <a:pPr lvl="0" indent="-457200" marL="457200">
              <a:buAutoNum type="arabicPeriod"/>
            </a:pPr>
            <a:r>
              <a:rPr/>
              <a:t>두 번째 인자: 그룹</a:t>
            </a:r>
          </a:p>
          <a:p>
            <a:pPr lvl="0" indent="-457200" marL="457200">
              <a:buAutoNum type="arabicPeriod"/>
            </a:pPr>
            <a:r>
              <a:rPr/>
              <a:t>세 번째 인자: 적용할 함수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다른 요약 함수도 적용할 수 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tapply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cell_count,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condition,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median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tapply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cell_count,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condition,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sd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같은 그룹 기준에 여러 요약 함수를 적용해 비교할 수 있습니다.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결측값이 있는 열을 그룹별로 요약한다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tapply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doublet_rate,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condition,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mean,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na.rm = TRUE</a:t>
            </a:r>
            <a:r>
              <a:rPr/>
              <a:t>가 </a:t>
            </a:r>
            <a:r>
              <a:rPr>
                <a:latin typeface="Courier"/>
              </a:rPr>
              <a:t>mean()</a:t>
            </a:r>
            <a:r>
              <a:rPr/>
              <a:t>으로 전달되어 그룹별 결측값을 제외합니다.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aggregate()</a:t>
            </a:r>
            <a:r>
              <a:rPr/>
              <a:t>는 결과를 데이터 프레임으로 만든다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condition_summary &lt;- </a:t>
            </a:r>
            <a:r>
              <a:rPr>
                <a:solidFill>
                  <a:srgbClr val="4758AB"/>
                </a:solidFill>
                <a:latin typeface="Courier"/>
              </a:rPr>
              <a:t>aggregate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cell_count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condition,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sample_metadata,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FUN =</a:t>
            </a:r>
            <a:r>
              <a:rPr>
                <a:solidFill>
                  <a:srgbClr val="003B4F"/>
                </a:solidFill>
                <a:latin typeface="Courier"/>
              </a:rPr>
              <a:t> mean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condition_summary</a:t>
            </a:r>
          </a:p>
          <a:p>
            <a:pPr lvl="0"/>
            <a:r>
              <a:rPr>
                <a:latin typeface="Courier"/>
              </a:rPr>
              <a:t>cell_count ~ condition</a:t>
            </a:r>
            <a:r>
              <a:rPr/>
              <a:t>은 조건별 세포 수를 뜻합니다.</a:t>
            </a:r>
          </a:p>
          <a:p>
            <a:pPr lvl="0"/>
            <a:r>
              <a:rPr/>
              <a:t>결과가 표 형태라 저장하거나 다른 열을 추가하기 쉽습니다.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여러 숫자형 열을 함께 요약한다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condition_summary &lt;- </a:t>
            </a:r>
            <a:r>
              <a:rPr>
                <a:solidFill>
                  <a:srgbClr val="4758AB"/>
                </a:solidFill>
                <a:latin typeface="Courier"/>
              </a:rPr>
              <a:t>aggregate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cbind</a:t>
            </a:r>
            <a:r>
              <a:rPr>
                <a:solidFill>
                  <a:srgbClr val="003B4F"/>
                </a:solidFill>
                <a:latin typeface="Courier"/>
              </a:rPr>
              <a:t>(cell_count, median_genes, mito_percent)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condition,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sample_metadata,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FUN =</a:t>
            </a:r>
            <a:r>
              <a:rPr>
                <a:solidFill>
                  <a:srgbClr val="003B4F"/>
                </a:solidFill>
                <a:latin typeface="Courier"/>
              </a:rPr>
              <a:t> mean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condition_summary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cbind()</a:t>
            </a:r>
            <a:r>
              <a:rPr/>
              <a:t>로 함께 요약할 숫자형 열을 묶습니다.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그룹별 샘플 수를 요약표에 추가한다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condition_counts &lt;- </a:t>
            </a:r>
            <a:r>
              <a:rPr>
                <a:solidFill>
                  <a:srgbClr val="4758AB"/>
                </a:solidFill>
                <a:latin typeface="Courier"/>
              </a:rPr>
              <a:t>table</a:t>
            </a:r>
            <a:r>
              <a:rPr>
                <a:solidFill>
                  <a:srgbClr val="003B4F"/>
                </a:solidFill>
                <a:latin typeface="Courier"/>
              </a:rPr>
              <a:t>(sample_metadata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condition)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condition_summary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sample_count &lt;- </a:t>
            </a:r>
            <a:r>
              <a:rPr>
                <a:solidFill>
                  <a:srgbClr val="4758AB"/>
                </a:solidFill>
                <a:latin typeface="Courier"/>
              </a:rPr>
              <a:t>as.integer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condition_counts[condition_summary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condition]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condition_summary</a:t>
            </a:r>
          </a:p>
          <a:p>
            <a:pPr lvl="0" indent="0" marL="0">
              <a:buNone/>
            </a:pPr>
            <a:r>
              <a:rPr/>
              <a:t>같은 조건 이름을 이용해 개수를 올바른 행에 연결합니다.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표시할 자릿수를 정리한다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condition_summary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cell_count &lt;-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(condition_summary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cell_count, </a:t>
            </a:r>
            <a:r>
              <a:rPr>
                <a:solidFill>
                  <a:srgbClr val="657422"/>
                </a:solidFill>
                <a:latin typeface="Courier"/>
              </a:rPr>
              <a:t>digits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condition_summary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mito_percent &lt;-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(condition_summary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mito_percent, </a:t>
            </a:r>
            <a:r>
              <a:rPr>
                <a:solidFill>
                  <a:srgbClr val="657422"/>
                </a:solidFill>
                <a:latin typeface="Courier"/>
              </a:rPr>
              <a:t>digits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/>
            <a:r>
              <a:rPr>
                <a:latin typeface="Courier"/>
              </a:rPr>
              <a:t>round()</a:t>
            </a:r>
            <a:r>
              <a:rPr/>
              <a:t>는 표시할 소수점 자릿수를 정리합니다.</a:t>
            </a:r>
          </a:p>
          <a:p>
            <a:pPr lvl="0"/>
            <a:r>
              <a:rPr/>
              <a:t>원본 측정값을 바꾸기보다 요약 결과의 표시를 정리합니다.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그래프는 질문에 맞게 선택한다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질문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그래프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범주별 개수는 몇 개인가?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막대그래프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숫자형 값은 어떻게 분포하는가?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히스토그램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그룹별 분포가 어떻게 다른가?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상자그림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두 숫자형 변수는 어떤 관계인가?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산점도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한 그래프에 모든 정보를 넣기보다 질문 하나에 집중합니다.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막대그래프로 범주별 개수를 비교한다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condition_counts &lt;- </a:t>
            </a:r>
            <a:r>
              <a:rPr>
                <a:solidFill>
                  <a:srgbClr val="4758AB"/>
                </a:solidFill>
                <a:latin typeface="Courier"/>
              </a:rPr>
              <a:t>table</a:t>
            </a:r>
            <a:r>
              <a:rPr>
                <a:solidFill>
                  <a:srgbClr val="003B4F"/>
                </a:solidFill>
                <a:latin typeface="Courier"/>
              </a:rPr>
              <a:t>(sample_metadata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condition)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barplot</a:t>
            </a:r>
            <a:r>
              <a:rPr>
                <a:solidFill>
                  <a:srgbClr val="003B4F"/>
                </a:solidFill>
                <a:latin typeface="Courier"/>
              </a:rPr>
              <a:t>(condition_counts)</a:t>
            </a:r>
          </a:p>
          <a:p>
            <a:pPr lvl="0"/>
            <a:r>
              <a:rPr/>
              <a:t>막대의 높이는 각 범주의 개수입니다.</a:t>
            </a:r>
          </a:p>
          <a:p>
            <a:pPr lvl="0"/>
            <a:r>
              <a:rPr/>
              <a:t>범주형 자료의 빈도를 비교할 때 사용합니다.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막대그래프에 설명을 추가한다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barplot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condition_counts,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main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"실험 조건별 샘플 수"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xlab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"실험 조건"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ylab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"샘플 수"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col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"#4472C4"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"#ED7D31"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/>
            <a:r>
              <a:rPr>
                <a:latin typeface="Courier"/>
              </a:rPr>
              <a:t>main</a:t>
            </a:r>
            <a:r>
              <a:rPr/>
              <a:t>: 그래프 제목</a:t>
            </a:r>
          </a:p>
          <a:p>
            <a:pPr lvl="0"/>
            <a:r>
              <a:rPr>
                <a:latin typeface="Courier"/>
              </a:rPr>
              <a:t>xlab</a:t>
            </a:r>
            <a:r>
              <a:rPr/>
              <a:t>, </a:t>
            </a:r>
            <a:r>
              <a:rPr>
                <a:latin typeface="Courier"/>
              </a:rPr>
              <a:t>ylab</a:t>
            </a:r>
            <a:r>
              <a:rPr/>
              <a:t>: 축 이름</a:t>
            </a:r>
          </a:p>
          <a:p>
            <a:pPr lvl="0"/>
            <a:r>
              <a:rPr>
                <a:latin typeface="Courier"/>
              </a:rPr>
              <a:t>col</a:t>
            </a:r>
            <a:r>
              <a:rPr/>
              <a:t>: 막대 색상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그룹별 평균도 막대그래프로 표현할 수 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barplot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mean_cell_counts,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main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"조건별 평균 세포 수"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xlab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"실험 조건"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ylab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"평균 세포 수"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col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"#4472C4"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"#ED7D31"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평균 막대만으로는 각 값의 분포가 보이지 않는다는 한계가 있습니다.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히스토그램은 숫자형 값의 분포를 보여 준다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hist</a:t>
            </a:r>
            <a:r>
              <a:rPr>
                <a:solidFill>
                  <a:srgbClr val="003B4F"/>
                </a:solidFill>
                <a:latin typeface="Courier"/>
              </a:rPr>
              <a:t>(sample_metadata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cell_count)</a:t>
            </a:r>
          </a:p>
          <a:p>
            <a:pPr lvl="0"/>
            <a:r>
              <a:rPr/>
              <a:t>x축은 값의 구간입니다.</a:t>
            </a:r>
          </a:p>
          <a:p>
            <a:pPr lvl="0"/>
            <a:r>
              <a:rPr/>
              <a:t>y축은 각 구간에 속한 관측값의 개수입니다.</a:t>
            </a:r>
          </a:p>
          <a:p>
            <a:pPr lvl="0"/>
            <a:r>
              <a:rPr/>
              <a:t>샘플 수가 적으면 분포 해석에 주의합니다.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히스토그램에 설명을 추가한다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hist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cell_count,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breaks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main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"샘플별 세포 수 분포"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xlab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"세포 수"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ylab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"빈도"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col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"#70AD47"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border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"white"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breaks</a:t>
            </a:r>
            <a:r>
              <a:rPr/>
              <a:t>는 값을 나눌 구간 수에 영향을 줍니다.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상자그림은 그룹별 분포를 비교한다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boxplot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cell_count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condition,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sample_metadata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/>
            <a:r>
              <a:rPr/>
              <a:t>상자 안의 굵은 선은 중앙값입니다.</a:t>
            </a:r>
          </a:p>
          <a:p>
            <a:pPr lvl="0"/>
            <a:r>
              <a:rPr/>
              <a:t>상자는 가운데 50%의 값이 있는 범위를 나타냅니다.</a:t>
            </a:r>
          </a:p>
          <a:p>
            <a:pPr lvl="0"/>
            <a:r>
              <a:rPr/>
              <a:t>그룹별 값의 중심과 퍼짐을 비교할 수 있습니다.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상자그림에 설명을 추가한다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boxplot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cell_count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condition,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sample_metadata,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main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"실험 조건별 세포 수"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xlab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"실험 조건"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ylab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"세포 수"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col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"#4472C4"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"#ED7D31"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표본 수가 매우 적을 때는 상자 모양만으로 차이를 단정하지 않습니다.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산점도는 두 숫자형 변수의 관계를 보여 준다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cell_count,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median_genes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각 점은 샘플 하나를 나타냅니다.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산점도에 설명과 점 모양을 추가한다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cell_count,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median_genes,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main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"세포 수와 검출 유전자 수의 관계"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xlab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"세포 수"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ylab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"검출 유전자 수 중앙값"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pch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19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col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"#4472C4"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/>
            <a:r>
              <a:rPr>
                <a:latin typeface="Courier"/>
              </a:rPr>
              <a:t>pch = 19</a:t>
            </a:r>
            <a:r>
              <a:rPr/>
              <a:t>는 채워진 원을 사용합니다.</a:t>
            </a:r>
          </a:p>
          <a:p>
            <a:pPr lvl="0"/>
            <a:r>
              <a:rPr/>
              <a:t>산점도에서 x축과 y축에 어떤 변수를 놓았는지 명확히 표시합니다.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조건에 따라 점 색상을 지정할 수 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point_colors &lt;- </a:t>
            </a:r>
            <a:r>
              <a:rPr>
                <a:solidFill>
                  <a:srgbClr val="4758AB"/>
                </a:solidFill>
                <a:latin typeface="Courier"/>
              </a:rPr>
              <a:t>ifelse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condition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"control"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"#4472C4"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"#ED7D31"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cell_count,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median_genes,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pch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19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col =</a:t>
            </a:r>
            <a:r>
              <a:rPr>
                <a:solidFill>
                  <a:srgbClr val="003B4F"/>
                </a:solidFill>
                <a:latin typeface="Courier"/>
              </a:rPr>
              <a:t> point_colors,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xlab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"세포 수"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ylab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"검출 유전자 수 중앙값"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색상은 데이터와 같은 길이의 벡터로 지정할 수 있습니다.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범례로 색상의 의미를 설명한다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legend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"bottomright"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legend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"control"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"treated"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col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"#4472C4"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"#ED7D31"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pch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19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색상이나 모양으로 그룹을 구분했다면 범례를 함께 제공합니다.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그래프 제목은 내용을 구체적으로 적는다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피해야 할 제목:</a:t>
            </a:r>
          </a:p>
          <a:p>
            <a:pPr lvl="0" indent="0">
              <a:buNone/>
            </a:pPr>
            <a:r>
              <a:rPr>
                <a:latin typeface="Courier"/>
              </a:rPr>
              <a:t>결과 그래프</a:t>
            </a:r>
          </a:p>
          <a:p>
            <a:pPr lvl="0" indent="0" marL="0">
              <a:buNone/>
            </a:pPr>
            <a:r>
              <a:rPr/>
              <a:t>권장 제목:</a:t>
            </a:r>
          </a:p>
          <a:p>
            <a:pPr lvl="0" indent="0">
              <a:buNone/>
            </a:pPr>
            <a:r>
              <a:rPr>
                <a:latin typeface="Courier"/>
              </a:rPr>
              <a:t>실험 조건별 세포 수
세포 수와 검출 유전자 수의 관계</a:t>
            </a:r>
          </a:p>
          <a:p>
            <a:pPr lvl="0" indent="0" marL="0">
              <a:buNone/>
            </a:pPr>
            <a:r>
              <a:rPr/>
              <a:t>제목만 읽어도 무엇을 보여 주는지 알 수 있게 작성합니다.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축 이름에는 변수와 단위를 적는다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xlab = </a:t>
            </a:r>
            <a:r>
              <a:rPr>
                <a:solidFill>
                  <a:srgbClr val="20794D"/>
                </a:solidFill>
                <a:latin typeface="Courier"/>
              </a:rPr>
              <a:t>"미토콘드리아 유전자 비율 (%)"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ylab = </a:t>
            </a:r>
            <a:r>
              <a:rPr>
                <a:solidFill>
                  <a:srgbClr val="20794D"/>
                </a:solidFill>
                <a:latin typeface="Courier"/>
              </a:rPr>
              <a:t>"세포 수"</a:t>
            </a:r>
          </a:p>
          <a:p>
            <a:pPr lvl="0"/>
            <a:r>
              <a:rPr/>
              <a:t>열 이름을 그대로 복사하기보다 사람이 이해할 표현을 사용합니다.</a:t>
            </a:r>
          </a:p>
          <a:p>
            <a:pPr lvl="0"/>
            <a:r>
              <a:rPr/>
              <a:t>단위가 있으면 괄호 안에 표시합니다.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그래프를 해석할 때 주의한다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그래프에서 보이는 차이가 항상 중요한 생물학적 차이는 아닙니다.</a:t>
            </a:r>
          </a:p>
          <a:p>
            <a:pPr lvl="0"/>
            <a:r>
              <a:rPr/>
              <a:t>샘플 수가 적으면 우연한 패턴일 수 있습니다.</a:t>
            </a:r>
          </a:p>
          <a:p>
            <a:pPr lvl="0"/>
            <a:r>
              <a:rPr/>
              <a:t>상관관계가 원인과 결과를 의미하지는 않습니다.</a:t>
            </a:r>
          </a:p>
          <a:p>
            <a:pPr lvl="0"/>
            <a:r>
              <a:rPr/>
              <a:t>축 범위와 결측값 처리 방법도 함께 확인합니다.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요약표를 CSV 파일로 저장한다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dir.create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"results"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showWarnings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FALSE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write.csv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condition_summary,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"results/condition_summary.csv"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row.names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FALSE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저장한 파일을 다시 불러와 행, 열, 값을 확인합니다.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png()</a:t>
            </a:r>
            <a:r>
              <a:rPr/>
              <a:t>로 그래프 저장을 시작한다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png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"results/cell_count_by_condition.png"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900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height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600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res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120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/>
            <a:r>
              <a:rPr/>
              <a:t>이후에 그리는 그래프가 PNG 파일로 전달됩니다.</a:t>
            </a:r>
          </a:p>
          <a:p>
            <a:pPr lvl="0"/>
            <a:r>
              <a:rPr/>
              <a:t>너비와 높이는 픽셀 단위입니다.</a:t>
            </a:r>
          </a:p>
          <a:p>
            <a:pPr lvl="0"/>
            <a:r>
              <a:rPr>
                <a:latin typeface="Courier"/>
              </a:rPr>
              <a:t>res</a:t>
            </a:r>
            <a:r>
              <a:rPr/>
              <a:t>는 해상도를 지정합니다.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그래프를 그리고 </a:t>
            </a:r>
            <a:r>
              <a:rPr>
                <a:latin typeface="Courier"/>
              </a:rPr>
              <a:t>dev.off()</a:t>
            </a:r>
            <a:r>
              <a:rPr/>
              <a:t>로 저장을 마친다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boxplot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cell_count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condition,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sample_metadata,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main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"실험 조건별 세포 수"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xlab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"실험 조건"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ylab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"세포 수"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col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"#4472C4"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"#ED7D31"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dev.off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dev.off()</a:t>
            </a:r>
            <a:r>
              <a:rPr/>
              <a:t>를 실행해야 그래프 파일 저장이 완료됩니다.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저장된 결과 파일을 확인한다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file.exists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"results/condition_summary.csv"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file.exists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"results/cell_count_by_condition.png"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RStudio의 Files 창에서도 결과 파일을 열어 표와 그래프를 직접 확인합니다.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흔한 오류 1: 숫자형 변수를 막대그래프로만 표현한다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샘플별 숫자형 값의 분포를 보려면 히스토그램을 고려합니다.</a:t>
            </a:r>
          </a:p>
          <a:p>
            <a:pPr lvl="0"/>
            <a:r>
              <a:rPr/>
              <a:t>그룹별 분포를 비교하려면 상자그림을 고려합니다.</a:t>
            </a:r>
          </a:p>
          <a:p>
            <a:pPr lvl="0"/>
            <a:r>
              <a:rPr/>
              <a:t>그룹 평균 막대그래프는 원래 값의 퍼짐을 숨길 수 있습니다.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흔한 오류 2: 축 이름이 없다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cell_count,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median_genes,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xlab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"세포 수"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ylab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"검출 유전자 수 중앙값"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그래프만 따로 보아도 변수의 의미를 알 수 있게 작성합니다.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흔한 오류 3: </a:t>
            </a:r>
            <a:r>
              <a:rPr>
                <a:latin typeface="Courier"/>
              </a:rPr>
              <a:t>dev.off()</a:t>
            </a:r>
            <a:r>
              <a:rPr/>
              <a:t>를 실행하지 않는다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png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"results/example.png"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plot</a:t>
            </a:r>
            <a:r>
              <a:rPr>
                <a:solidFill>
                  <a:srgbClr val="003B4F"/>
                </a:solidFill>
                <a:latin typeface="Courier"/>
              </a:rPr>
              <a:t>(sample_metadata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cell_count)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dev.off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 marL="0">
              <a:buNone/>
            </a:pPr>
            <a:r>
              <a:rPr/>
              <a:t>파일 저장 코드는 </a:t>
            </a:r>
            <a:r>
              <a:rPr>
                <a:latin typeface="Courier"/>
              </a:rPr>
              <a:t>png()</a:t>
            </a:r>
            <a:r>
              <a:rPr/>
              <a:t> → 그래프 함수 → </a:t>
            </a:r>
            <a:r>
              <a:rPr>
                <a:latin typeface="Courier"/>
              </a:rPr>
              <a:t>dev.off()</a:t>
            </a:r>
            <a:r>
              <a:rPr/>
              <a:t> 순서로 작성합니다.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실습 1: 전체와 그룹별 요약하기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(sample_metadata)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table</a:t>
            </a:r>
            <a:r>
              <a:rPr>
                <a:solidFill>
                  <a:srgbClr val="003B4F"/>
                </a:solidFill>
                <a:latin typeface="Courier"/>
              </a:rPr>
              <a:t>(sample_metadata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condition)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tapply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cell_count,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condition,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mean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조건별 평균과 중앙값을 비교합니다.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실습 2: 그룹별 요약표 만들기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condition_summary &lt;- </a:t>
            </a:r>
            <a:r>
              <a:rPr>
                <a:solidFill>
                  <a:srgbClr val="4758AB"/>
                </a:solidFill>
                <a:latin typeface="Courier"/>
              </a:rPr>
              <a:t>aggregate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cbind</a:t>
            </a:r>
            <a:r>
              <a:rPr>
                <a:solidFill>
                  <a:srgbClr val="003B4F"/>
                </a:solidFill>
                <a:latin typeface="Courier"/>
              </a:rPr>
              <a:t>(cell_count, median_genes, mito_percent)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condition,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sample_metadata,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FUN =</a:t>
            </a:r>
            <a:r>
              <a:rPr>
                <a:solidFill>
                  <a:srgbClr val="003B4F"/>
                </a:solidFill>
                <a:latin typeface="Courier"/>
              </a:rPr>
              <a:t> mean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condition_summary</a:t>
            </a:r>
          </a:p>
          <a:p>
            <a:pPr lvl="0" indent="0" marL="0">
              <a:buNone/>
            </a:pPr>
            <a:r>
              <a:rPr/>
              <a:t>샘플 수를 추가하고 소수점 자릿수를 정리합니다.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실습 3: 질문별 그래프 작성하기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barplot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table</a:t>
            </a:r>
            <a:r>
              <a:rPr>
                <a:solidFill>
                  <a:srgbClr val="003B4F"/>
                </a:solidFill>
                <a:latin typeface="Courier"/>
              </a:rPr>
              <a:t>(sample_metadata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condition))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hist</a:t>
            </a:r>
            <a:r>
              <a:rPr>
                <a:solidFill>
                  <a:srgbClr val="003B4F"/>
                </a:solidFill>
                <a:latin typeface="Courier"/>
              </a:rPr>
              <a:t>(sample_metadata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cell_count)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boxplot</a:t>
            </a:r>
            <a:r>
              <a:rPr>
                <a:solidFill>
                  <a:srgbClr val="003B4F"/>
                </a:solidFill>
                <a:latin typeface="Courier"/>
              </a:rPr>
              <a:t>(cell_count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condition,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sample_metadata)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plot</a:t>
            </a:r>
            <a:r>
              <a:rPr>
                <a:solidFill>
                  <a:srgbClr val="003B4F"/>
                </a:solidFill>
                <a:latin typeface="Courier"/>
              </a:rPr>
              <a:t>(sample_metadata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cell_count, 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median_genes)</a:t>
            </a:r>
          </a:p>
          <a:p>
            <a:pPr lvl="0" indent="0" marL="0">
              <a:buNone/>
            </a:pPr>
            <a:r>
              <a:rPr/>
              <a:t>각 그래프가 어떤 질문에 답하는지 설명합니다.</a:t>
            </a:r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실습 4: 결과 저장하기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write.csv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condition_summary,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"results/condition_summary.csv"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row.names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FALSE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png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"results/cell_count_by_condition.png"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boxplot</a:t>
            </a:r>
            <a:r>
              <a:rPr>
                <a:solidFill>
                  <a:srgbClr val="003B4F"/>
                </a:solidFill>
                <a:latin typeface="Courier"/>
              </a:rPr>
              <a:t>(cell_count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condition,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sample_metadata)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dev.off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 marL="0">
              <a:buNone/>
            </a:pPr>
            <a:r>
              <a:rPr/>
              <a:t>저장한 표와 그래프 파일을 직접 열어 확인합니다.</a:t>
            </a:r>
          </a:p>
        </p:txBody>
      </p:sp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오늘 배운 내용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전체 요약과 그룹별 요약은 서로 다른 질문에 답합니다.</a:t>
            </a:r>
          </a:p>
          <a:p>
            <a:pPr lvl="0"/>
            <a:r>
              <a:rPr>
                <a:latin typeface="Courier"/>
              </a:rPr>
              <a:t>table()</a:t>
            </a:r>
            <a:r>
              <a:rPr/>
              <a:t>, </a:t>
            </a:r>
            <a:r>
              <a:rPr>
                <a:latin typeface="Courier"/>
              </a:rPr>
              <a:t>tapply()</a:t>
            </a:r>
            <a:r>
              <a:rPr/>
              <a:t>, </a:t>
            </a:r>
            <a:r>
              <a:rPr>
                <a:latin typeface="Courier"/>
              </a:rPr>
              <a:t>aggregate()</a:t>
            </a:r>
            <a:r>
              <a:rPr/>
              <a:t>로 그룹 정보를 요약할 수 있습니다.</a:t>
            </a:r>
          </a:p>
          <a:p>
            <a:pPr lvl="0"/>
            <a:r>
              <a:rPr/>
              <a:t>질문과 자료형에 맞춰 막대그래프, 히스토그램, 상자그림, 산점도를 선택합니다.</a:t>
            </a:r>
          </a:p>
          <a:p>
            <a:pPr lvl="0"/>
            <a:r>
              <a:rPr/>
              <a:t>제목, 축 이름, 범례로 그래프의 의미를 설명합니다.</a:t>
            </a:r>
          </a:p>
          <a:p>
            <a:pPr lvl="0"/>
            <a:r>
              <a:rPr/>
              <a:t>요약표는 </a:t>
            </a:r>
            <a:r>
              <a:rPr>
                <a:latin typeface="Courier"/>
              </a:rPr>
              <a:t>write.csv()</a:t>
            </a:r>
            <a:r>
              <a:rPr/>
              <a:t>, 그래프는 </a:t>
            </a:r>
            <a:r>
              <a:rPr>
                <a:latin typeface="Courier"/>
              </a:rPr>
              <a:t>png()</a:t>
            </a:r>
            <a:r>
              <a:rPr/>
              <a:t>와 </a:t>
            </a:r>
            <a:r>
              <a:rPr>
                <a:latin typeface="Courier"/>
              </a:rPr>
              <a:t>dev.off()</a:t>
            </a:r>
            <a:r>
              <a:rPr/>
              <a:t>로 저장합니다.</a:t>
            </a:r>
          </a:p>
        </p:txBody>
      </p:sp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종료 점검과 다음 차시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>
                <a:latin typeface="Courier"/>
              </a:rPr>
              <a:t>tapply()</a:t>
            </a:r>
            <a:r>
              <a:rPr/>
              <a:t>의 세 가지 주요 인자는 무엇입니까?</a:t>
            </a:r>
          </a:p>
          <a:p>
            <a:pPr lvl="0" indent="-457200" marL="457200">
              <a:buAutoNum type="arabicPeriod"/>
            </a:pPr>
            <a:r>
              <a:rPr/>
              <a:t>그룹별 숫자형 분포를 비교하려면 어떤 그래프가 적합합니까?</a:t>
            </a:r>
          </a:p>
          <a:p>
            <a:pPr lvl="0" indent="-457200" marL="457200">
              <a:buAutoNum type="arabicPeriod"/>
            </a:pPr>
            <a:r>
              <a:rPr/>
              <a:t>두 숫자형 변수의 관계는 어떤 그래프로 확인합니까?</a:t>
            </a:r>
          </a:p>
          <a:p>
            <a:pPr lvl="0" indent="-457200" marL="457200">
              <a:buAutoNum type="arabicPeriod"/>
            </a:pPr>
            <a:r>
              <a:rPr/>
              <a:t>PNG 그래프 저장을 마칠 때 어떤 함수를 실행합니까?</a:t>
            </a:r>
          </a:p>
          <a:p>
            <a:pPr lvl="0" indent="0" marL="0">
              <a:buNone/>
            </a:pPr>
            <a:r>
              <a:rPr b="1"/>
              <a:t>다음 차시:</a:t>
            </a:r>
            <a:r>
              <a:rPr/>
              <a:t> 패키지를 사용하고 리스트와 복잡한 R 객체의 구조 살펴보기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사용자 지정</PresentationFormat>
  <Paragraphs>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Pretendard</vt:lpstr>
      <vt:lpstr>맑은 고딕</vt:lpstr>
      <vt:lpstr>Arial</vt:lpstr>
      <vt:lpstr>Inter</vt:lpstr>
      <vt:lpstr>JetBrains Mono</vt:lpstr>
      <vt:lpstr>Office 테마</vt:lpstr>
      <vt:lpstr>R Programming Lecture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10차시: 데이터 요약과 시각화</dc:title>
  <dc:creator/>
  <cp:keywords/>
  <dcterms:created xsi:type="dcterms:W3CDTF">2026-07-12T09:24:17Z</dcterms:created>
  <dcterms:modified xsi:type="dcterms:W3CDTF">2026-07-12T09:24:17Z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header-includes">
    <vt:lpwstr/>
  </property>
  <property fmtid="{D5CDD505-2E9C-101B-9397-08002B2CF9AE}" pid="4" name="include-after">
    <vt:lpwstr/>
  </property>
  <property fmtid="{D5CDD505-2E9C-101B-9397-08002B2CF9AE}" pid="5" name="include-before">
    <vt:lpwstr/>
  </property>
  <property fmtid="{D5CDD505-2E9C-101B-9397-08002B2CF9AE}" pid="6" name="labels">
    <vt:lpwstr/>
  </property>
  <property fmtid="{D5CDD505-2E9C-101B-9397-08002B2CF9AE}" pid="7" name="subtitle">
    <vt:lpwstr>R 기초 프로그래밍</vt:lpwstr>
  </property>
  <property fmtid="{D5CDD505-2E9C-101B-9397-08002B2CF9AE}" pid="8" name="toc-title">
    <vt:lpwstr>목차</vt:lpwstr>
  </property>
</Properties>
</file>