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8" Type="http://schemas.openxmlformats.org/officeDocument/2006/relationships/tableStyles" Target="tableStyles.xml" /><Relationship Id="rId57" Type="http://schemas.openxmlformats.org/officeDocument/2006/relationships/theme" Target="theme/theme1.xml" /><Relationship Id="rId56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12차시: 미니 프로젝트 — 전사체 형태의 데이터 분석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메타데이터와 유전자 발현 데이터를 불러와 구조와 품질을 점검할 수 있다.</a:t>
            </a:r>
          </a:p>
          <a:p>
            <a:pPr lvl="0" indent="-457200" marL="457200">
              <a:buAutoNum type="arabicPeriod"/>
            </a:pPr>
            <a:r>
              <a:rPr/>
              <a:t>샘플 순서를 검증하고 QC 조건에 맞는 샘플을 선택할 수 있다.</a:t>
            </a:r>
          </a:p>
          <a:p>
            <a:pPr lvl="0" indent="-457200" marL="457200">
              <a:buAutoNum type="arabicPeriod"/>
            </a:pPr>
            <a:r>
              <a:rPr/>
              <a:t>실험 조건별 유전자 발현을 요약하고 기본 그래프로 표현할 수 있다.</a:t>
            </a:r>
          </a:p>
          <a:p>
            <a:pPr lvl="0" indent="-457200" marL="457200">
              <a:buAutoNum type="arabicPeriod"/>
            </a:pPr>
            <a:r>
              <a:rPr/>
              <a:t>분석 결과와 설정값을 CSV, PNG, RDS 파일로 정리할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지금까지 배운 내용을 연결한다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사용하는 내용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데이터 불러오기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상대 경로, </a:t>
                      </a:r>
                      <a:r>
                        <a:rPr>
                          <a:latin typeface="Courier"/>
                        </a:rPr>
                        <a:t>read.csv()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품질 점검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is.na()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duplicated()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샘플 선택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비교·논리 연산자, 데이터 프레임 인덱싱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계산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함수, 벡터화 연산, 그룹별 요약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시각화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막대그래프, 상자그림, 산점도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결과 정리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리스트, CSV, PNG, RDS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질문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 프로젝트에서는 다음 질문에 답합니다.</a:t>
            </a:r>
          </a:p>
          <a:p>
            <a:pPr lvl="0" indent="-457200" marL="457200">
              <a:buAutoNum type="arabicPeriod"/>
            </a:pPr>
            <a:r>
              <a:rPr/>
              <a:t>분석 기준을 만족하는 샘플은 무엇인가?</a:t>
            </a:r>
          </a:p>
          <a:p>
            <a:pPr lvl="0" indent="-457200" marL="457200">
              <a:buAutoNum type="arabicPeriod"/>
            </a:pPr>
            <a:r>
              <a:rPr/>
              <a:t>control과 treated에 분석 가능한 샘플이 각각 몇 개 있는가?</a:t>
            </a:r>
          </a:p>
          <a:p>
            <a:pPr lvl="0" indent="-457200" marL="457200">
              <a:buAutoNum type="arabicPeriod"/>
            </a:pPr>
            <a:r>
              <a:rPr/>
              <a:t>각 유전자의 조건별 평균 발현량은 얼마인가?</a:t>
            </a:r>
          </a:p>
          <a:p>
            <a:pPr lvl="0" indent="-457200" marL="457200">
              <a:buAutoNum type="arabicPeriod"/>
            </a:pPr>
            <a:r>
              <a:rPr/>
              <a:t>조건 간 평균 발현 차이가 큰 유전자는 무엇인가?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사용하는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data/
├─ sample_metadata.csv
└─ gene_expression.csv</a:t>
            </a:r>
          </a:p>
          <a:p>
            <a:pPr lvl="0"/>
            <a:r>
              <a:rPr>
                <a:latin typeface="Courier"/>
              </a:rPr>
              <a:t>sample_metadata.csv</a:t>
            </a:r>
            <a:r>
              <a:rPr/>
              <a:t>: 샘플별 조건과 QC 지표</a:t>
            </a:r>
          </a:p>
          <a:p>
            <a:pPr lvl="0"/>
            <a:r>
              <a:rPr>
                <a:latin typeface="Courier"/>
              </a:rPr>
              <a:t>gene_expression.csv</a:t>
            </a:r>
            <a:r>
              <a:rPr/>
              <a:t>: 유전자별 샘플 발현량</a:t>
            </a:r>
          </a:p>
          <a:p>
            <a:pPr lvl="0"/>
            <a:r>
              <a:rPr/>
              <a:t>두 파일 모두 수업용으로 만든 합성 데이터입니다.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메타데이터의 구조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한 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한 샘플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주요 열:</a:t>
            </a:r>
          </a:p>
          <a:p>
            <a:pPr lvl="0"/>
            <a:r>
              <a:rPr>
                <a:latin typeface="Courier"/>
              </a:rPr>
              <a:t>sample_id</a:t>
            </a:r>
            <a:r>
              <a:rPr/>
              <a:t>, </a:t>
            </a:r>
            <a:r>
              <a:rPr>
                <a:latin typeface="Courier"/>
              </a:rPr>
              <a:t>condition</a:t>
            </a:r>
            <a:r>
              <a:rPr/>
              <a:t>, </a:t>
            </a:r>
            <a:r>
              <a:rPr>
                <a:latin typeface="Courier"/>
              </a:rPr>
              <a:t>batch</a:t>
            </a:r>
          </a:p>
          <a:p>
            <a:pPr lvl="0"/>
            <a:r>
              <a:rPr>
                <a:latin typeface="Courier"/>
              </a:rPr>
              <a:t>cell_count</a:t>
            </a:r>
            <a:r>
              <a:rPr/>
              <a:t>, </a:t>
            </a:r>
            <a:r>
              <a:rPr>
                <a:latin typeface="Courier"/>
              </a:rPr>
              <a:t>median_genes</a:t>
            </a:r>
            <a:r>
              <a:rPr/>
              <a:t>, </a:t>
            </a:r>
            <a:r>
              <a:rPr>
                <a:latin typeface="Courier"/>
              </a:rPr>
              <a:t>mito_percent</a:t>
            </a:r>
          </a:p>
          <a:p>
            <a:pPr lvl="0"/>
            <a:r>
              <a:rPr>
                <a:latin typeface="Courier"/>
              </a:rPr>
              <a:t>doublet_rate</a:t>
            </a:r>
            <a:r>
              <a:rPr/>
              <a:t>, </a:t>
            </a:r>
            <a:r>
              <a:rPr>
                <a:latin typeface="Courier"/>
              </a:rPr>
              <a:t>passed_qc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 발현표의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gene_id,control_1,control_2,...,treated_3
MS4A1,52,48,...,24
CD3D,18,20,...,64</a:t>
            </a:r>
          </a:p>
          <a:p>
            <a:pPr lvl="0"/>
            <a:r>
              <a:rPr/>
              <a:t>한 행은 유전자 하나입니다.</a:t>
            </a:r>
          </a:p>
          <a:p>
            <a:pPr lvl="0"/>
            <a:r>
              <a:rPr>
                <a:latin typeface="Courier"/>
              </a:rPr>
              <a:t>gene_id</a:t>
            </a:r>
            <a:r>
              <a:rPr/>
              <a:t>를 제외한 각 열은 샘플 하나입니다.</a:t>
            </a:r>
          </a:p>
          <a:p>
            <a:pPr lvl="0"/>
            <a:r>
              <a:rPr/>
              <a:t>각 셀에는 교육용 발현량이 들어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파일 확인 및 불러오기
2. 구조·결측값·중복 점검
3. 두 파일의 샘플 정렬 검증
4. QC 조건 생성 및 샘플 선택
5. 조건별 평균 발현 계산
6. 요약표와 그래프 작성
7. 결과 저장 및 읽기 검증</a:t>
            </a:r>
          </a:p>
          <a:p>
            <a:pPr lvl="0" indent="0" marL="0">
              <a:buNone/>
            </a:pPr>
            <a:r>
              <a:rPr/>
              <a:t>각 단계의 결과를 확인한 뒤 다음 단계로 이동합니다.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1단계: 입력 파일 경로를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metadata_path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expression_path &lt;- </a:t>
            </a:r>
            <a:r>
              <a:rPr>
                <a:solidFill>
                  <a:srgbClr val="20794D"/>
                </a:solidFill>
                <a:latin typeface="Courier"/>
              </a:rPr>
              <a:t>"data/gene_expression.csv"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(metadata_path)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(expression_path)</a:t>
            </a:r>
          </a:p>
          <a:p>
            <a:pPr lvl="0" indent="0" marL="0">
              <a:buNone/>
            </a:pPr>
            <a:r>
              <a:rPr/>
              <a:t>두 결과가 모두 </a:t>
            </a:r>
            <a:r>
              <a:rPr>
                <a:latin typeface="Courier"/>
              </a:rPr>
              <a:t>TRUE</a:t>
            </a:r>
            <a:r>
              <a:rPr/>
              <a:t>인지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CSV 파일을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(metadata_path)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gene_expression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expression_path,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check.names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check.names = FALSE</a:t>
            </a:r>
            <a:r>
              <a:rPr/>
              <a:t>는 CSV에 기록된 샘플 열 이름을 그대로 유지합니다.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불러온 직후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 indent="0" marL="0">
              <a:buNone/>
            </a:pPr>
            <a:r>
              <a:rPr/>
              <a:t>확인할 사항:</a:t>
            </a:r>
          </a:p>
          <a:p>
            <a:pPr lvl="0"/>
            <a:r>
              <a:rPr/>
              <a:t>예상한 파일이 맞는가?</a:t>
            </a:r>
          </a:p>
          <a:p>
            <a:pPr lvl="0"/>
            <a:r>
              <a:rPr/>
              <a:t>첫 행이 열 이름으로 처리됐는가?</a:t>
            </a:r>
          </a:p>
          <a:p>
            <a:pPr lvl="0"/>
            <a:r>
              <a:rPr/>
              <a:t>값이 여러 열로 올바르게 나뉘었는가?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2단계: 데이터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/>
            <a:r>
              <a:rPr/>
              <a:t>메타데이터 행 수는 샘플 수입니다.</a:t>
            </a:r>
          </a:p>
          <a:p>
            <a:pPr lvl="0"/>
            <a:r>
              <a:rPr/>
              <a:t>발현표 행 수는 유전자 수입니다.</a:t>
            </a:r>
          </a:p>
          <a:p>
            <a:pPr lvl="0"/>
            <a:r>
              <a:rPr/>
              <a:t>발현표 열 수는 </a:t>
            </a:r>
            <a:r>
              <a:rPr>
                <a:latin typeface="Courier"/>
              </a:rPr>
              <a:t>gene_id</a:t>
            </a:r>
            <a:r>
              <a:rPr/>
              <a:t> 열과 샘플 열을 합한 수입니다.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이름과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 indent="0" marL="0">
              <a:buNone/>
            </a:pPr>
            <a:r>
              <a:rPr/>
              <a:t>발현량 열이 숫자형으로 불러와졌는지 확인합니다.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(gene_expression))</a:t>
            </a:r>
          </a:p>
          <a:p>
            <a:pPr lvl="0"/>
            <a:r>
              <a:rPr/>
              <a:t>메타데이터의 </a:t>
            </a:r>
            <a:r>
              <a:rPr>
                <a:latin typeface="Courier"/>
              </a:rPr>
              <a:t>doublet_rate</a:t>
            </a:r>
            <a:r>
              <a:rPr/>
              <a:t>에는 의도적인 결측값이 하나 있습니다.</a:t>
            </a:r>
          </a:p>
          <a:p>
            <a:pPr lvl="0"/>
            <a:r>
              <a:rPr/>
              <a:t>발현표에는 결측값이 없어야 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중복 식별자를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(gene_expression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gene_id))</a:t>
            </a:r>
          </a:p>
          <a:p>
            <a:pPr lvl="0" indent="0" marL="0">
              <a:buNone/>
            </a:pPr>
            <a:r>
              <a:rPr/>
              <a:t>샘플 ID와 유전자 ID는 각각 고유해야 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 값의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(gene_expression[,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음수 발현량이나 예상 밖의 QC 값이 없는지 살펴봅니다.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3단계: 두 파일의 샘플 이름을 추출한다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metadata_sample_ids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expression_sample_ids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(gene_expression)[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metadata_sample_ids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expression_sample_ids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-1</a:t>
            </a:r>
            <a:r>
              <a:rPr/>
              <a:t>은 첫 번째 </a:t>
            </a:r>
            <a:r>
              <a:rPr>
                <a:latin typeface="Courier"/>
              </a:rPr>
              <a:t>gene_id</a:t>
            </a:r>
            <a:r>
              <a:rPr/>
              <a:t> 열을 제외합니다.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이름과 순서가 모두 같은지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(metadata_sample_ids, expression_sample_ids)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TRUE</a:t>
            </a:r>
            <a:r>
              <a:rPr/>
              <a:t>여야 각 샘플의 메타데이터와 발현량이 같은 순서로 대응합니다.</a:t>
            </a:r>
          </a:p>
          <a:p>
            <a:pPr lvl="0" indent="0" marL="1270000">
              <a:buNone/>
            </a:pPr>
            <a:r>
              <a:rPr sz="2000"/>
              <a:t>이름 집합만 같아도 순서가 다르면 잘못된 샘플끼리 연결될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정렬 검증은 분석 전에 수행한다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(metadata_sample_ids, expression_sample_ids)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조건이 </a:t>
            </a:r>
            <a:r>
              <a:rPr>
                <a:latin typeface="Courier"/>
              </a:rPr>
              <a:t>TRUE</a:t>
            </a:r>
            <a:r>
              <a:rPr/>
              <a:t>이면 분석을 계속합니다.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이면 실행을 중단하고 두 파일의 이름과 순서를 수정합니다.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4단계: QC 기준을 명시한다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qc_parameters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max_doublet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설정값을 리스트에 모으면 어떤 기준을 사용했는지 기록하기 쉽습니다.</a:t>
            </a:r>
          </a:p>
          <a:p>
            <a:pPr lvl="0" indent="0" marL="1270000">
              <a:buNone/>
            </a:pPr>
            <a:r>
              <a:rPr sz="2000"/>
              <a:t>이 수치는 R 프로젝트 연습을 위한 예시이며 실제 분석 기준이 아닙니다.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없는 doublet 조건을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known_doublet_rate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low_doublet_rate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max_doublet</a:t>
            </a:r>
          </a:p>
          <a:p>
            <a:pPr lvl="0" indent="0" marL="0">
              <a:buNone/>
            </a:pPr>
            <a:r>
              <a:rPr/>
              <a:t>결측값을 먼저 확인하고 기준과 비교합니다.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QC 조건을 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min_genes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max_mito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known_doublet_rate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low_doublet_rate</a:t>
            </a:r>
          </a:p>
          <a:p>
            <a:pPr lvl="0" indent="0" marL="0">
              <a:buNone/>
            </a:pPr>
            <a:r>
              <a:rPr/>
              <a:t>각 행에 대해 모든 조건이 참이어야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결과를 메타데이터에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qc_result &lt;- qc_condition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"condition"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원본 QC 지표와 새 판정 결과를 함께 확인합니다.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통과 샘플을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analysis_metadata &lt;- sample_metadata[qc_condition,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analysis_metadata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analysis_sample_ids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analysis_sample_ids</a:t>
            </a:r>
          </a:p>
          <a:p>
            <a:pPr lvl="0" indent="0" marL="0">
              <a:buNone/>
            </a:pPr>
            <a:r>
              <a:rPr/>
              <a:t>선택 결과의 행 수와 샘플 이름을 확인합니다.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조건별 분석 샘플 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analysis_condition_counts</a:t>
            </a:r>
          </a:p>
          <a:p>
            <a:pPr lvl="0" indent="0" marL="0">
              <a:buNone/>
            </a:pPr>
            <a:r>
              <a:rPr/>
              <a:t>두 조건에 분석 가능한 샘플이 있는지 확인합니다.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발현표에서도 같은 샘플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analysis_expression &lt;- gene_expression[,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"gene_id"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analysis_sample_ids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analysis_expression</a:t>
            </a:r>
          </a:p>
          <a:p>
            <a:pPr lvl="0" indent="0" marL="0">
              <a:buNone/>
            </a:pPr>
            <a:r>
              <a:rPr/>
              <a:t>메타데이터에서 통과한 샘플 ID를 발현표의 열 이름으로 사용합니다.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선택한 두 객체의 대응을 다시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(analysis_expression)[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필터링 이후에도 샘플 이름과 순서가 같아야 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5단계: 조건별 샘플 ID를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각 조건에 해당하는 발현표 열 이름을 얻습니다.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조건별 발현값을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control_expression &lt;- analysis_expression[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, control_ids,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treated_expression &lt;- analysis_expression[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, treated_ids,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drop = FALSE</a:t>
            </a:r>
            <a:r>
              <a:rPr/>
              <a:t>는 샘플이 하나뿐이어도 데이터 프레임 형태를 유지합니다.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rowMeans()</a:t>
            </a:r>
            <a:r>
              <a:rPr/>
              <a:t>로 유전자별 평균을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control_mean &lt;- </a:t>
            </a:r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(control_expression)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treated_mean &lt;- </a:t>
            </a:r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(treated_expression)</a:t>
            </a:r>
          </a:p>
          <a:p>
            <a:pPr lvl="0"/>
            <a:r>
              <a:rPr/>
              <a:t>각 행은 유전자 하나입니다.</a:t>
            </a:r>
          </a:p>
          <a:p>
            <a:pPr lvl="0"/>
            <a:r>
              <a:rPr>
                <a:latin typeface="Courier"/>
              </a:rPr>
              <a:t>rowMeans()</a:t>
            </a:r>
            <a:r>
              <a:rPr/>
              <a:t>는 행마다 여러 샘플 값의 평균을 계산합니다.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유전자별 요약표를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gene_summary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gene_id =</a:t>
            </a:r>
            <a:r>
              <a:rPr>
                <a:solidFill>
                  <a:srgbClr val="003B4F"/>
                </a:solidFill>
                <a:latin typeface="Courier"/>
              </a:rPr>
              <a:t> analysis_expression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control_mean =</a:t>
            </a:r>
            <a:r>
              <a:rPr>
                <a:solidFill>
                  <a:srgbClr val="003B4F"/>
                </a:solidFill>
                <a:latin typeface="Courier"/>
              </a:rPr>
              <a:t> control_mean,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treated_mean =</a:t>
            </a:r>
            <a:r>
              <a:rPr>
                <a:solidFill>
                  <a:srgbClr val="003B4F"/>
                </a:solidFill>
                <a:latin typeface="Courier"/>
              </a:rPr>
              <a:t> treated_mean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</a:p>
          <a:p>
            <a:pPr lvl="0" indent="0" marL="0">
              <a:buNone/>
            </a:pPr>
            <a:r>
              <a:rPr/>
              <a:t>한 행에 한 유전자의 조건별 평균을 정리합니다.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 간 평균 차이를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control_mean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</a:p>
          <a:p>
            <a:pPr lvl="0"/>
            <a:r>
              <a:rPr/>
              <a:t>양수: treated 평균이 더 큼</a:t>
            </a:r>
          </a:p>
          <a:p>
            <a:pPr lvl="0"/>
            <a:r>
              <a:rPr/>
              <a:t>음수: control 평균이 더 큼</a:t>
            </a:r>
          </a:p>
          <a:p>
            <a:pPr lvl="0"/>
            <a:r>
              <a:rPr/>
              <a:t>이 값만으로 통계적 유의성이나 생물학적 중요성을 판단할 수는 없습니다.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절댓값 차이가 큰 순서로 정렬한다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gene_order &lt;- </a:t>
            </a:r>
            <a:r>
              <a:rPr>
                <a:solidFill>
                  <a:srgbClr val="4758AB"/>
                </a:solidFill>
                <a:latin typeface="Courier"/>
              </a:rPr>
              <a:t>order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decreasing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gene_summary_sorted &lt;- gene_summary[gene_order,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gene_summary_sorted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order()</a:t>
            </a:r>
            <a:r>
              <a:rPr/>
              <a:t>는 값을 정렬할 행 위치를 반환합니다.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 프로젝트의 발현 비교 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교육용 합성 데이터입니다.</a:t>
            </a:r>
          </a:p>
          <a:p>
            <a:pPr lvl="0"/>
            <a:r>
              <a:rPr/>
              <a:t>샘플 수와 유전자 수가 매우 적습니다.</a:t>
            </a:r>
          </a:p>
          <a:p>
            <a:pPr lvl="0"/>
            <a:r>
              <a:rPr/>
              <a:t>정규화, 배치 보정, 분산 추정, 통계 검정을 수행하지 않았습니다.</a:t>
            </a:r>
          </a:p>
          <a:p>
            <a:pPr lvl="0"/>
            <a:r>
              <a:rPr/>
              <a:t>평균 차이는 실제 차등 발현 분석 결과가 아닙니다.</a:t>
            </a:r>
          </a:p>
          <a:p>
            <a:pPr lvl="0" indent="0" marL="0">
              <a:buNone/>
            </a:pPr>
            <a:r>
              <a:rPr/>
              <a:t>이 프로젝트의 목적은 R 분석 흐름을 연결하는 것입니다.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6단계: QC 결과를 막대그래프로 표시한다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analysis_condition_counts,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"조건별 QC 통과 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조건에 최종 분석 샘플이 몇 개 있는지 보여 줍니다.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지표를 조건별 상자그림으로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표본 수가 적으므로 분포 차이를 단정하지 않습니다.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선택한 유전자의 조건별 평균을 표시한다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selected_gene &lt;- </a:t>
            </a:r>
            <a:r>
              <a:rPr>
                <a:solidFill>
                  <a:srgbClr val="20794D"/>
                </a:solidFill>
                <a:latin typeface="Courier"/>
              </a:rPr>
              <a:t>"CD3D"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selected_row &lt;- gene_summary[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selected_gene,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selected_means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selected_row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control_mean,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 =</a:t>
            </a:r>
            <a:r>
              <a:rPr>
                <a:solidFill>
                  <a:srgbClr val="003B4F"/>
                </a:solidFill>
                <a:latin typeface="Courier"/>
              </a:rPr>
              <a:t> selected_row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treated_mean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 평균 발현 막대그래프를 그린다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selected_means,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(selected_gene, </a:t>
            </a:r>
            <a:r>
              <a:rPr>
                <a:solidFill>
                  <a:srgbClr val="20794D"/>
                </a:solidFill>
                <a:latin typeface="Courier"/>
              </a:rPr>
              <a:t>"조건별 평균 발현량"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발현량"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그래프 제목에 유전자 이름을 포함합니다.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지표의 관계를 산점도로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point_colors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point_colors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산점도에 범례를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"bottomright"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색상의 의미를 그래프 안에서 설명합니다.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7단계: 결과 폴더를 준비한다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원본 데이터가 있는 </a:t>
            </a:r>
            <a:r>
              <a:rPr>
                <a:latin typeface="Courier"/>
              </a:rPr>
              <a:t>data/</a:t>
            </a:r>
            <a:r>
              <a:rPr/>
              <a:t>와 분석 결과가 있는 </a:t>
            </a:r>
            <a:r>
              <a:rPr>
                <a:latin typeface="Courier"/>
              </a:rPr>
              <a:t>results/</a:t>
            </a:r>
            <a:r>
              <a:rPr/>
              <a:t>를 분리합니다.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메타데이터와 유전자 요약표를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"results/project_analysis_metadata.csv"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gene_summary_sorted,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"results/project_gene_summary.csv"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CSV는 사람이 확인하고 다른 프로그램과 공유하기 쉽습니다.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PNG로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"results/project_gene_expression.png"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selected_means,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(selected_gene, </a:t>
            </a:r>
            <a:r>
              <a:rPr>
                <a:solidFill>
                  <a:srgbClr val="20794D"/>
                </a:solidFill>
                <a:latin typeface="Courier"/>
              </a:rPr>
              <a:t>"조건별 평균 발현량"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발현량"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전체를 리스트로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project_result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analysis_metadata,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expression =</a:t>
            </a:r>
            <a:r>
              <a:rPr>
                <a:solidFill>
                  <a:srgbClr val="003B4F"/>
                </a:solidFill>
                <a:latin typeface="Courier"/>
              </a:rPr>
              <a:t> analysis_expression,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gene_summary =</a:t>
            </a:r>
            <a:r>
              <a:rPr>
                <a:solidFill>
                  <a:srgbClr val="003B4F"/>
                </a:solidFill>
                <a:latin typeface="Courier"/>
              </a:rPr>
              <a:t> gene_summary_sorted,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parameters 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입력에서 선택된 데이터, 요약 결과, 사용 기준을 하나의 객체에 묶습니다.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객체를 RDS로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project_result,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"results/transcriptomics_project.rds"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RDS는 리스트 내부의 데이터 프레임과 설정값 구조를 보존합니다.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 결과를 다시 읽어 검증한다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restored_project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"results/transcriptomics_project.rds"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(project_result, restored_project)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(restored_project,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CSV와 PNG 파일도 실제로 열어 내용을 확인합니다.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재현 가능한 프로젝트가 갖춰야 할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입력 파일의 위치와 의미</a:t>
            </a:r>
          </a:p>
          <a:p>
            <a:pPr lvl="0"/>
            <a:r>
              <a:rPr/>
              <a:t>데이터 구조 및 품질 점검 코드</a:t>
            </a:r>
          </a:p>
          <a:p>
            <a:pPr lvl="0"/>
            <a:r>
              <a:rPr/>
              <a:t>선택 기준과 결측값 처리 방법</a:t>
            </a:r>
          </a:p>
          <a:p>
            <a:pPr lvl="0"/>
            <a:r>
              <a:rPr/>
              <a:t>요약과 그래프를 만드는 코드</a:t>
            </a:r>
          </a:p>
          <a:p>
            <a:pPr lvl="0"/>
            <a:r>
              <a:rPr/>
              <a:t>결과 파일과 실행 환경 정보</a:t>
            </a:r>
          </a:p>
          <a:p>
            <a:pPr lvl="0"/>
            <a:r>
              <a:rPr/>
              <a:t>결과의 한계와 해석 범위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결과를 설명할 때 과정과 한계를 함께 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예시:</a:t>
            </a:r>
          </a:p>
          <a:p>
            <a:pPr lvl="0" indent="0" marL="1270000">
              <a:buNone/>
            </a:pPr>
            <a:r>
              <a:rPr sz="2000"/>
              <a:t>교육용 QC 기준을 적용해 분석 샘플을 선택하고, 조건별 유전자 평균 발현량을 계산했다. 이 데이터는 합성 자료이고 표본 수가 적으며 정규화와 통계 검정을 수행하지 않았으므로 실제 차등 발현 결과로 해석할 수 없다.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점검표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입력 파일이 존재하는가?</a:t>
            </a:r>
          </a:p>
          <a:p>
            <a:pPr lvl="0" indent="-457200" marL="457200">
              <a:buAutoNum type="arabicPeriod"/>
            </a:pPr>
            <a:r>
              <a:rPr/>
              <a:t>식별자에 결측값이나 중복이 없는가?</a:t>
            </a:r>
          </a:p>
          <a:p>
            <a:pPr lvl="0" indent="-457200" marL="457200">
              <a:buAutoNum type="arabicPeriod"/>
            </a:pPr>
            <a:r>
              <a:rPr/>
              <a:t>메타데이터와 발현표의 샘플 이름 및 순서가 같은가?</a:t>
            </a:r>
          </a:p>
          <a:p>
            <a:pPr lvl="0" indent="-457200" marL="457200">
              <a:buAutoNum type="arabicPeriod"/>
            </a:pPr>
            <a:r>
              <a:rPr/>
              <a:t>QC 기준과 결측값 처리 방법이 코드에 기록됐는가?</a:t>
            </a:r>
          </a:p>
          <a:p>
            <a:pPr lvl="0" indent="-457200" marL="457200">
              <a:buAutoNum type="arabicPeriod"/>
            </a:pPr>
            <a:r>
              <a:rPr/>
              <a:t>필터링 후 두 조건에 샘플이 남아 있는가?</a:t>
            </a:r>
          </a:p>
          <a:p>
            <a:pPr lvl="0" indent="-457200" marL="457200">
              <a:buAutoNum type="arabicPeriod"/>
            </a:pPr>
            <a:r>
              <a:rPr/>
              <a:t>CSV, PNG, RDS 결과를 다시 열어 확인했는가?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완성한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불러오기 → 검증 → QC → 샘플 선택 →
조건별 발현 요약 → 시각화 → 저장 → 복원 검증</a:t>
            </a:r>
          </a:p>
          <a:p>
            <a:pPr lvl="0" indent="0" marL="0">
              <a:buNone/>
            </a:pPr>
            <a:r>
              <a:rPr/>
              <a:t>이 흐름은 실제 Seurat 분석에서도 입력과 함수는 달라지지만 기본 사고 과정으로 이어집니다.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과정 전체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객체와 기본 자료형을 확인했습니다.</a:t>
            </a:r>
          </a:p>
          <a:p>
            <a:pPr lvl="0"/>
            <a:r>
              <a:rPr/>
              <a:t>벡터, 행렬, 데이터 프레임, 리스트를 사용했습니다.</a:t>
            </a:r>
          </a:p>
          <a:p>
            <a:pPr lvl="0"/>
            <a:r>
              <a:rPr/>
              <a:t>조건식, 반복, 함수로 분석 작업을 표현했습니다.</a:t>
            </a:r>
          </a:p>
          <a:p>
            <a:pPr lvl="0"/>
            <a:r>
              <a:rPr/>
              <a:t>데이터를 요약하고 그래프로 전달했습니다.</a:t>
            </a:r>
          </a:p>
          <a:p>
            <a:pPr lvl="0"/>
            <a:r>
              <a:rPr/>
              <a:t>상대 경로와 검증 단계를 사용해 재현 가능한 결과를 만들었습니다.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두 파일의 샘플 순서를 왜 확인해야 합니까?</a:t>
            </a:r>
          </a:p>
          <a:p>
            <a:pPr lvl="0" indent="-457200" marL="457200">
              <a:buAutoNum type="arabicPeriod"/>
            </a:pPr>
            <a:r>
              <a:rPr/>
              <a:t>QC 기준을 리스트에 저장하면 어떤 점이 좋습니까?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rowMeans()</a:t>
            </a:r>
            <a:r>
              <a:rPr/>
              <a:t>는 발현표의 어느 방향으로 계산합니까?</a:t>
            </a:r>
          </a:p>
          <a:p>
            <a:pPr lvl="0" indent="-457200" marL="457200">
              <a:buAutoNum type="arabicPeriod"/>
            </a:pPr>
            <a:r>
              <a:rPr/>
              <a:t>이 프로젝트의 평균 발현 차이를 실제 차등 발현 결과로 해석할 수 없는 이유는 무엇입니까?</a:t>
            </a:r>
          </a:p>
          <a:p>
            <a:pPr lvl="0" indent="0" marL="0">
              <a:buNone/>
            </a:pPr>
            <a:r>
              <a:rPr b="1"/>
              <a:t>다음 단계:</a:t>
            </a:r>
            <a:r>
              <a:rPr/>
              <a:t> 실제 데이터와 Seurat의 공식 함수를 사용하되, 구조 확인과 검증 습관을 그대로 적용합니다.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12차시: 미니 프로젝트 — 전사체 형태의 데이터 분석</dc:title>
  <dc:creator/>
  <cp:keywords/>
  <dcterms:created xsi:type="dcterms:W3CDTF">2026-07-12T13:13:17Z</dcterms:created>
  <dcterms:modified xsi:type="dcterms:W3CDTF">2026-07-12T13:13:17Z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