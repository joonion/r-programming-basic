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9144000"/>
  <p:defaultTextStyle>
    <a:defPPr>
      <a:defRPr lang="ko-KR"/>
    </a:defPPr>
    <a:lvl1pPr algn="l" defTabSz="914400" eaLnBrk="1" hangingPunct="1" latinLnBrk="1" marL="0" rtl="0">
      <a:defRPr altLang="en-US" b="1" kern="1200" lang="ko-KR" sz="3000">
        <a:solidFill>
          <a:srgbClr val="172033"/>
        </a:solidFill>
        <a:latin charset="-127" panose="02000503000000020004" pitchFamily="50" typeface="Pretendard"/>
        <a:ea charset="-127" panose="02000503000000020004" pitchFamily="50" typeface="Pretendard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howGuides="1" snapToGrid="0">
      <p:cViewPr varScale="1">
        <p:scale>
          <a:sx d="100" n="113"/>
          <a:sy d="100" n="113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8" Type="http://schemas.openxmlformats.org/officeDocument/2006/relationships/tableStyles" Target="tableStyles.xml" /><Relationship Id="rId57" Type="http://schemas.openxmlformats.org/officeDocument/2006/relationships/theme" Target="theme/theme1.xml" /><Relationship Id="rId56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4F62-B626-4C1A-9258-8B7A8512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DA06A-F964-4BA7-B1A0-476AFBA40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5EA77F-A944-4F90-A580-BFB1EBDD9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247731-8C16-48CE-83E8-82961F5A4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3EC76E-53A1-48FD-AAA5-91D55E1A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F5A436-622D-4609-9CAD-93F62FE9C071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035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2FCBBD-DFA9-4E92-A913-26CF9C16EE1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11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51DC66-B343-4339-8DFE-F337361B7142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24DEFA-F193-42BA-A7DC-72FAB0CB111A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18FC79-1AA4-44C2-AB13-4EE8FD5EB7E8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83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65F950-2413-4CE2-8BD0-18A4BBCD72E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C3D350-ADF5-46FD-87CE-C07683F6982B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862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0C25F-30DA-4EDD-8504-44DA909B4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E1EED7-4C61-4A08-AF5B-A390C60A0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6A1FF6-51FE-4685-BA34-E0F89D45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B3851C-0BE4-4E91-95F4-2EC266D69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3CBF9E-951B-4FF6-85E6-6601F238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492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E8392-3978-4394-BAB4-2437C15AD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74FF69-769F-4677-B82A-E232B25BA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2B5173-A205-47A2-953F-A236FB1D4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D21268-4ABF-4DE0-998A-28F7BFCD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EFEE9E-EDCD-4886-92ED-3796485C8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E14DB4-8F62-4CD7-8DD2-AD422C0C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B169FF-FAD7-46E0-9D59-C9B5BEB076DC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90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9F672-094E-482F-8FE2-0C0D8F2E0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AF80BD-BF78-49AF-BBBA-1A773DA2C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8D6527-B034-41A0-9FC9-C530962C8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5785AA-E40F-4E95-B834-2D7649E02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A75630-B532-4D2B-BA6E-233076F4A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05AF02-6B25-4BBC-9A62-947D98835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29AF57-1554-4883-A5C0-D2E35605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02C77D-EDE4-4302-857A-97BE6DADB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813AE4-CA38-49CC-83A5-DA570C2D152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571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C5B61-FD8F-4A03-8446-AFB1FC117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17F6E7-F469-4E45-A7CA-18C4220B7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81412A-6E99-4D2F-8564-CCE9309E2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B49B12-B58B-42B1-9FC8-0F11E70ED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9F98D1-EC0F-4996-8D0E-19D80403D7F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938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3DAFDE-3EF4-4BC2-8C6E-53A0DCBB0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806864-590A-497A-9E3B-31220A83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AE52D8-EF8D-4B38-BAE5-100369F3A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789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6CAC9-BDCF-454F-B4EB-26821C0A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F85D79-8D84-4463-A554-36DA89022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A32173-BE5A-4386-B8FC-0DD3565F6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D7BBE8-F04D-4F20-A998-2847A7EC3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091599-E0C3-4951-800C-0FA8BF5CD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D06458-41C2-4B2E-9AF2-A62CE366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9F72F4-84F2-4B08-8B7A-396EE76DDF2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782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8A6E4-6940-49AF-8B5F-9B16DB004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AFC852-B328-4179-BC85-EB34AC8CD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BD367B-5A0C-4ADF-98EF-314F244CC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903147-4754-4023-8B77-20EB33E5B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DDB5D-EDEB-4E99-BA69-F1F76F275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872CF2-966E-422A-927F-3BD6A6E5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E2E2F7-28CA-4288-94F5-8E25DCD2A45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64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E92E6-4E61-4E2B-9F4F-D23641A2E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576B3A-9062-444C-9C47-61FA4351C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1A3954-5D36-48F6-87B1-16A84AB4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A0FE3E-5C3F-4A6C-952A-7C8CB744F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068D49-B037-4EA4-BE8F-2516D300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5064922-4160-4D2C-A562-270D09593F3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581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C94EABC-274E-4BAD-AB22-188F885A3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7306ED-34B5-4464-AFBE-9E25FC9A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C654F-F2FA-42D5-8AC8-4073F8FB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31A3EE-B6E8-4AF1-9041-45D44926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645F18-B2AB-45F4-8642-885F2B8A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5F32C9-BBE2-4217-A3E2-DE5FC68F326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58779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61F8DA-C043-4CD7-86F2-E1A0EF4CB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ko-KR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14F0DF-8367-4CE4-BFB7-B09F18D1638C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ko-KR"/>
              <a:t>마스터 텍스트 스타일을 편집하려면 클릭</a:t>
            </a:r>
          </a:p>
          <a:p>
            <a:pPr lvl="1"/>
            <a:r>
              <a:rPr altLang="en-US" lang="ko-KR"/>
              <a:t>두 번째 수준</a:t>
            </a:r>
          </a:p>
          <a:p>
            <a:pPr lvl="2"/>
            <a:r>
              <a:rPr altLang="en-US" lang="ko-KR"/>
              <a:t>세 번째 수준</a:t>
            </a:r>
          </a:p>
          <a:p>
            <a:pPr lvl="3"/>
            <a:r>
              <a:rPr altLang="en-US" lang="ko-KR"/>
              <a:t>네 번째 수준</a:t>
            </a:r>
          </a:p>
          <a:p>
            <a:pPr lvl="4"/>
            <a:r>
              <a:rPr altLang="en-US" lang="ko-KR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183F21-A1A8-463E-86D3-0CFB7A05EF38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fld id="{2696ECB5-D1DE-4FA4-9CD7-1650D2029999}" type="datetimeFigureOut">
              <a:rPr altLang="ko-KR" lang="en-US" smtClean="0">
                <a:ea charset="0" panose="02000503000000020004" pitchFamily="2" typeface="Inter"/>
              </a:rPr>
              <a:pPr/>
              <a:t>2026-07-12</a:t>
            </a:fld>
            <a:endParaRPr altLang="ko-KR" lang="en-US">
              <a:ea charset="0" panose="02000503000000020004" pitchFamily="2" typeface="Inter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0C5B5C-65C9-4D66-BC46-FDE4016F57B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endParaRPr altLang="en-US" 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2730EB-AE08-4C4E-A274-945B51E99D4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fld id="{812DBD89-BD24-4FCE-906C-9138E5983130}" type="slidenum">
              <a:rPr altLang="ko-KR" lang="en-US" smtClean="0">
                <a:ea charset="0" panose="02000503000000020004" pitchFamily="2" typeface="Inter"/>
              </a:rPr>
              <a:pPr/>
              <a:t>‹#›</a:t>
            </a:fld>
            <a:endParaRPr altLang="ko-KR" lang="en-US">
              <a:ea charset="0" panose="02000503000000020004" pitchFamily="2"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39533195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eaLnBrk="1" hangingPunct="1" latinLnBrk="1" rtl="0">
        <a:lnSpc>
          <a:spcPct val="108000"/>
        </a:lnSpc>
        <a:spcBef>
          <a:spcPct val="0"/>
        </a:spcBef>
        <a:spcAft>
          <a:spcPts val="700"/>
        </a:spcAft>
        <a:buNone/>
        <a:defRPr b="0" kern="1200" sz="20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4F62-B626-4C1A-9258-8B7A8512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12차시: 미니 프로젝트 — 전사체 형태의 데이터 분석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DA06A-F964-4BA7-B1A0-476AFBA404D1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 기초 프로그래밍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메타데이터와 유전자 발현 데이터를 불러와 구조와 품질을 점검할 수 있다.</a:t>
            </a:r>
          </a:p>
          <a:p>
            <a:pPr lvl="0" indent="-457200" marL="457200">
              <a:buAutoNum type="arabicPeriod"/>
            </a:pPr>
            <a:r>
              <a:rPr/>
              <a:t>샘플 순서를 검증하고 QC 조건에 맞는 샘플을 선택할 수 있다.</a:t>
            </a:r>
          </a:p>
          <a:p>
            <a:pPr lvl="0" indent="-457200" marL="457200">
              <a:buAutoNum type="arabicPeriod"/>
            </a:pPr>
            <a:r>
              <a:rPr/>
              <a:t>실험 조건별 유전자 발현을 요약하고 기본 그래프로 표현할 수 있다.</a:t>
            </a:r>
          </a:p>
          <a:p>
            <a:pPr lvl="0" indent="-457200" marL="457200">
              <a:buAutoNum type="arabicPeriod"/>
            </a:pPr>
            <a:r>
              <a:rPr/>
              <a:t>분석 결과와 설정값을 CSV, PNG, RDS 파일로 정리할 수 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지금까지 배운 내용을 연결한다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사용하는 내용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데이터 불러오기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상대 경로, </a:t>
                      </a:r>
                      <a:r>
                        <a:rPr>
                          <a:latin typeface="Courier"/>
                        </a:rPr>
                        <a:t>read.csv()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품질 점검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str()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summary()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is.na()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duplicated()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샘플 선택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비교·논리 연산자, 데이터 프레임 인덱싱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계산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함수, 벡터화 연산, 그룹별 요약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시각화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막대그래프, 상자그림, 산점도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결과 정리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리스트, CSV, PNG, RDS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프로젝트 질문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 프로젝트에서는 다음 질문에 답합니다.</a:t>
            </a:r>
          </a:p>
          <a:p>
            <a:pPr lvl="0" indent="-457200" marL="457200">
              <a:buAutoNum type="arabicPeriod"/>
            </a:pPr>
            <a:r>
              <a:rPr/>
              <a:t>분석 기준을 만족하는 샘플은 무엇인가?</a:t>
            </a:r>
          </a:p>
          <a:p>
            <a:pPr lvl="0" indent="-457200" marL="457200">
              <a:buAutoNum type="arabicPeriod"/>
            </a:pPr>
            <a:r>
              <a:rPr/>
              <a:t>control과 treated에 분석 가능한 샘플이 각각 몇 개 있는가?</a:t>
            </a:r>
          </a:p>
          <a:p>
            <a:pPr lvl="0" indent="-457200" marL="457200">
              <a:buAutoNum type="arabicPeriod"/>
            </a:pPr>
            <a:r>
              <a:rPr/>
              <a:t>각 유전자의 조건별 평균 발현량은 얼마인가?</a:t>
            </a:r>
          </a:p>
          <a:p>
            <a:pPr lvl="0" indent="-457200" marL="457200">
              <a:buAutoNum type="arabicPeriod"/>
            </a:pPr>
            <a:r>
              <a:rPr/>
              <a:t>조건 간 평균 발현 차이가 큰 유전자는 무엇인가?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사용하는 데이터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data/
├─ sample_metadata.csv
└─ gene_expression.csv</a:t>
            </a:r>
          </a:p>
          <a:p>
            <a:pPr lvl="0"/>
            <a:r>
              <a:rPr>
                <a:latin typeface="Courier"/>
              </a:rPr>
              <a:t>sample_metadata.csv</a:t>
            </a:r>
            <a:r>
              <a:rPr/>
              <a:t>: 샘플별 조건과 QC 지표</a:t>
            </a:r>
          </a:p>
          <a:p>
            <a:pPr lvl="0"/>
            <a:r>
              <a:rPr>
                <a:latin typeface="Courier"/>
              </a:rPr>
              <a:t>gene_expression.csv</a:t>
            </a:r>
            <a:r>
              <a:rPr/>
              <a:t>: 유전자별 샘플 발현량</a:t>
            </a:r>
          </a:p>
          <a:p>
            <a:pPr lvl="0"/>
            <a:r>
              <a:rPr/>
              <a:t>두 파일 모두 수업용으로 만든 합성 데이터입니다.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샘플 메타데이터의 구조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의미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한 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한 샘플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주요 열:</a:t>
            </a:r>
          </a:p>
          <a:p>
            <a:pPr lvl="0"/>
            <a:r>
              <a:rPr>
                <a:latin typeface="Courier"/>
              </a:rPr>
              <a:t>sample_id</a:t>
            </a:r>
            <a:r>
              <a:rPr/>
              <a:t>, </a:t>
            </a:r>
            <a:r>
              <a:rPr>
                <a:latin typeface="Courier"/>
              </a:rPr>
              <a:t>condition</a:t>
            </a:r>
            <a:r>
              <a:rPr/>
              <a:t>, </a:t>
            </a:r>
            <a:r>
              <a:rPr>
                <a:latin typeface="Courier"/>
              </a:rPr>
              <a:t>batch</a:t>
            </a:r>
          </a:p>
          <a:p>
            <a:pPr lvl="0"/>
            <a:r>
              <a:rPr>
                <a:latin typeface="Courier"/>
              </a:rPr>
              <a:t>cell_count</a:t>
            </a:r>
            <a:r>
              <a:rPr/>
              <a:t>, </a:t>
            </a:r>
            <a:r>
              <a:rPr>
                <a:latin typeface="Courier"/>
              </a:rPr>
              <a:t>median_genes</a:t>
            </a:r>
            <a:r>
              <a:rPr/>
              <a:t>, </a:t>
            </a:r>
            <a:r>
              <a:rPr>
                <a:latin typeface="Courier"/>
              </a:rPr>
              <a:t>mito_percent</a:t>
            </a:r>
          </a:p>
          <a:p>
            <a:pPr lvl="0"/>
            <a:r>
              <a:rPr>
                <a:latin typeface="Courier"/>
              </a:rPr>
              <a:t>doublet_rate</a:t>
            </a:r>
            <a:r>
              <a:rPr/>
              <a:t>, </a:t>
            </a:r>
            <a:r>
              <a:rPr>
                <a:latin typeface="Courier"/>
              </a:rPr>
              <a:t>passed_qc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유전자 발현표의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gene_id,control_1,control_2,...,treated_3
MS4A1,52,48,...,24
CD3D,18,20,...,64</a:t>
            </a:r>
          </a:p>
          <a:p>
            <a:pPr lvl="0"/>
            <a:r>
              <a:rPr/>
              <a:t>한 행은 유전자 하나입니다.</a:t>
            </a:r>
          </a:p>
          <a:p>
            <a:pPr lvl="0"/>
            <a:r>
              <a:rPr>
                <a:latin typeface="Courier"/>
              </a:rPr>
              <a:t>gene_id</a:t>
            </a:r>
            <a:r>
              <a:rPr/>
              <a:t>를 제외한 각 열은 샘플 하나입니다.</a:t>
            </a:r>
          </a:p>
          <a:p>
            <a:pPr lvl="0"/>
            <a:r>
              <a:rPr/>
              <a:t>각 셀에는 교육용 발현량이 들어 있습니다.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프로젝트 분석 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1. 파일 확인 및 불러오기
2. 구조·결측값·중복 점검
3. 두 파일의 샘플 정렬 검증
4. QC 조건 생성 및 샘플 선택
5. 조건별 평균 발현 계산
6. 요약표와 그래프 작성
7. 결과 저장 및 읽기 검증</a:t>
            </a:r>
          </a:p>
          <a:p>
            <a:pPr lvl="0" indent="0" marL="0">
              <a:buNone/>
            </a:pPr>
            <a:r>
              <a:rPr/>
              <a:t>각 단계의 결과를 확인한 뒤 다음 단계로 이동합니다.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1단계: 입력 파일 경로를 지정한다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metadata_path &lt;- </a:t>
            </a:r>
            <a:r>
              <a:rPr>
                <a:solidFill>
                  <a:srgbClr val="20794D"/>
                </a:solidFill>
                <a:latin typeface="Courier"/>
              </a:rPr>
              <a:t>"data/sample_metadata.csv"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expression_path &lt;- </a:t>
            </a:r>
            <a:r>
              <a:rPr>
                <a:solidFill>
                  <a:srgbClr val="20794D"/>
                </a:solidFill>
                <a:latin typeface="Courier"/>
              </a:rPr>
              <a:t>"data/gene_expression.csv"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file.exists</a:t>
            </a:r>
            <a:r>
              <a:rPr>
                <a:solidFill>
                  <a:srgbClr val="003B4F"/>
                </a:solidFill>
                <a:latin typeface="Courier"/>
              </a:rPr>
              <a:t>(metadata_path)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file.exists</a:t>
            </a:r>
            <a:r>
              <a:rPr>
                <a:solidFill>
                  <a:srgbClr val="003B4F"/>
                </a:solidFill>
                <a:latin typeface="Courier"/>
              </a:rPr>
              <a:t>(expression_path)</a:t>
            </a:r>
          </a:p>
          <a:p>
            <a:pPr lvl="0" indent="0" marL="0">
              <a:buNone/>
            </a:pPr>
            <a:r>
              <a:rPr/>
              <a:t>두 결과가 모두 </a:t>
            </a:r>
            <a:r>
              <a:rPr>
                <a:latin typeface="Courier"/>
              </a:rPr>
              <a:t>TRUE</a:t>
            </a:r>
            <a:r>
              <a:rPr/>
              <a:t>인지 확인합니다.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두 CSV 파일을 불러온다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sample_metadata &lt;- </a:t>
            </a:r>
            <a:r>
              <a:rPr>
                <a:solidFill>
                  <a:srgbClr val="4758AB"/>
                </a:solidFill>
                <a:latin typeface="Courier"/>
              </a:rPr>
              <a:t>read.csv</a:t>
            </a:r>
            <a:r>
              <a:rPr>
                <a:solidFill>
                  <a:srgbClr val="003B4F"/>
                </a:solidFill>
                <a:latin typeface="Courier"/>
              </a:rPr>
              <a:t>(metadata_path)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gene_expression &lt;- </a:t>
            </a:r>
            <a:r>
              <a:rPr>
                <a:solidFill>
                  <a:srgbClr val="4758AB"/>
                </a:solidFill>
                <a:latin typeface="Courier"/>
              </a:rPr>
              <a:t>read.csv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expression_path,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check.names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check.names = FALSE</a:t>
            </a:r>
            <a:r>
              <a:rPr/>
              <a:t>는 CSV에 기록된 샘플 열 이름을 그대로 유지합니다.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불러온 직후 일부 행을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(gene_expression)</a:t>
            </a:r>
          </a:p>
          <a:p>
            <a:pPr lvl="0" indent="0" marL="0">
              <a:buNone/>
            </a:pPr>
            <a:r>
              <a:rPr/>
              <a:t>확인할 사항:</a:t>
            </a:r>
          </a:p>
          <a:p>
            <a:pPr lvl="0"/>
            <a:r>
              <a:rPr/>
              <a:t>예상한 파일이 맞는가?</a:t>
            </a:r>
          </a:p>
          <a:p>
            <a:pPr lvl="0"/>
            <a:r>
              <a:rPr/>
              <a:t>첫 행이 열 이름으로 처리됐는가?</a:t>
            </a:r>
          </a:p>
          <a:p>
            <a:pPr lvl="0"/>
            <a:r>
              <a:rPr/>
              <a:t>값이 여러 열로 올바르게 나뉘었는가?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2단계: 데이터 크기를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(gene_expression)</a:t>
            </a:r>
          </a:p>
          <a:p>
            <a:pPr lvl="0"/>
            <a:r>
              <a:rPr/>
              <a:t>메타데이터 행 수는 샘플 수입니다.</a:t>
            </a:r>
          </a:p>
          <a:p>
            <a:pPr lvl="0"/>
            <a:r>
              <a:rPr/>
              <a:t>발현표 행 수는 유전자 수입니다.</a:t>
            </a:r>
          </a:p>
          <a:p>
            <a:pPr lvl="0"/>
            <a:r>
              <a:rPr/>
              <a:t>발현표 열 수는 </a:t>
            </a:r>
            <a:r>
              <a:rPr>
                <a:latin typeface="Courier"/>
              </a:rPr>
              <a:t>gene_id</a:t>
            </a:r>
            <a:r>
              <a:rPr/>
              <a:t> 열과 샘플 열을 합한 수입니다.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열 이름과 자료형을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(gene_expression)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(gene_expression)</a:t>
            </a:r>
          </a:p>
          <a:p>
            <a:pPr lvl="0" indent="0" marL="0">
              <a:buNone/>
            </a:pPr>
            <a:r>
              <a:rPr/>
              <a:t>발현량 열이 숫자형으로 불러와졌는지 확인합니다.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결측값 개수를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colSums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(sample_metadata))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colSums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(gene_expression))</a:t>
            </a:r>
          </a:p>
          <a:p>
            <a:pPr lvl="0"/>
            <a:r>
              <a:rPr/>
              <a:t>메타데이터의 </a:t>
            </a:r>
            <a:r>
              <a:rPr>
                <a:latin typeface="Courier"/>
              </a:rPr>
              <a:t>doublet_rate</a:t>
            </a:r>
            <a:r>
              <a:rPr/>
              <a:t>에는 의도적인 결측값이 하나 있습니다.</a:t>
            </a:r>
          </a:p>
          <a:p>
            <a:pPr lvl="0"/>
            <a:r>
              <a:rPr/>
              <a:t>발현표에는 결측값이 없어야 합니다.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중복 식별자를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any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duplicated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sample_id))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any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duplicated</a:t>
            </a:r>
            <a:r>
              <a:rPr>
                <a:solidFill>
                  <a:srgbClr val="003B4F"/>
                </a:solidFill>
                <a:latin typeface="Courier"/>
              </a:rPr>
              <a:t>(gene_expression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gene_id))</a:t>
            </a:r>
          </a:p>
          <a:p>
            <a:pPr lvl="0" indent="0" marL="0">
              <a:buNone/>
            </a:pPr>
            <a:r>
              <a:rPr/>
              <a:t>샘플 ID와 유전자 ID는 각각 고유해야 합니다.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숫자형 값의 범위를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(gene_expression[,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])</a:t>
            </a:r>
          </a:p>
          <a:p>
            <a:pPr lvl="0" indent="0" marL="0">
              <a:buNone/>
            </a:pPr>
            <a:r>
              <a:rPr/>
              <a:t>음수 발현량이나 예상 밖의 QC 값이 없는지 살펴봅니다.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3단계: 두 파일의 샘플 이름을 추출한다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metadata_sample_ids &lt;-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sample_id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expression_sample_ids &lt;- </a:t>
            </a:r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(gene_expression)[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metadata_sample_ids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expression_sample_ids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-1</a:t>
            </a:r>
            <a:r>
              <a:rPr/>
              <a:t>은 첫 번째 </a:t>
            </a:r>
            <a:r>
              <a:rPr>
                <a:latin typeface="Courier"/>
              </a:rPr>
              <a:t>gene_id</a:t>
            </a:r>
            <a:r>
              <a:rPr/>
              <a:t> 열을 제외합니다.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샘플 이름과 순서가 모두 같은지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identical</a:t>
            </a:r>
            <a:r>
              <a:rPr>
                <a:solidFill>
                  <a:srgbClr val="003B4F"/>
                </a:solidFill>
                <a:latin typeface="Courier"/>
              </a:rPr>
              <a:t>(metadata_sample_ids, expression_sample_ids)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TRUE</a:t>
            </a:r>
            <a:r>
              <a:rPr/>
              <a:t>여야 각 샘플의 메타데이터와 발현량이 같은 순서로 대응합니다.</a:t>
            </a:r>
          </a:p>
          <a:p>
            <a:pPr lvl="0" indent="0" marL="1270000">
              <a:buNone/>
            </a:pPr>
            <a:r>
              <a:rPr sz="2000"/>
              <a:t>이름 집합만 같아도 순서가 다르면 잘못된 샘플끼리 연결될 수 있습니다.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샘플 정렬 검증은 분석 전에 수행한다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stopifnot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identical</a:t>
            </a:r>
            <a:r>
              <a:rPr>
                <a:solidFill>
                  <a:srgbClr val="003B4F"/>
                </a:solidFill>
                <a:latin typeface="Courier"/>
              </a:rPr>
              <a:t>(metadata_sample_ids, expression_sample_ids)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/>
              <a:t>조건이 </a:t>
            </a:r>
            <a:r>
              <a:rPr>
                <a:latin typeface="Courier"/>
              </a:rPr>
              <a:t>TRUE</a:t>
            </a:r>
            <a:r>
              <a:rPr/>
              <a:t>이면 분석을 계속합니다.</a:t>
            </a:r>
          </a:p>
          <a:p>
            <a:pPr lvl="0"/>
            <a:r>
              <a:rPr>
                <a:latin typeface="Courier"/>
              </a:rPr>
              <a:t>FALSE</a:t>
            </a:r>
            <a:r>
              <a:rPr/>
              <a:t>이면 실행을 중단하고 두 파일의 이름과 순서를 수정합니다.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4단계: QC 기준을 명시한다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qc_parameters &lt;-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min_cells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min_genes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max_mito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max_doublet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설정값을 리스트에 모으면 어떤 기준을 사용했는지 기록하기 쉽습니다.</a:t>
            </a:r>
          </a:p>
          <a:p>
            <a:pPr lvl="0" indent="0" marL="1270000">
              <a:buNone/>
            </a:pPr>
            <a:r>
              <a:rPr sz="2000"/>
              <a:t>이 수치는 R 프로젝트 연습을 위한 예시이며 실제 분석 기준이 아닙니다.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결측값이 없는 doublet 조건을 만든다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known_doublet_rate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doublet_rate)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low_doublet_rate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doublet_rate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qc_parameters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max_doublet</a:t>
            </a:r>
          </a:p>
          <a:p>
            <a:pPr lvl="0" indent="0" marL="0">
              <a:buNone/>
            </a:pPr>
            <a:r>
              <a:rPr/>
              <a:t>결측값을 먼저 확인하고 기준과 비교합니다.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모든 QC 조건을 결합한다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qc_condition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passed_qc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qc_parameters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min_cells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median_genes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qc_parameters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min_genes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mito_percent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qc_parameters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max_mito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known_doublet_rate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low_doublet_rate</a:t>
            </a:r>
          </a:p>
          <a:p>
            <a:pPr lvl="0" indent="0" marL="0">
              <a:buNone/>
            </a:pPr>
            <a:r>
              <a:rPr/>
              <a:t>각 행에 대해 모든 조건이 참이어야 </a:t>
            </a:r>
            <a:r>
              <a:rPr>
                <a:latin typeface="Courier"/>
              </a:rPr>
              <a:t>TRUE</a:t>
            </a:r>
            <a:r>
              <a:rPr/>
              <a:t>입니다.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QC 결과를 메타데이터에 추가한다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qc_result &lt;- qc_condition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qc_label &lt;- </a:t>
            </a:r>
            <a:r>
              <a:rPr>
                <a:solidFill>
                  <a:srgbClr val="4758AB"/>
                </a:solidFill>
                <a:latin typeface="Courier"/>
              </a:rPr>
              <a:t>ifelse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qc_condition,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"pass"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"review"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sample_metadata[,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"sample_id"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"condition"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"qc_label"</a:t>
            </a:r>
            <a:r>
              <a:rPr>
                <a:solidFill>
                  <a:srgbClr val="003B4F"/>
                </a:solidFill>
                <a:latin typeface="Courier"/>
              </a:rPr>
              <a:t>)]</a:t>
            </a:r>
          </a:p>
          <a:p>
            <a:pPr lvl="0" indent="0" marL="0">
              <a:buNone/>
            </a:pPr>
            <a:r>
              <a:rPr/>
              <a:t>원본 QC 지표와 새 판정 결과를 함께 확인합니다.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QC 통과 샘플을 선택한다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analysis_metadata &lt;- sample_metadata[qc_condition, 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analysis_metadata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analysis_sample_ids &lt;- analysis_metadata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sample_id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analysis_sample_ids</a:t>
            </a:r>
          </a:p>
          <a:p>
            <a:pPr lvl="0" indent="0" marL="0">
              <a:buNone/>
            </a:pPr>
            <a:r>
              <a:rPr/>
              <a:t>선택 결과의 행 수와 샘플 이름을 확인합니다.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조건별 분석 샘플 수를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analysis_condition_counts &lt;- </a:t>
            </a:r>
            <a:r>
              <a:rPr>
                <a:solidFill>
                  <a:srgbClr val="4758AB"/>
                </a:solidFill>
                <a:latin typeface="Courier"/>
              </a:rPr>
              <a:t>table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analysis_metadata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analysis_condition_counts</a:t>
            </a:r>
          </a:p>
          <a:p>
            <a:pPr lvl="0" indent="0" marL="0">
              <a:buNone/>
            </a:pPr>
            <a:r>
              <a:rPr/>
              <a:t>두 조건에 분석 가능한 샘플이 있는지 확인합니다.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발현표에서도 같은 샘플 열을 선택한다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analysis_expression &lt;- gene_expression[,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"gene_id"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analysis_sample_ids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)]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analysis_expression</a:t>
            </a:r>
          </a:p>
          <a:p>
            <a:pPr lvl="0" indent="0" marL="0">
              <a:buNone/>
            </a:pPr>
            <a:r>
              <a:rPr/>
              <a:t>메타데이터에서 통과한 샘플 ID를 발현표의 열 이름으로 사용합니다.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선택한 두 객체의 대응을 다시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identical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analysis_metadata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sample_id,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(analysis_expression)[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필터링 이후에도 샘플 이름과 순서가 같아야 합니다.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5단계: 조건별 샘플 ID를 만든다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control_ids &lt;- analysis_metadata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sample_id[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analysis_metadata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treated_ids &lt;- analysis_metadata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sample_id[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analysis_metadata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 marL="0">
              <a:buNone/>
            </a:pPr>
            <a:r>
              <a:rPr/>
              <a:t>각 조건에 해당하는 발현표 열 이름을 얻습니다.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조건별 발현값을 선택한다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control_expression &lt;- analysis_expression[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, control_ids, drop =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treated_expression &lt;- analysis_expression[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, treated_ids, drop =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drop = FALSE</a:t>
            </a:r>
            <a:r>
              <a:rPr/>
              <a:t>는 샘플이 하나뿐이어도 데이터 프레임 형태를 유지합니다.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rowMeans()</a:t>
            </a:r>
            <a:r>
              <a:rPr/>
              <a:t>로 유전자별 평균을 계산한다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control_mean &lt;- </a:t>
            </a:r>
            <a:r>
              <a:rPr>
                <a:solidFill>
                  <a:srgbClr val="4758AB"/>
                </a:solidFill>
                <a:latin typeface="Courier"/>
              </a:rPr>
              <a:t>rowMeans</a:t>
            </a:r>
            <a:r>
              <a:rPr>
                <a:solidFill>
                  <a:srgbClr val="003B4F"/>
                </a:solidFill>
                <a:latin typeface="Courier"/>
              </a:rPr>
              <a:t>(control_expression)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treated_mean &lt;- </a:t>
            </a:r>
            <a:r>
              <a:rPr>
                <a:solidFill>
                  <a:srgbClr val="4758AB"/>
                </a:solidFill>
                <a:latin typeface="Courier"/>
              </a:rPr>
              <a:t>rowMeans</a:t>
            </a:r>
            <a:r>
              <a:rPr>
                <a:solidFill>
                  <a:srgbClr val="003B4F"/>
                </a:solidFill>
                <a:latin typeface="Courier"/>
              </a:rPr>
              <a:t>(treated_expression)</a:t>
            </a:r>
          </a:p>
          <a:p>
            <a:pPr lvl="0"/>
            <a:r>
              <a:rPr/>
              <a:t>각 행은 유전자 하나입니다.</a:t>
            </a:r>
          </a:p>
          <a:p>
            <a:pPr lvl="0"/>
            <a:r>
              <a:rPr>
                <a:latin typeface="Courier"/>
              </a:rPr>
              <a:t>rowMeans()</a:t>
            </a:r>
            <a:r>
              <a:rPr/>
              <a:t>는 행마다 여러 샘플 값의 평균을 계산합니다.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유전자별 요약표를 만든다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gene_summary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gene_id =</a:t>
            </a:r>
            <a:r>
              <a:rPr>
                <a:solidFill>
                  <a:srgbClr val="003B4F"/>
                </a:solidFill>
                <a:latin typeface="Courier"/>
              </a:rPr>
              <a:t> analysis_expression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gene_id,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control_mean =</a:t>
            </a:r>
            <a:r>
              <a:rPr>
                <a:solidFill>
                  <a:srgbClr val="003B4F"/>
                </a:solidFill>
                <a:latin typeface="Courier"/>
              </a:rPr>
              <a:t> control_mean,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treated_mean =</a:t>
            </a:r>
            <a:r>
              <a:rPr>
                <a:solidFill>
                  <a:srgbClr val="003B4F"/>
                </a:solidFill>
                <a:latin typeface="Courier"/>
              </a:rPr>
              <a:t> treated_mean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gene_summary</a:t>
            </a:r>
          </a:p>
          <a:p>
            <a:pPr lvl="0" indent="0" marL="0">
              <a:buNone/>
            </a:pPr>
            <a:r>
              <a:rPr/>
              <a:t>한 행에 한 유전자의 조건별 평균을 정리합니다.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조건 간 평균 차이를 계산한다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gene_summary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difference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gene_summary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treated_mean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gene_summary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control_mean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gene_summary</a:t>
            </a:r>
          </a:p>
          <a:p>
            <a:pPr lvl="0"/>
            <a:r>
              <a:rPr/>
              <a:t>양수: treated 평균이 더 큼</a:t>
            </a:r>
          </a:p>
          <a:p>
            <a:pPr lvl="0"/>
            <a:r>
              <a:rPr/>
              <a:t>음수: control 평균이 더 큼</a:t>
            </a:r>
          </a:p>
          <a:p>
            <a:pPr lvl="0"/>
            <a:r>
              <a:rPr/>
              <a:t>이 값만으로 통계적 유의성이나 생물학적 중요성을 판단할 수는 없습니다.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절댓값 차이가 큰 순서로 정렬한다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gene_order &lt;- </a:t>
            </a:r>
            <a:r>
              <a:rPr>
                <a:solidFill>
                  <a:srgbClr val="4758AB"/>
                </a:solidFill>
                <a:latin typeface="Courier"/>
              </a:rPr>
              <a:t>order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abs</a:t>
            </a:r>
            <a:r>
              <a:rPr>
                <a:solidFill>
                  <a:srgbClr val="003B4F"/>
                </a:solidFill>
                <a:latin typeface="Courier"/>
              </a:rPr>
              <a:t>(gene_summary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difference),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decreasing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gene_summary_sorted &lt;- gene_summary[gene_order, 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gene_summary_sorted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order()</a:t>
            </a:r>
            <a:r>
              <a:rPr/>
              <a:t>는 값을 정렬할 행 위치를 반환합니다.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 프로젝트의 발현 비교 한계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교육용 합성 데이터입니다.</a:t>
            </a:r>
          </a:p>
          <a:p>
            <a:pPr lvl="0"/>
            <a:r>
              <a:rPr/>
              <a:t>샘플 수와 유전자 수가 매우 적습니다.</a:t>
            </a:r>
          </a:p>
          <a:p>
            <a:pPr lvl="0"/>
            <a:r>
              <a:rPr/>
              <a:t>정규화, 배치 보정, 분산 추정, 통계 검정을 수행하지 않았습니다.</a:t>
            </a:r>
          </a:p>
          <a:p>
            <a:pPr lvl="0"/>
            <a:r>
              <a:rPr/>
              <a:t>평균 차이는 실제 차등 발현 분석 결과가 아닙니다.</a:t>
            </a:r>
          </a:p>
          <a:p>
            <a:pPr lvl="0" indent="0" marL="0">
              <a:buNone/>
            </a:pPr>
            <a:r>
              <a:rPr/>
              <a:t>이 프로젝트의 목적은 R 분석 흐름을 연결하는 것입니다.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6단계: QC 결과를 막대그래프로 표시한다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barplot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analysis_condition_counts,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"조건별 QC 통과 샘플 수"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xlab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"실험 조건"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ylab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"샘플 수"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"#4472C4"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"#ED7D31"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각 조건에 최종 분석 샘플이 몇 개 있는지 보여 줍니다.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QC 지표를 조건별 상자그림으로 비교한다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cell_count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condition,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sample_metadata,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"실험 조건별 세포 수"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xlab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"실험 조건"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ylab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"세포 수"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"#4472C4"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"#ED7D31"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표본 수가 적으므로 분포 차이를 단정하지 않습니다.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선택한 유전자의 조건별 평균을 표시한다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selected_gene &lt;- </a:t>
            </a:r>
            <a:r>
              <a:rPr>
                <a:solidFill>
                  <a:srgbClr val="20794D"/>
                </a:solidFill>
                <a:latin typeface="Courier"/>
              </a:rPr>
              <a:t>"CD3D"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selected_row &lt;- gene_summary[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gene_summary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gene_id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selected_gene,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selected_means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control =</a:t>
            </a:r>
            <a:r>
              <a:rPr>
                <a:solidFill>
                  <a:srgbClr val="003B4F"/>
                </a:solidFill>
                <a:latin typeface="Courier"/>
              </a:rPr>
              <a:t> selected_row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control_mean,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treated =</a:t>
            </a:r>
            <a:r>
              <a:rPr>
                <a:solidFill>
                  <a:srgbClr val="003B4F"/>
                </a:solidFill>
                <a:latin typeface="Courier"/>
              </a:rPr>
              <a:t> selected_row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treated_mean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유전자 평균 발현 막대그래프를 그린다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barplot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selected_means,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(selected_gene, </a:t>
            </a:r>
            <a:r>
              <a:rPr>
                <a:solidFill>
                  <a:srgbClr val="20794D"/>
                </a:solidFill>
                <a:latin typeface="Courier"/>
              </a:rPr>
              <a:t>"조건별 평균 발현량"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xlab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"실험 조건"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ylab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"평균 발현량"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"#4472C4"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"#ED7D31"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그래프 제목에 유전자 이름을 포함합니다.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QC 지표의 관계를 산점도로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point_colors &lt;- </a:t>
            </a:r>
            <a:r>
              <a:rPr>
                <a:solidFill>
                  <a:srgbClr val="4758AB"/>
                </a:solidFill>
                <a:latin typeface="Courier"/>
              </a:rPr>
              <a:t>ifelse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"#4472C4"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"#ED7D31"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median_genes,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"세포 수와 검출 유전자 수의 관계"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xlab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"세포 수"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ylab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"검출 유전자 수 중앙값"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pch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col =</a:t>
            </a:r>
            <a:r>
              <a:rPr>
                <a:solidFill>
                  <a:srgbClr val="003B4F"/>
                </a:solidFill>
                <a:latin typeface="Courier"/>
              </a:rPr>
              <a:t> point_colors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산점도에 범례를 추가한다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legend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"bottomright"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legend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"#4472C4"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"#ED7D31"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pch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색상의 의미를 그래프 안에서 설명합니다.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7단계: 결과 폴더를 준비한다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dir.create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"results"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showWarnings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원본 데이터가 있는 </a:t>
            </a:r>
            <a:r>
              <a:rPr>
                <a:latin typeface="Courier"/>
              </a:rPr>
              <a:t>data/</a:t>
            </a:r>
            <a:r>
              <a:rPr/>
              <a:t>와 분석 결과가 있는 </a:t>
            </a:r>
            <a:r>
              <a:rPr>
                <a:latin typeface="Courier"/>
              </a:rPr>
              <a:t>results/</a:t>
            </a:r>
            <a:r>
              <a:rPr/>
              <a:t>를 분리합니다.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메타데이터와 유전자 요약표를 저장한다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write.csv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analysis_metadata,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"results/project_analysis_metadata.csv"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row.names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write.csv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gene_summary_sorted,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"results/project_gene_summary.csv"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row.names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CSV는 사람이 확인하고 다른 프로그램과 공유하기 쉽습니다.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그래프를 PNG로 저장한다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png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"results/project_gene_expression.png"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res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barplot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selected_means,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(selected_gene, </a:t>
            </a:r>
            <a:r>
              <a:rPr>
                <a:solidFill>
                  <a:srgbClr val="20794D"/>
                </a:solidFill>
                <a:latin typeface="Courier"/>
              </a:rPr>
              <a:t>"조건별 평균 발현량"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xlab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"실험 조건"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ylab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"평균 발현량"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"#4472C4"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"#ED7D31"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dev.off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분석 전체를 리스트로 정리한다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project_result &lt;-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metadata =</a:t>
            </a:r>
            <a:r>
              <a:rPr>
                <a:solidFill>
                  <a:srgbClr val="003B4F"/>
                </a:solidFill>
                <a:latin typeface="Courier"/>
              </a:rPr>
              <a:t> analysis_metadata,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expression =</a:t>
            </a:r>
            <a:r>
              <a:rPr>
                <a:solidFill>
                  <a:srgbClr val="003B4F"/>
                </a:solidFill>
                <a:latin typeface="Courier"/>
              </a:rPr>
              <a:t> analysis_expression,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gene_summary =</a:t>
            </a:r>
            <a:r>
              <a:rPr>
                <a:solidFill>
                  <a:srgbClr val="003B4F"/>
                </a:solidFill>
                <a:latin typeface="Courier"/>
              </a:rPr>
              <a:t> gene_summary_sorted,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parameters =</a:t>
            </a:r>
            <a:r>
              <a:rPr>
                <a:solidFill>
                  <a:srgbClr val="003B4F"/>
                </a:solidFill>
                <a:latin typeface="Courier"/>
              </a:rPr>
              <a:t> qc_parameters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입력에서 선택된 데이터, 요약 결과, 사용 기준을 하나의 객체에 묶습니다.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프로젝트 객체를 RDS로 저장한다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saveRDS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project_result,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"results/transcriptomics_project.rds"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RDS는 리스트 내부의 데이터 프레임과 설정값 구조를 보존합니다.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저장 결과를 다시 읽어 검증한다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restored_project &lt;- </a:t>
            </a:r>
            <a:r>
              <a:rPr>
                <a:solidFill>
                  <a:srgbClr val="4758AB"/>
                </a:solidFill>
                <a:latin typeface="Courier"/>
              </a:rPr>
              <a:t>readRDS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"results/transcriptomics_project.rds"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identical</a:t>
            </a:r>
            <a:r>
              <a:rPr>
                <a:solidFill>
                  <a:srgbClr val="003B4F"/>
                </a:solidFill>
                <a:latin typeface="Courier"/>
              </a:rPr>
              <a:t>(project_result, restored_project)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(restored_project, </a:t>
            </a:r>
            <a:r>
              <a:rPr>
                <a:solidFill>
                  <a:srgbClr val="657422"/>
                </a:solidFill>
                <a:latin typeface="Courier"/>
              </a:rPr>
              <a:t>max.level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CSV와 PNG 파일도 실제로 열어 내용을 확인합니다.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재현 가능한 프로젝트가 갖춰야 할 것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입력 파일의 위치와 의미</a:t>
            </a:r>
          </a:p>
          <a:p>
            <a:pPr lvl="0"/>
            <a:r>
              <a:rPr/>
              <a:t>데이터 구조 및 품질 점검 코드</a:t>
            </a:r>
          </a:p>
          <a:p>
            <a:pPr lvl="0"/>
            <a:r>
              <a:rPr/>
              <a:t>선택 기준과 결측값 처리 방법</a:t>
            </a:r>
          </a:p>
          <a:p>
            <a:pPr lvl="0"/>
            <a:r>
              <a:rPr/>
              <a:t>요약과 그래프를 만드는 코드</a:t>
            </a:r>
          </a:p>
          <a:p>
            <a:pPr lvl="0"/>
            <a:r>
              <a:rPr/>
              <a:t>결과 파일과 실행 환경 정보</a:t>
            </a:r>
          </a:p>
          <a:p>
            <a:pPr lvl="0"/>
            <a:r>
              <a:rPr/>
              <a:t>결과의 한계와 해석 범위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결과를 설명할 때 과정과 한계를 함께 말한다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예시:</a:t>
            </a:r>
          </a:p>
          <a:p>
            <a:pPr lvl="0" indent="0" marL="1270000">
              <a:buNone/>
            </a:pPr>
            <a:r>
              <a:rPr sz="2000"/>
              <a:t>교육용 QC 기준을 적용해 분석 샘플을 선택하고, 조건별 유전자 평균 발현량을 계산했다. 이 데이터는 합성 자료이고 표본 수가 적으며 정규화와 통계 검정을 수행하지 않았으므로 실제 차등 발현 결과로 해석할 수 없다.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프로젝트 점검표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입력 파일이 존재하는가?</a:t>
            </a:r>
          </a:p>
          <a:p>
            <a:pPr lvl="0" indent="-457200" marL="457200">
              <a:buAutoNum type="arabicPeriod"/>
            </a:pPr>
            <a:r>
              <a:rPr/>
              <a:t>식별자에 결측값이나 중복이 없는가?</a:t>
            </a:r>
          </a:p>
          <a:p>
            <a:pPr lvl="0" indent="-457200" marL="457200">
              <a:buAutoNum type="arabicPeriod"/>
            </a:pPr>
            <a:r>
              <a:rPr/>
              <a:t>메타데이터와 발현표의 샘플 이름 및 순서가 같은가?</a:t>
            </a:r>
          </a:p>
          <a:p>
            <a:pPr lvl="0" indent="-457200" marL="457200">
              <a:buAutoNum type="arabicPeriod"/>
            </a:pPr>
            <a:r>
              <a:rPr/>
              <a:t>QC 기준과 결측값 처리 방법이 코드에 기록됐는가?</a:t>
            </a:r>
          </a:p>
          <a:p>
            <a:pPr lvl="0" indent="-457200" marL="457200">
              <a:buAutoNum type="arabicPeriod"/>
            </a:pPr>
            <a:r>
              <a:rPr/>
              <a:t>필터링 후 두 조건에 샘플이 남아 있는가?</a:t>
            </a:r>
          </a:p>
          <a:p>
            <a:pPr lvl="0" indent="-457200" marL="457200">
              <a:buAutoNum type="arabicPeriod"/>
            </a:pPr>
            <a:r>
              <a:rPr/>
              <a:t>CSV, PNG, RDS 결과를 다시 열어 확인했는가?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 완성한 분석 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불러오기 → 검증 → QC → 샘플 선택 →
조건별 발현 요약 → 시각화 → 저장 → 복원 검증</a:t>
            </a:r>
          </a:p>
          <a:p>
            <a:pPr lvl="0" indent="0" marL="0">
              <a:buNone/>
            </a:pPr>
            <a:r>
              <a:rPr/>
              <a:t>이 흐름은 실제 Seurat 분석에서도 입력과 함수는 달라지지만 기본 사고 과정으로 이어집니다.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과정 전체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 객체와 기본 자료형을 확인했습니다.</a:t>
            </a:r>
          </a:p>
          <a:p>
            <a:pPr lvl="0"/>
            <a:r>
              <a:rPr/>
              <a:t>벡터, 행렬, 데이터 프레임, 리스트를 사용했습니다.</a:t>
            </a:r>
          </a:p>
          <a:p>
            <a:pPr lvl="0"/>
            <a:r>
              <a:rPr/>
              <a:t>조건식, 반복, 함수로 분석 작업을 표현했습니다.</a:t>
            </a:r>
          </a:p>
          <a:p>
            <a:pPr lvl="0"/>
            <a:r>
              <a:rPr/>
              <a:t>데이터를 요약하고 그래프로 전달했습니다.</a:t>
            </a:r>
          </a:p>
          <a:p>
            <a:pPr lvl="0"/>
            <a:r>
              <a:rPr/>
              <a:t>상대 경로와 검증 단계를 사용해 재현 가능한 결과를 만들었습니다.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종료 점검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두 파일의 샘플 순서를 왜 확인해야 합니까?</a:t>
            </a:r>
          </a:p>
          <a:p>
            <a:pPr lvl="0" indent="-457200" marL="457200">
              <a:buAutoNum type="arabicPeriod"/>
            </a:pPr>
            <a:r>
              <a:rPr/>
              <a:t>QC 기준을 리스트에 저장하면 어떤 점이 좋습니까?</a:t>
            </a:r>
          </a:p>
          <a:p>
            <a:pPr lvl="0" indent="-457200" marL="457200">
              <a:buAutoNum type="arabicPeriod"/>
            </a:pPr>
            <a:r>
              <a:rPr>
                <a:latin typeface="Courier"/>
              </a:rPr>
              <a:t>rowMeans()</a:t>
            </a:r>
            <a:r>
              <a:rPr/>
              <a:t>는 발현표의 어느 방향으로 계산합니까?</a:t>
            </a:r>
          </a:p>
          <a:p>
            <a:pPr lvl="0" indent="-457200" marL="457200">
              <a:buAutoNum type="arabicPeriod"/>
            </a:pPr>
            <a:r>
              <a:rPr/>
              <a:t>이 프로젝트의 평균 발현 차이를 실제 차등 발현 결과로 해석할 수 없는 이유는 무엇입니까?</a:t>
            </a:r>
          </a:p>
          <a:p>
            <a:pPr lvl="0" indent="0" marL="0">
              <a:buNone/>
            </a:pPr>
            <a:r>
              <a:rPr b="1"/>
              <a:t>다음 단계:</a:t>
            </a:r>
            <a:r>
              <a:rPr/>
              <a:t> 실제 데이터와 Seurat의 공식 함수를 사용하되, 구조 확인과 검증 습관을 그대로 적용합니다.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Pretendard</vt:lpstr>
      <vt:lpstr>맑은 고딕</vt:lpstr>
      <vt:lpstr>Arial</vt:lpstr>
      <vt:lpstr>Inter</vt:lpstr>
      <vt:lpstr>JetBrains Mono</vt:lpstr>
      <vt:lpstr>Office 테마</vt:lpstr>
      <vt:lpstr>R Programming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12차시: 미니 프로젝트 — 전사체 형태의 데이터 분석</dc:title>
  <dc:creator/>
  <cp:keywords/>
  <dcterms:created xsi:type="dcterms:W3CDTF">2026-07-12T11:16:06Z</dcterms:created>
  <dcterms:modified xsi:type="dcterms:W3CDTF">2026-07-12T11:16:06Z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R 기초 프로그래밍</vt:lpwstr>
  </property>
  <property fmtid="{D5CDD505-2E9C-101B-9397-08002B2CF9AE}" pid="9" name="toc-title">
    <vt:lpwstr>목차</vt:lpwstr>
  </property>
</Properties>
</file>