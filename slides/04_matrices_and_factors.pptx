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Relationship Id="rId5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5EA77F-A944-4F90-A580-BFB1EBDD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247731-8C16-48CE-83E8-82961F5A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3EC76E-53A1-48FD-AAA5-91D55E1A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F5A436-622D-4609-9CAD-93F62FE9C071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035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2FCBBD-DFA9-4E92-A913-26CF9C16EE1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11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1DC66-B343-4339-8DFE-F337361B7142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24DEFA-F193-42BA-A7DC-72FAB0CB111A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18FC79-1AA4-44C2-AB13-4EE8FD5EB7E8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JetBrains Mono" panose="02000009000000000000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ADEE9-D4EA-4A02-8908-7CE7FA28F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F8BB1-DB9D-47B4-AC6B-6E959AF5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57BB9-73CC-4070-8281-5B07E9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65F950-2413-4CE2-8BD0-18A4BBCD72E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C3D350-ADF5-46FD-87CE-C07683F6982B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86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0C25F-30DA-4EDD-8504-44DA909B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E1EED7-4C61-4A08-AF5B-A390C60A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6A1FF6-51FE-4685-BA34-E0F89D45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3851C-0BE4-4E91-95F4-2EC266D6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CBF9E-951B-4FF6-85E6-6601F238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49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E8392-3978-4394-BAB4-2437C15A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4FF69-769F-4677-B82A-E232B25BA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B5173-A205-47A2-953F-A236FB1D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D21268-4ABF-4DE0-998A-28F7BFCD2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EFEE9E-EDCD-4886-92ED-3796485C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E14DB4-8F62-4CD7-8DD2-AD422C0C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B169FF-FAD7-46E0-9D59-C9B5BEB076DC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9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9F672-094E-482F-8FE2-0C0D8F2E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AF80BD-BF78-49AF-BBBA-1A773DA2C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8D6527-B034-41A0-9FC9-C530962C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5785AA-E40F-4E95-B834-2D7649E02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A75630-B532-4D2B-BA6E-233076F4A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5AF02-6B25-4BBC-9A62-947D9883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29AF57-1554-4883-A5C0-D2E35605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02C77D-EDE4-4302-857A-97BE6DAD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2813AE4-CA38-49CC-83A5-DA570C2D152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571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C5B61-FD8F-4A03-8446-AFB1FC1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17F6E7-F469-4E45-A7CA-18C4220B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81412A-6E99-4D2F-8564-CCE9309E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49B12-B58B-42B1-9FC8-0F11E70ED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9F98D1-EC0F-4996-8D0E-19D80403D7F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93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3DAFDE-3EF4-4BC2-8C6E-53A0DCBB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806864-590A-497A-9E3B-31220A83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E52D8-EF8D-4B38-BAE5-100369F3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78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85D79-8D84-4463-A554-36DA89022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D7BBE8-F04D-4F20-A998-2847A7EC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091599-E0C3-4951-800C-0FA8BF5C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06458-41C2-4B2E-9AF2-A62CE366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9F72F4-84F2-4B08-8B7A-396EE76DDF2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8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A6E4-6940-49AF-8B5F-9B16DB00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AFC852-B328-4179-BC85-EB34AC8CD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BD367B-5A0C-4ADF-98EF-314F244CC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903147-4754-4023-8B77-20EB33E5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DDB5D-EDEB-4E99-BA69-F1F76F27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872CF2-966E-422A-927F-3BD6A6E5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E2E2F7-28CA-4288-94F5-8E25DCD2A45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64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E92E6-4E61-4E2B-9F4F-D23641A2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576B3A-9062-444C-9C47-61FA4351C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1A3954-5D36-48F6-87B1-16A84AB4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A0FE3E-5C3F-4A6C-952A-7C8CB744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068D49-B037-4EA4-BE8F-2516D30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064922-4160-4D2C-A562-270D09593F3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1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94EABC-274E-4BAD-AB22-188F885A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7306ED-34B5-4464-AFBE-9E25FC9A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C654F-F2FA-42D5-8AC8-4073F8FB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2696ECB5-D1DE-4FA4-9CD7-1650D2029999}" type="datetimeFigureOut">
              <a:rPr lang="en-US" altLang="ko-KR" smtClean="0">
                <a:ea typeface="Inter" panose="02000503000000020004" pitchFamily="2" charset="0"/>
              </a:rPr>
              <a:pPr/>
              <a:t>2026-07-12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31A3EE-B6E8-4AF1-9041-45D44926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645F18-B2AB-45F4-8642-885F2B8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Inter" panose="02000503000000020004" pitchFamily="2" charset="0"/>
              </a:defRPr>
            </a:lvl1pPr>
          </a:lstStyle>
          <a:p>
            <a:fld id="{812DBD89-BD24-4FCE-906C-9138E5983130}" type="slidenum">
              <a:rPr lang="en-US" altLang="ko-KR" smtClean="0">
                <a:ea typeface="Inter" panose="02000503000000020004" pitchFamily="2" charset="0"/>
              </a:rPr>
              <a:pPr/>
              <a:t>‹#›</a:t>
            </a:fld>
            <a:endParaRPr lang="en-US" altLang="ko-KR">
              <a:ea typeface="Inter" panose="02000503000000020004" pitchFamily="2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5F32C9-BBE2-4217-A3E2-DE5FC68F326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58779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61F8DA-C043-4CD7-86F2-E1A0EF4C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14F0DF-8367-4CE4-BFB7-B09F18D1638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183F21-A1A8-463E-86D3-0CFB7A05EF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2696ECB5-D1DE-4FA4-9CD7-1650D2029999}" type="datetimeFigureOut">
              <a:rPr altLang="ko-KR" lang="en-US" smtClean="0">
                <a:ea charset="0" panose="02000503000000020004" pitchFamily="2" typeface="Inter"/>
              </a:rPr>
              <a:pPr/>
              <a:t>2026-07-12</a:t>
            </a:fld>
            <a:endParaRPr altLang="ko-KR" lang="en-US">
              <a:ea charset="0" panose="02000503000000020004" pitchFamily="2" typeface="Inter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0C5B5C-65C9-4D66-BC46-FDE4016F57B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730EB-AE08-4C4E-A274-945B51E99D4F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0" panose="02000503000000020004" pitchFamily="2" typeface="Inter"/>
              </a:defRPr>
            </a:lvl1pPr>
          </a:lstStyle>
          <a:p>
            <a:fld id="{812DBD89-BD24-4FCE-906C-9138E5983130}" type="slidenum">
              <a:rPr altLang="ko-KR" lang="en-US" smtClean="0">
                <a:ea charset="0" panose="02000503000000020004" pitchFamily="2" typeface="Inter"/>
              </a:rPr>
              <a:pPr/>
              <a:t>‹#›</a:t>
            </a:fld>
            <a:endParaRPr altLang="ko-KR" lang="en-US">
              <a:ea charset="0" panose="02000503000000020004" pitchFamily="2"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39533195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C4F62-B626-4C1A-9258-8B7A85121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4차시: 행렬과 팩터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DA06A-F964-4BA7-B1A0-476AFBA404D1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 기초 프로그래밍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벡터를 행과 열로 배치하여 행렬을 만들 수 있다.</a:t>
            </a:r>
          </a:p>
          <a:p>
            <a:pPr lvl="0" indent="-457200" marL="457200">
              <a:buAutoNum type="arabicPeriod"/>
            </a:pPr>
            <a:r>
              <a:rPr/>
              <a:t>행렬의 구조를 확인하고 필요한 행, 열, 원소를 선택할 수 있다.</a:t>
            </a:r>
          </a:p>
          <a:p>
            <a:pPr lvl="0" indent="-457200" marL="457200">
              <a:buAutoNum type="arabicPeriod"/>
            </a:pPr>
            <a:r>
              <a:rPr/>
              <a:t>행과 열 방향으로 기초 요약값을 계산할 수 있다.</a:t>
            </a:r>
          </a:p>
          <a:p>
            <a:pPr lvl="0" indent="-457200" marL="457200">
              <a:buAutoNum type="arabicPeriod"/>
            </a:pPr>
            <a:r>
              <a:rPr/>
              <a:t>범주형 데이터를 팩터로 표현하고 수준을 확인할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선수 지식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c()</a:t>
            </a:r>
            <a:r>
              <a:rPr/>
              <a:t>로 벡터를 만들 수 있습니다.</a:t>
            </a:r>
          </a:p>
          <a:p>
            <a:pPr lvl="0"/>
            <a:r>
              <a:rPr/>
              <a:t>위치, 이름, 조건을 사용해 벡터의 원소를 선택할 수 있습니다.</a:t>
            </a:r>
          </a:p>
          <a:p>
            <a:pPr lvl="0"/>
            <a:r>
              <a:rPr/>
              <a:t>숫자형, 문자형, 논리형 자료를 구분할 수 있습니다.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행렬은 같은 자료형의 값을 행과 열로 배치한다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cell_1  cell_2  cell_3
gene_1       5       0       3
gene_2       1       4       0
gene_3       0       2       6</a:t>
            </a:r>
          </a:p>
          <a:p>
            <a:pPr lvl="0"/>
            <a:r>
              <a:rPr/>
              <a:t>가로 방향은 </a:t>
            </a:r>
            <a:r>
              <a:rPr b="1"/>
              <a:t>행</a:t>
            </a:r>
            <a:r>
              <a:rPr/>
              <a:t>, 세로 방향은 </a:t>
            </a:r>
            <a:r>
              <a:rPr b="1"/>
              <a:t>열</a:t>
            </a:r>
            <a:r>
              <a:rPr/>
              <a:t>입니다.</a:t>
            </a:r>
          </a:p>
          <a:p>
            <a:pPr lvl="0"/>
            <a:r>
              <a:rPr/>
              <a:t>행렬의 모든 원소는 같은 자료형을 가집니다.</a:t>
            </a:r>
          </a:p>
          <a:p>
            <a:pPr lvl="0"/>
            <a:r>
              <a:rPr/>
              <a:t>전사체 count matrix는 보통 유전자가 행, 세포가 열입니다.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벡터와 행렬의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차원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선택 방법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벡터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1차원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values[position]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행렬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2차원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values[row, column]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행렬에서는 쉼표 앞이 행, 뒤가 열입니다.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matrix()</a:t>
            </a:r>
            <a:r>
              <a:rPr/>
              <a:t>로 행렬을 만든다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expression_matrix</a:t>
            </a:r>
          </a:p>
          <a:p>
            <a:pPr lvl="0"/>
            <a:r>
              <a:rPr/>
              <a:t>첫 번째 인자는 배치할 값입니다.</a:t>
            </a:r>
          </a:p>
          <a:p>
            <a:pPr lvl="0"/>
            <a:r>
              <a:rPr>
                <a:latin typeface="Courier"/>
              </a:rPr>
              <a:t>nrow</a:t>
            </a:r>
            <a:r>
              <a:rPr/>
              <a:t>는 행 수, </a:t>
            </a:r>
            <a:r>
              <a:rPr>
                <a:latin typeface="Courier"/>
              </a:rPr>
              <a:t>ncol</a:t>
            </a:r>
            <a:r>
              <a:rPr/>
              <a:t>은 열 수입니다.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기본값은 열 방향으로 값을 채운다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[,1] [,2] [,3] [,4]
[1,]    1    4    7   10
[2,]    2    5    8   11
[3,]    3    6    9   12</a:t>
            </a:r>
          </a:p>
          <a:p>
            <a:pPr lvl="0" indent="0" marL="0">
              <a:buNone/>
            </a:pPr>
            <a:r>
              <a:rPr/>
              <a:t>R은 기본적으로 한 열을 먼저 채운 뒤 다음 열로 이동합니다.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byrow = TRUE</a:t>
            </a:r>
            <a:r>
              <a:rPr/>
              <a:t>는 행 방향으로 채운다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byrow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값을 읽는 순서에 따라 </a:t>
            </a:r>
            <a:r>
              <a:rPr>
                <a:latin typeface="Courier"/>
              </a:rPr>
              <a:t>byrow</a:t>
            </a:r>
            <a:r>
              <a:rPr/>
              <a:t> 설정을 결정합니다.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값의 개수와 행렬 크기를 맞춘다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values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(values)</a:t>
            </a:r>
            <a:br/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</a:p>
          <a:p>
            <a:pPr lvl="0"/>
            <a:r>
              <a:rPr/>
              <a:t>3행 4열에는 원소 12개가 필요합니다.</a:t>
            </a:r>
          </a:p>
          <a:p>
            <a:pPr lvl="0"/>
            <a:r>
              <a:rPr/>
              <a:t>값의 개수가 부족하면 R이 값을 반복해서 채울 수 있습니다.</a:t>
            </a:r>
          </a:p>
          <a:p>
            <a:pPr lvl="0"/>
            <a:r>
              <a:rPr/>
              <a:t>의도하지 않은 반복을 피하려면 크기를 먼저 확인합니다.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행렬의 구조를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typeof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dim()</a:t>
            </a:r>
            <a:r>
              <a:rPr/>
              <a:t>은 행 수와 열 수를 차례로 반환합니다.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 수와 열 수를 각각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ncol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/>
            <a:r>
              <a:rPr>
                <a:latin typeface="Courier"/>
              </a:rPr>
              <a:t>nrow()</a:t>
            </a:r>
            <a:r>
              <a:rPr/>
              <a:t>는 행 수를 반환합니다.</a:t>
            </a:r>
          </a:p>
          <a:p>
            <a:pPr lvl="0"/>
            <a:r>
              <a:rPr>
                <a:latin typeface="Courier"/>
              </a:rPr>
              <a:t>ncol()</a:t>
            </a:r>
            <a:r>
              <a:rPr/>
              <a:t>은 열 수를 반환합니다.</a:t>
            </a:r>
          </a:p>
          <a:p>
            <a:pPr lvl="0"/>
            <a:r>
              <a:rPr>
                <a:latin typeface="Courier"/>
              </a:rPr>
              <a:t>length()</a:t>
            </a:r>
            <a:r>
              <a:rPr/>
              <a:t>는 전체 원소 수를 반환합니다.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행과 열에 이름을 붙인다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"CD3D"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"LYZ"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"cell_1"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"cell_4"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expression_matrix</a:t>
            </a:r>
          </a:p>
          <a:p>
            <a:pPr lvl="0" indent="0" marL="0">
              <a:buNone/>
            </a:pPr>
            <a:r>
              <a:rPr/>
              <a:t>행과 열 이름은 각 값의 의미를 알려 줍니다.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rownames()</a:t>
            </a:r>
            <a:r>
              <a:rPr/>
              <a:t>와 </a:t>
            </a:r>
            <a:r>
              <a:rPr>
                <a:latin typeface="Courier"/>
              </a:rPr>
              <a:t>colnames()</a:t>
            </a:r>
            <a:r>
              <a:rPr/>
              <a:t>로 이름을 확인한다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/>
            <a:r>
              <a:rPr/>
              <a:t>행 이름은 유전자 이름처럼 관측 변수의 식별자일 수 있습니다.</a:t>
            </a:r>
          </a:p>
          <a:p>
            <a:pPr lvl="0"/>
            <a:r>
              <a:rPr/>
              <a:t>열 이름은 세포 바코드나 샘플 이름일 수 있습니다.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[행, 열]</a:t>
            </a:r>
            <a:r>
              <a:rPr/>
              <a:t>로 원소 하나를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"cell_2"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위치 번호 또는 이름을 사용할 수 있습니다.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행의 모든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</a:p>
          <a:p>
            <a:pPr lvl="0" indent="0" marL="0">
              <a:buNone/>
            </a:pPr>
            <a:r>
              <a:rPr/>
              <a:t>쉼표 뒤를 비워 두면 모든 열을 선택합니다.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열의 모든 행을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expression_matrix[, </a:t>
            </a:r>
            <a:r>
              <a:rPr>
                <a:solidFill>
                  <a:srgbClr val="20794D"/>
                </a:solidFill>
                <a:latin typeface="Courier"/>
              </a:rPr>
              <a:t>"cell_2"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쉼표 앞을 비워 두면 모든 행을 선택합니다.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여러 행과 열을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"LYZ"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"cell_1"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행 이름 벡터와 열 이름 벡터를 함께 사용할 수 있습니다.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한 행이나 열을 선택하면 벡터가 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one_gene &lt;- 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(one_gene)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(one_gene)</a:t>
            </a:r>
          </a:p>
          <a:p>
            <a:pPr lvl="0" indent="0" marL="0">
              <a:buNone/>
            </a:pPr>
            <a:r>
              <a:rPr/>
              <a:t>R은 결과의 차원이 하나만 남으면 기본적으로 벡터로 단순화합니다.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drop = FALSE</a:t>
            </a:r>
            <a:r>
              <a:rPr/>
              <a:t>로 행렬 구조를 유지한다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one_gene_matrix &lt;- expression_matrix[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drop =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(one_gene_matrix)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(one_gene_matrix)</a:t>
            </a:r>
          </a:p>
          <a:p>
            <a:pPr lvl="0" indent="0" marL="0">
              <a:buNone/>
            </a:pPr>
            <a:r>
              <a:rPr/>
              <a:t>후속 함수가 행렬을 요구할 때 유용합니다.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조건으로 행렬의 값을 선택할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expression_matrix[expression_matrix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/>
            <a:r>
              <a:rPr/>
              <a:t>비교 결과는 같은 크기의 논리형 행렬입니다.</a:t>
            </a:r>
          </a:p>
          <a:p>
            <a:pPr lvl="0"/>
            <a:r>
              <a:rPr/>
              <a:t>조건으로 선택한 최종 결과는 벡터가 됩니다.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행렬 연산은 모든 원소에 적용된다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</a:p>
          <a:p>
            <a:pPr lvl="0" indent="0" marL="0">
              <a:buNone/>
            </a:pPr>
            <a:r>
              <a:rPr/>
              <a:t>벡터와 마찬가지로 산술 연산이 각 원소에 적용됩니다.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같은 크기의 행렬끼리 원소별 계산을 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matrix_a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matrix_b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matrix_a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matrix_b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matrix_a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matrix_b</a:t>
            </a:r>
          </a:p>
          <a:p>
            <a:pPr lvl="0" indent="0" marL="0">
              <a:buNone/>
            </a:pPr>
            <a:r>
              <a:rPr/>
              <a:t>같은 위치의 원소끼리 계산됩니다.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*</a:t>
            </a:r>
            <a:r>
              <a:rPr/>
              <a:t>는 원소별 곱셈이다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matrix_a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matrix_b</a:t>
            </a:r>
          </a:p>
          <a:p>
            <a:pPr lvl="0" indent="0" marL="0">
              <a:buNone/>
            </a:pPr>
            <a:r>
              <a:rPr/>
              <a:t>수학의 행렬 곱셈과는 다릅니다. 행렬 곱셈에는 </a:t>
            </a:r>
            <a:r>
              <a:rPr>
                <a:latin typeface="Courier"/>
              </a:rPr>
              <a:t>%*%</a:t>
            </a:r>
            <a:r>
              <a:rPr/>
              <a:t>를 사용하지만, 이 과정에서는 원소별 계산을 중심으로 학습합니다.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rowSums()</a:t>
            </a:r>
            <a:r>
              <a:rPr/>
              <a:t>는 행별 합계를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rowSums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 indent="0" marL="0">
              <a:buNone/>
            </a:pPr>
            <a:r>
              <a:rPr/>
              <a:t>전사체 행렬에서 행이 유전자라면 각 유전자의 전체 발현량을 계산합니다.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colSums()</a:t>
            </a:r>
            <a:r>
              <a:rPr/>
              <a:t>는 열별 합계를 계산한다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 indent="0" marL="0">
              <a:buNone/>
            </a:pPr>
            <a:r>
              <a:rPr/>
              <a:t>전사체 행렬에서 열이 세포라면 각 세포의 전체 count를 계산합니다.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6CAC9-BDCF-454F-B4EB-26821C0A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행과 열 방향의 평균을 계산한다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A32173-BE5A-4386-B8FC-0DD3565F6F55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rowMeans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colMeans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/>
                <a:gridCol w="3086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계산 방향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rowMeans()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각 행의 평균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colMeans()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각 열의 평균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apply()</a:t>
            </a:r>
            <a:r>
              <a:rPr/>
              <a:t>로 방향과 함수를 지정할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apply</a:t>
            </a:r>
            <a:r>
              <a:rPr>
                <a:solidFill>
                  <a:srgbClr val="003B4F"/>
                </a:solidFill>
                <a:latin typeface="Courier"/>
              </a:rPr>
              <a:t>(expression_matrix,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max)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apply</a:t>
            </a:r>
            <a:r>
              <a:rPr>
                <a:solidFill>
                  <a:srgbClr val="003B4F"/>
                </a:solidFill>
                <a:latin typeface="Courier"/>
              </a:rPr>
              <a:t>(expression_matrix,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max)</a:t>
            </a:r>
          </a:p>
          <a:p>
            <a:pPr lvl="0"/>
            <a:r>
              <a:rPr/>
              <a:t>두 번째 인자 </a:t>
            </a:r>
            <a:r>
              <a:rPr>
                <a:latin typeface="Courier"/>
              </a:rPr>
              <a:t>1</a:t>
            </a:r>
            <a:r>
              <a:rPr/>
              <a:t>은 행 방향입니다.</a:t>
            </a:r>
          </a:p>
          <a:p>
            <a:pPr lvl="0"/>
            <a:r>
              <a:rPr/>
              <a:t>두 번째 인자 </a:t>
            </a:r>
            <a:r>
              <a:rPr>
                <a:latin typeface="Courier"/>
              </a:rPr>
              <a:t>2</a:t>
            </a:r>
            <a:r>
              <a:rPr/>
              <a:t>는 열 방향입니다.</a:t>
            </a:r>
          </a:p>
          <a:p>
            <a:pPr lvl="0"/>
            <a:r>
              <a:rPr/>
              <a:t>합계와 평균은 </a:t>
            </a:r>
            <a:r>
              <a:rPr>
                <a:latin typeface="Courier"/>
              </a:rPr>
              <a:t>rowSums()</a:t>
            </a:r>
            <a:r>
              <a:rPr/>
              <a:t> 등의 전용 함수를 우선 사용합니다.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전사체 count matrix의 방향을 기억한다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        세포 또는 샘플
             cell_1 cell_2 cell_3
유전자 MS4A1      5      0      3
       CD3D       1      4      0
       LYZ        0      2      6</a:t>
            </a:r>
          </a:p>
          <a:p>
            <a:pPr lvl="0"/>
            <a:r>
              <a:rPr/>
              <a:t>행: feature 또는 gene</a:t>
            </a:r>
          </a:p>
          <a:p>
            <a:pPr lvl="0"/>
            <a:r>
              <a:rPr/>
              <a:t>열: cell 또는 sample</a:t>
            </a:r>
          </a:p>
          <a:p>
            <a:pPr lvl="0"/>
            <a:r>
              <a:rPr/>
              <a:t>원소: 해당 유전자와 세포의 count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 matrix에는 0이 매우 많다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단일세포 전사체 행렬의 많은 값은 0입니다.</a:t>
            </a:r>
          </a:p>
          <a:p>
            <a:pPr lvl="0"/>
            <a:r>
              <a:rPr/>
              <a:t>모든 0을 메모리에 저장하면 공간이 많이 필요합니다.</a:t>
            </a:r>
          </a:p>
          <a:p>
            <a:pPr lvl="0"/>
            <a:r>
              <a:rPr/>
              <a:t>Seurat는 0이 아닌 값 중심으로 저장하는 </a:t>
            </a:r>
            <a:r>
              <a:rPr b="1"/>
              <a:t>희소 행렬</a:t>
            </a:r>
            <a:r>
              <a:rPr/>
              <a:t>을 사용합니다.</a:t>
            </a:r>
          </a:p>
          <a:p>
            <a:pPr lvl="0"/>
            <a:r>
              <a:rPr/>
              <a:t>희소 행렬의 실제 생성과 조작은 Seurat 부록 차시에서 다룹니다.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팩터는 범주형 데이터를 표현한다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(conditions)</a:t>
            </a:r>
          </a:p>
          <a:p>
            <a:pPr lvl="0" indent="0" marL="0">
              <a:buNone/>
            </a:pPr>
            <a:r>
              <a:rPr/>
              <a:t>팩터는 값과 함께 가능한 범주의 목록을 저장합니다.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팩터의 범주를 수준이라고 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(conditions)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nlevels</a:t>
            </a:r>
            <a:r>
              <a:rPr>
                <a:solidFill>
                  <a:srgbClr val="003B4F"/>
                </a:solidFill>
                <a:latin typeface="Courier"/>
              </a:rPr>
              <a:t>(conditions)</a:t>
            </a:r>
          </a:p>
          <a:p>
            <a:pPr lvl="0"/>
            <a:r>
              <a:rPr>
                <a:latin typeface="Courier"/>
              </a:rPr>
              <a:t>levels()</a:t>
            </a:r>
            <a:r>
              <a:rPr/>
              <a:t>는 수준 이름을 반환합니다.</a:t>
            </a:r>
          </a:p>
          <a:p>
            <a:pPr lvl="0"/>
            <a:r>
              <a:rPr>
                <a:latin typeface="Courier"/>
              </a:rPr>
              <a:t>nlevels()</a:t>
            </a:r>
            <a:r>
              <a:rPr/>
              <a:t>는 수준의 개수를 반환합니다.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문자형 벡터와 팩터는 다르다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condition_text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condition_factor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(condition_text)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(condition_text)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(condition_factor)</a:t>
            </a:r>
          </a:p>
          <a:p>
            <a:pPr lvl="0" indent="0" marL="0">
              <a:buNone/>
            </a:pPr>
            <a:r>
              <a:rPr/>
              <a:t>팩터는 어떤 범주가 가능한지와 범주의 순서를 함께 관리합니다.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수준의 순서를 직접 지정할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condition_factor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condition_text,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(condition_factor)</a:t>
            </a:r>
          </a:p>
          <a:p>
            <a:pPr lvl="0" indent="0" marL="0">
              <a:buNone/>
            </a:pPr>
            <a:r>
              <a:rPr/>
              <a:t>그래프나 요약표에서 범주가 나타나는 순서에 영향을 줄 수 있습니다.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관측되지 않은 수준도 미리 지정할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cell_types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cell_types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(cell_types)</a:t>
            </a:r>
          </a:p>
          <a:p>
            <a:pPr lvl="0" indent="0" marL="0">
              <a:buNone/>
            </a:pPr>
            <a:r>
              <a:rPr/>
              <a:t>현재 값에 </a:t>
            </a:r>
            <a:r>
              <a:rPr>
                <a:latin typeface="Courier"/>
              </a:rPr>
              <a:t>NK</a:t>
            </a:r>
            <a:r>
              <a:rPr/>
              <a:t>가 없어도 가능한 범주로 유지됩니다.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table()</a:t>
            </a:r>
            <a:r>
              <a:rPr/>
              <a:t>로 수준별 개수를 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(condition_factor)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(cell_types)</a:t>
            </a:r>
          </a:p>
          <a:p>
            <a:pPr lvl="0" indent="0" marL="0">
              <a:buNone/>
            </a:pPr>
            <a:r>
              <a:rPr/>
              <a:t>관측되지 않은 수준은 개수 0으로 표시될 수 있습니다.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팩터의 일부를 선택해도 수준은 남을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selected_types &lt;- cell_types[cell_types </a:t>
            </a:r>
            <a:r>
              <a:rPr>
                <a:solidFill>
                  <a:srgbClr val="5E5E5E"/>
                </a:solidFill>
                <a:latin typeface="Courier"/>
              </a:rPr>
              <a:t>!=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"NK"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selected_types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(selected_types)</a:t>
            </a:r>
          </a:p>
          <a:p>
            <a:pPr lvl="0" indent="0" marL="0">
              <a:buNone/>
            </a:pPr>
            <a:r>
              <a:rPr/>
              <a:t>값을 선택하는 것과 수준을 제거하는 것은 서로 다른 작업입니다.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droplevels()</a:t>
            </a:r>
            <a:r>
              <a:rPr/>
              <a:t>로 사용하지 않는 수준을 제거한다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selected_types &lt;- </a:t>
            </a:r>
            <a:r>
              <a:rPr>
                <a:solidFill>
                  <a:srgbClr val="4758AB"/>
                </a:solidFill>
                <a:latin typeface="Courier"/>
              </a:rPr>
              <a:t>droplevels</a:t>
            </a:r>
            <a:r>
              <a:rPr>
                <a:solidFill>
                  <a:srgbClr val="003B4F"/>
                </a:solidFill>
                <a:latin typeface="Courier"/>
              </a:rPr>
              <a:t>(selected_types)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(selected_types)</a:t>
            </a:r>
          </a:p>
          <a:p>
            <a:pPr lvl="0" indent="0" marL="0">
              <a:buNone/>
            </a:pPr>
            <a:r>
              <a:rPr/>
              <a:t>데이터를 필터링한 뒤 남은 범주만 필요할 때 사용합니다.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relevel()</a:t>
            </a:r>
            <a:r>
              <a:rPr/>
              <a:t>로 기준 수준을 바꿀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condition_factor &lt;- </a:t>
            </a:r>
            <a:r>
              <a:rPr>
                <a:solidFill>
                  <a:srgbClr val="4758AB"/>
                </a:solidFill>
                <a:latin typeface="Courier"/>
              </a:rPr>
              <a:t>relevel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condition_factor,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(condition_factor)</a:t>
            </a:r>
          </a:p>
          <a:p>
            <a:pPr lvl="0" indent="0" marL="0">
              <a:buNone/>
            </a:pPr>
            <a:r>
              <a:rPr/>
              <a:t>통계 모델에서 어떤 범주를 기준으로 비교할지 정할 때 중요합니다.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팩터를 문자형으로 변환한다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(condition_factor)</a:t>
            </a:r>
          </a:p>
          <a:p>
            <a:pPr lvl="0" indent="0" marL="0">
              <a:buNone/>
            </a:pPr>
            <a:r>
              <a:rPr/>
              <a:t>팩터의 표시값을 문자열로 사용할 때 명시적으로 변환합니다.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숫자처럼 보이는 팩터를 변환할 때 주의한다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score_factor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"10"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"30"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(score_factor)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(score_factor))</a:t>
            </a:r>
          </a:p>
          <a:p>
            <a:pPr lvl="0"/>
            <a:r>
              <a:rPr>
                <a:latin typeface="Courier"/>
              </a:rPr>
              <a:t>as.numeric(factor)</a:t>
            </a:r>
            <a:r>
              <a:rPr/>
              <a:t>는 내부 수준 번호를 반환합니다.</a:t>
            </a:r>
          </a:p>
          <a:p>
            <a:pPr lvl="0"/>
            <a:r>
              <a:rPr/>
              <a:t>실제 숫자값이 필요하면 문자형을 거쳐 변환합니다.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 identity는 팩터처럼 관리된다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cluster_ids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levels</a:t>
            </a:r>
            <a:r>
              <a:rPr>
                <a:solidFill>
                  <a:srgbClr val="003B4F"/>
                </a:solidFill>
                <a:latin typeface="Courier"/>
              </a:rPr>
              <a:t>(cluster_ids)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table</a:t>
            </a:r>
            <a:r>
              <a:rPr>
                <a:solidFill>
                  <a:srgbClr val="003B4F"/>
                </a:solidFill>
                <a:latin typeface="Courier"/>
              </a:rPr>
              <a:t>(cluster_ids)</a:t>
            </a:r>
          </a:p>
          <a:p>
            <a:pPr lvl="0" indent="0" marL="0">
              <a:buNone/>
            </a:pPr>
            <a:r>
              <a:rPr/>
              <a:t>Seurat에서는 세포의 cluster identity도 수준이 있는 범주형 정보로 다룹니다.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cluster 이름을 세포 유형과 대응할 수 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cell_type_names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"T cell"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"B cell"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"2"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"Monocyte"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cell_type_names</a:t>
            </a:r>
          </a:p>
          <a:p>
            <a:pPr lvl="0" indent="0" marL="0">
              <a:buNone/>
            </a:pPr>
            <a:r>
              <a:rPr/>
              <a:t>이름이 있는 벡터를 사용하면 기존 cluster ID와 새 세포 유형 이름을 대응시킬 수 있습니다.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1: 행과 열의 순서를 바꾼다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"cell_2"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대괄호를 볼 때 항상 </a:t>
            </a:r>
            <a:r>
              <a:rPr>
                <a:latin typeface="Courier"/>
              </a:rPr>
              <a:t>[행, 열]</a:t>
            </a:r>
            <a:r>
              <a:rPr/>
              <a:t>이라고 읽습니다.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2: 존재하지 않는 이름을 선택한다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colnames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 indent="0" marL="0">
              <a:buNone/>
            </a:pPr>
            <a:r>
              <a:rPr/>
              <a:t>원소를 선택하기 전에 실제 행과 열 이름의 철자와 대소문자를 확인합니다.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3: 선택 결과의 차원이 사라진다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, drop =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행렬 구조가 필요한 후속 작업에는 </a:t>
            </a:r>
            <a:r>
              <a:rPr>
                <a:latin typeface="Courier"/>
              </a:rPr>
              <a:t>drop = FALSE</a:t>
            </a:r>
            <a:r>
              <a:rPr/>
              <a:t>를 사용합니다.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흔한 오류 4: 팩터를 바로 숫자로 변환한다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(score_factor))</a:t>
            </a:r>
          </a:p>
          <a:p>
            <a:pPr lvl="0" indent="0" marL="0">
              <a:buNone/>
            </a:pPr>
            <a:r>
              <a:rPr/>
              <a:t>표시된 숫자와 팩터 내부 수준 번호를 구분합니다.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1: 작은 발현 행렬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 &lt;- </a:t>
            </a:r>
            <a:r>
              <a:rPr>
                <a:solidFill>
                  <a:srgbClr val="4758AB"/>
                </a:solidFill>
                <a:latin typeface="Courier"/>
              </a:rPr>
              <a:t>matrix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byrow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행과 열 이름을 붙이고 구조를 확인합니다.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2: 유전자와 세포 선택하기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expression_matrix[, </a:t>
            </a:r>
            <a:r>
              <a:rPr>
                <a:solidFill>
                  <a:srgbClr val="20794D"/>
                </a:solidFill>
                <a:latin typeface="Courier"/>
              </a:rPr>
              <a:t>"cell_2"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expression_matrix[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"MS4A1"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"LYZ"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"cell_1"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"cell_3"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]</a:t>
            </a:r>
          </a:p>
          <a:p>
            <a:pPr lvl="0" indent="0" marL="0">
              <a:buNone/>
            </a:pPr>
            <a:r>
              <a:rPr/>
              <a:t>각 선택 결과의 자료형과 차원을 확인합니다.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3: 행과 열 방향으로 요약하기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rowSums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colSums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rowMeans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colMeans</a:t>
            </a:r>
            <a:r>
              <a:rPr>
                <a:solidFill>
                  <a:srgbClr val="003B4F"/>
                </a:solidFill>
                <a:latin typeface="Courier"/>
              </a:rPr>
              <a:t>(expression_matrix)</a:t>
            </a:r>
          </a:p>
          <a:p>
            <a:pPr lvl="0" indent="0" marL="0">
              <a:buNone/>
            </a:pPr>
            <a:r>
              <a:rPr/>
              <a:t>어떤 함수가 유전자별, 세포별 결과를 만드는지 설명합니다.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실습 4: 조건과 cluster를 팩터로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conditions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"control"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"treated"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cluster_ids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levels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각 팩터의 수준과 개수를 확인합니다.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 배운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행렬은 같은 자료형의 값을 행과 열로 배치합니다.</a:t>
            </a:r>
          </a:p>
          <a:p>
            <a:pPr lvl="0"/>
            <a:r>
              <a:rPr/>
              <a:t>행렬 원소는 </a:t>
            </a:r>
            <a:r>
              <a:rPr>
                <a:latin typeface="Courier"/>
              </a:rPr>
              <a:t>[행, 열]</a:t>
            </a:r>
            <a:r>
              <a:rPr/>
              <a:t>로 선택합니다.</a:t>
            </a:r>
          </a:p>
          <a:p>
            <a:pPr lvl="0"/>
            <a:r>
              <a:rPr>
                <a:latin typeface="Courier"/>
              </a:rPr>
              <a:t>rowSums()</a:t>
            </a:r>
            <a:r>
              <a:rPr/>
              <a:t>와 </a:t>
            </a:r>
            <a:r>
              <a:rPr>
                <a:latin typeface="Courier"/>
              </a:rPr>
              <a:t>colSums()</a:t>
            </a:r>
            <a:r>
              <a:rPr/>
              <a:t>는 계산 방향이 다릅니다.</a:t>
            </a:r>
          </a:p>
          <a:p>
            <a:pPr lvl="0"/>
            <a:r>
              <a:rPr/>
              <a:t>팩터는 값과 가능한 수준을 함께 저장합니다.</a:t>
            </a:r>
          </a:p>
          <a:p>
            <a:pPr lvl="0"/>
            <a:r>
              <a:rPr/>
              <a:t>유전자 × 세포 행렬과 cluster factor는 Seurat 객체를 이해하는 기초입니다.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B73D98-9A61-479D-A627-D816C25A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점검과 다음 차시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4D836E-C469-4584-900E-0F0FF86B9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전사체 count matrix에서 일반적으로 행과 열은 각각 무엇입니까?</a:t>
            </a:r>
          </a:p>
          <a:p>
            <a:pPr lvl="0" indent="-457200" marL="457200">
              <a:buAutoNum type="arabicPeriod"/>
            </a:pPr>
            <a:r>
              <a:rPr/>
              <a:t>한 행을 행렬로 유지하려면 어떤 인자를 사용합니까?</a:t>
            </a:r>
          </a:p>
          <a:p>
            <a:pPr lvl="0" indent="-457200" marL="457200">
              <a:buAutoNum type="arabicPeriod"/>
            </a:pPr>
            <a:r>
              <a:rPr>
                <a:latin typeface="Courier"/>
              </a:rPr>
              <a:t>rowMeans()</a:t>
            </a:r>
            <a:r>
              <a:rPr/>
              <a:t>와 </a:t>
            </a:r>
            <a:r>
              <a:rPr>
                <a:latin typeface="Courier"/>
              </a:rPr>
              <a:t>colMeans()</a:t>
            </a:r>
            <a:r>
              <a:rPr/>
              <a:t>의 계산 방향은 어떻게 다릅니까?</a:t>
            </a:r>
          </a:p>
          <a:p>
            <a:pPr lvl="0" indent="-457200" marL="457200">
              <a:buAutoNum type="arabicPeriod"/>
            </a:pPr>
            <a:r>
              <a:rPr/>
              <a:t>팩터의 값과 수준은 어떻게 다릅니까?</a:t>
            </a:r>
          </a:p>
          <a:p>
            <a:pPr lvl="0" indent="0" marL="0">
              <a:buNone/>
            </a:pPr>
            <a:r>
              <a:rPr b="1"/>
              <a:t>다음 차시:</a:t>
            </a:r>
            <a:r>
              <a:rPr/>
              <a:t> 여러 자료형의 열을 하나의 데이터 프레임으로 관리하기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맑은 고딕</vt:lpstr>
      <vt:lpstr>Arial</vt:lpstr>
      <vt:lpstr>Inter</vt:lpstr>
      <vt:lpstr>JetBrains Mono</vt:lpstr>
      <vt:lpstr>Office 테마</vt:lpstr>
      <vt:lpstr>R Programming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4차시: 행렬과 팩터</dc:title>
  <dc:creator/>
  <cp:keywords/>
  <dcterms:created xsi:type="dcterms:W3CDTF">2026-07-12T11:15:53Z</dcterms:created>
  <dcterms:modified xsi:type="dcterms:W3CDTF">2026-07-12T11:15:53Z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R 기초 프로그래밍</vt:lpwstr>
  </property>
  <property fmtid="{D5CDD505-2E9C-101B-9397-08002B2CF9AE}" pid="9" name="toc-title">
    <vt:lpwstr>목차</vt:lpwstr>
  </property>
</Properties>
</file>