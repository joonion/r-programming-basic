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Relationship Id="rId60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7차시: 조건식과 데이터 필터링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비교 연산자로 조건을 만들 수 있다.</a:t>
            </a:r>
          </a:p>
          <a:p>
            <a:pPr lvl="0" indent="-457200" marL="457200">
              <a:buAutoNum type="arabicPeriod"/>
            </a:pPr>
            <a:r>
              <a:rPr/>
              <a:t>논리 연산자로 여러 조건을 결합할 수 있다.</a:t>
            </a:r>
          </a:p>
          <a:p>
            <a:pPr lvl="0" indent="-457200" marL="457200">
              <a:buAutoNum type="arabicPeriod"/>
            </a:pPr>
            <a:r>
              <a:rPr/>
              <a:t>조건을 이용해 데이터 프레임의 행을 선택할 수 있다.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if</a:t>
            </a:r>
            <a:r>
              <a:rPr/>
              <a:t>, </a:t>
            </a:r>
            <a:r>
              <a:rPr>
                <a:latin typeface="Courier"/>
              </a:rPr>
              <a:t>if ... else</a:t>
            </a:r>
            <a:r>
              <a:rPr/>
              <a:t>, </a:t>
            </a:r>
            <a:r>
              <a:rPr>
                <a:latin typeface="Courier"/>
              </a:rPr>
              <a:t>ifelse()</a:t>
            </a:r>
            <a:r>
              <a:rPr/>
              <a:t>를 상황에 맞게 사용할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논리형 값 </a:t>
            </a:r>
            <a:r>
              <a:rPr>
                <a:latin typeface="Courier"/>
              </a:rPr>
              <a:t>TRUE</a:t>
            </a:r>
            <a:r>
              <a:rPr/>
              <a:t>, </a:t>
            </a:r>
            <a:r>
              <a:rPr>
                <a:latin typeface="Courier"/>
              </a:rPr>
              <a:t>FALSE</a:t>
            </a:r>
            <a:r>
              <a:rPr/>
              <a:t>를 구분할 수 있습니다.</a:t>
            </a:r>
          </a:p>
          <a:p>
            <a:pPr lvl="0"/>
            <a:r>
              <a:rPr/>
              <a:t>벡터를 조건으로 인덱싱할 수 있습니다.</a:t>
            </a:r>
          </a:p>
          <a:p>
            <a:pPr lvl="0"/>
            <a:r>
              <a:rPr/>
              <a:t>데이터 프레임에서 </a:t>
            </a:r>
            <a:r>
              <a:rPr>
                <a:latin typeface="Courier"/>
              </a:rPr>
              <a:t>$</a:t>
            </a:r>
            <a:r>
              <a:rPr/>
              <a:t>와 </a:t>
            </a:r>
            <a:r>
              <a:rPr>
                <a:latin typeface="Courier"/>
              </a:rPr>
              <a:t>[행, 열]</a:t>
            </a:r>
            <a:r>
              <a:rPr/>
              <a:t>을 사용할 수 있습니다.</a:t>
            </a:r>
          </a:p>
          <a:p>
            <a:pPr lvl="0"/>
            <a:r>
              <a:rPr>
                <a:latin typeface="Courier"/>
              </a:rPr>
              <a:t>read.csv()</a:t>
            </a:r>
            <a:r>
              <a:rPr/>
              <a:t>로 CSV 파일을 불러올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6차시의 샘플 메타데이터를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&lt;- </a:t>
            </a:r>
            <a:r>
              <a:rPr>
                <a:solidFill>
                  <a:srgbClr val="4758AB"/>
                </a:solidFill>
                <a:latin typeface="Courier"/>
              </a:rPr>
              <a:t>read.csv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"data/sample_metadata.csv"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(sample_metadata)</a:t>
            </a:r>
          </a:p>
          <a:p>
            <a:pPr lvl="0" indent="0" marL="0">
              <a:buNone/>
            </a:pPr>
            <a:r>
              <a:rPr/>
              <a:t>이번 차시에서는 불러온 표에서 원하는 샘플을 조건에 따라 선택합니다.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조건식의 결과는 논리값이다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</a:p>
          <a:p>
            <a:pPr lvl="0"/>
            <a:r>
              <a:rPr/>
              <a:t>조건이 맞으면 </a:t>
            </a:r>
            <a:r>
              <a:rPr>
                <a:latin typeface="Courier"/>
              </a:rPr>
              <a:t>TRUE</a:t>
            </a:r>
            <a:r>
              <a:rPr/>
              <a:t>, 맞지 않으면 </a:t>
            </a:r>
            <a:r>
              <a:rPr>
                <a:latin typeface="Courier"/>
              </a:rPr>
              <a:t>FALSE</a:t>
            </a:r>
            <a:r>
              <a:rPr/>
              <a:t>입니다.</a:t>
            </a:r>
          </a:p>
          <a:p>
            <a:pPr lvl="0"/>
            <a:r>
              <a:rPr/>
              <a:t>이 논리값을 선택과 실행 흐름에 사용할 수 있습니다.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크기를 비교하는 연산자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크다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x &gt;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크거나 같다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x &gt;=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x &lt; 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작거나 같다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x &lt;= 10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경계값을 포함할지 생각한 뒤 </a:t>
            </a:r>
            <a:r>
              <a:rPr>
                <a:latin typeface="Courier"/>
              </a:rPr>
              <a:t>&gt;</a:t>
            </a:r>
            <a:r>
              <a:rPr/>
              <a:t>와 </a:t>
            </a:r>
            <a:r>
              <a:rPr>
                <a:latin typeface="Courier"/>
              </a:rPr>
              <a:t>&gt;=</a:t>
            </a:r>
            <a:r>
              <a:rPr/>
              <a:t>를 구분합니다.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같은지 또는 다른지 비교한다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같다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condition == "treated"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다르다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condition != "treated"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대입과 비교를 구분한다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는 값을 변수에 저장합니다.</a:t>
            </a:r>
          </a:p>
          <a:p>
            <a:pPr lvl="0"/>
            <a:r>
              <a:rPr>
                <a:latin typeface="Courier"/>
              </a:rPr>
              <a:t>==</a:t>
            </a:r>
            <a:r>
              <a:rPr/>
              <a:t>는 두 값이 같은지 비교합니다.</a:t>
            </a:r>
          </a:p>
          <a:p>
            <a:pPr lvl="0"/>
            <a:r>
              <a:rPr/>
              <a:t>조건식에서 </a:t>
            </a:r>
            <a:r>
              <a:rPr>
                <a:latin typeface="Courier"/>
              </a:rPr>
              <a:t>=</a:t>
            </a:r>
            <a:r>
              <a:rPr/>
              <a:t> 하나를 잘못 사용하지 않도록 주의합니다.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벡터를 비교하면 원소마다 결과가 나온다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1385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1090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1520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</a:p>
          <a:p>
            <a:pPr lvl="0" indent="0" marL="0">
              <a:buNone/>
            </a:pPr>
            <a:r>
              <a:rPr/>
              <a:t>비교 결과는 원래 벡터와 길이가 같은 논리형 벡터입니다.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프레임의 열로 조건을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enough_cells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enough_cells</a:t>
            </a:r>
          </a:p>
          <a:p>
            <a:pPr lvl="0" indent="0" marL="0">
              <a:buNone/>
            </a:pPr>
            <a:r>
              <a:rPr/>
              <a:t>각 값은 같은 행에 있는 샘플이 조건을 만족하는지 나타냅니다.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조건으로 행을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sample_metadata[enough_cells, ]</a:t>
            </a:r>
          </a:p>
          <a:p>
            <a:pPr lvl="0"/>
            <a:r>
              <a:rPr/>
              <a:t>대괄호의 쉼표 앞에 논리형 벡터를 넣습니다.</a:t>
            </a:r>
          </a:p>
          <a:p>
            <a:pPr lvl="0"/>
            <a:r>
              <a:rPr>
                <a:latin typeface="Courier"/>
              </a:rPr>
              <a:t>TRUE</a:t>
            </a:r>
            <a:r>
              <a:rPr/>
              <a:t>인 행만 선택됩니다.</a:t>
            </a:r>
          </a:p>
          <a:p>
            <a:pPr lvl="0"/>
            <a:r>
              <a:rPr/>
              <a:t>쉼표 뒤를 비워 모든 열을 유지합니다.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조건을 직접 작성할 수도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조건을 변수에 먼저 저장하면 중간 결과를 확인하기 쉽고, 직접 작성하면 코드가 짧아집니다.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dplyr은 데이터 프레임 작업을 읽기 쉽게 표현한다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최초 한 번만 실행한다.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install.packages("dplyr")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(dplyr)</a:t>
            </a:r>
          </a:p>
          <a:p>
            <a:pPr lvl="0"/>
            <a:r>
              <a:rPr/>
              <a:t>dplyr은 데이터 프레임을 선택하고 변환하는 함수를 제공합니다.</a:t>
            </a:r>
          </a:p>
          <a:p>
            <a:pPr lvl="0"/>
            <a:r>
              <a:rPr/>
              <a:t>설치는 한 번, </a:t>
            </a:r>
            <a:r>
              <a:rPr>
                <a:latin typeface="Courier"/>
              </a:rPr>
              <a:t>library()</a:t>
            </a:r>
            <a:r>
              <a:rPr/>
              <a:t>는 새 R 세션마다 실행합니다.</a:t>
            </a:r>
          </a:p>
          <a:p>
            <a:pPr lvl="0"/>
            <a:r>
              <a:rPr/>
              <a:t>이 차시에서는 기본 R과 dplyr 표현을 함께 비교합니다.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기본 R과 </a:t>
            </a:r>
            <a:r>
              <a:rPr>
                <a:latin typeface="Courier"/>
              </a:rPr>
              <a:t>filter()</a:t>
            </a:r>
            <a:r>
              <a:rPr/>
              <a:t>는 같은 조건을 다르게 표현한다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기본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dplyr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(sample_metadata,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두 코드는 세포 수가 1200 이상인 행을 선택합니다.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마스킹에서는 열 이름을 직접 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함수 밖에서는 객체와 열 이름을 함께 쓴다.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filter() 안에서는 열 이름을 직접 쓸 수 있다.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(sample_metadata,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가 첫 번째 입력 데이터의 열 이름을 먼저 찾기 때문입니다. 이를 </a:t>
            </a:r>
            <a:r>
              <a:rPr b="1"/>
              <a:t>데이터 마스킹</a:t>
            </a:r>
            <a:r>
              <a:rPr/>
              <a:t>이라고 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마스킹의 범위를 구분한다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min_cells &lt;-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min_cells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cell_count</a:t>
            </a:r>
            <a:r>
              <a:rPr/>
              <a:t>는 </a:t>
            </a:r>
            <a:r>
              <a:rPr>
                <a:latin typeface="Courier"/>
              </a:rPr>
              <a:t>sample_metadata</a:t>
            </a:r>
            <a:r>
              <a:rPr/>
              <a:t> 안의 열입니다.</a:t>
            </a:r>
          </a:p>
          <a:p>
            <a:pPr lvl="0"/>
            <a:r>
              <a:rPr>
                <a:latin typeface="Courier"/>
              </a:rPr>
              <a:t>min_cells</a:t>
            </a:r>
            <a:r>
              <a:rPr/>
              <a:t>는 함수 밖에서 만든 변수입니다.</a:t>
            </a:r>
          </a:p>
          <a:p>
            <a:pPr lvl="0"/>
            <a:r>
              <a:rPr/>
              <a:t>열 이름과 외부 변수 이름을 서로 다르게 작성하면 혼동을 줄일 수 있습니다.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%&gt;%</a:t>
            </a:r>
            <a:r>
              <a:rPr/>
              <a:t>는 왼쪽 결과를 다음 함수로 전달한다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위 코드는 다음 함수 호출과 같은 의미입니다.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(sample_metadata,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%&gt;%</a:t>
            </a:r>
            <a:r>
              <a:rPr sz="2000"/>
              <a:t>는 “그다음”이라고 읽으면 분석 순서를 이해하기 쉽습니다.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파이프를 사용해 여러 단계를 연결한다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filtered_metadata &lt;- 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(sample_id, condition, cell_count)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filtered_metadata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는 행을 선택합니다.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는 열을 선택합니다.</a:t>
            </a:r>
          </a:p>
          <a:p>
            <a:pPr lvl="0"/>
            <a:r>
              <a:rPr/>
              <a:t>결과는 기존 방식대로 </a:t>
            </a:r>
            <a:r>
              <a:rPr>
                <a:latin typeface="Courier"/>
              </a:rPr>
              <a:t>&lt;-</a:t>
            </a:r>
            <a:r>
              <a:rPr/>
              <a:t>로 저장합니다.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에서 여러 조건을 결합한다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median_genes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 marL="0">
              <a:buNone/>
            </a:pPr>
            <a:r>
              <a:rPr/>
              <a:t>쉼표로 나눈 조건은 모두 만족해야 하므로 </a:t>
            </a:r>
            <a:r>
              <a:rPr>
                <a:latin typeface="Courier"/>
              </a:rPr>
              <a:t>&amp;</a:t>
            </a:r>
            <a:r>
              <a:rPr/>
              <a:t>로 결합한 것과 같습니다.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기존 논리 연산자를 그대로 사용할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batch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"batch_1"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(doublet_rate))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&amp;</a:t>
            </a:r>
            <a:r>
              <a:rPr/>
              <a:t>, </a:t>
            </a:r>
            <a:r>
              <a:rPr>
                <a:latin typeface="Courier"/>
              </a:rPr>
              <a:t>|</a:t>
            </a:r>
            <a:r>
              <a:rPr/>
              <a:t>, </a:t>
            </a:r>
            <a:r>
              <a:rPr>
                <a:latin typeface="Courier"/>
              </a:rPr>
              <a:t>!</a:t>
            </a:r>
            <a:r>
              <a:rPr/>
              <a:t>, </a:t>
            </a:r>
            <a:r>
              <a:rPr>
                <a:latin typeface="Courier"/>
              </a:rPr>
              <a:t>%in%</a:t>
            </a:r>
            <a:r>
              <a:rPr/>
              <a:t>, </a:t>
            </a:r>
            <a:r>
              <a:rPr>
                <a:latin typeface="Courier"/>
              </a:rPr>
              <a:t>is.na()</a:t>
            </a:r>
            <a:r>
              <a:rPr/>
              <a:t>의 의미는 기본 R과 같습니다.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dplyr::</a:t>
            </a:r>
            <a:r>
              <a:rPr/>
              <a:t>로 함수의 출처를 표시할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패키지::함수</a:t>
            </a:r>
            <a:r>
              <a:rPr/>
              <a:t>는 어느 패키지의 함수인지 명확히 보여 줍니다.</a:t>
            </a:r>
          </a:p>
          <a:p>
            <a:pPr lvl="0"/>
            <a:r>
              <a:rPr/>
              <a:t>같은 이름의 함수가 여러 패키지에 있을 때 특히 유용합니다.</a:t>
            </a:r>
          </a:p>
          <a:p>
            <a:pPr lvl="0"/>
            <a:r>
              <a:rPr/>
              <a:t>이 표기는 </a:t>
            </a:r>
            <a:r>
              <a:rPr>
                <a:latin typeface="Courier"/>
              </a:rPr>
              <a:t>library(dplyr)</a:t>
            </a:r>
            <a:r>
              <a:rPr/>
              <a:t> 없이도 사용할 수 있습니다.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문자형 열도 비교할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is_treated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is_treated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sample_metadata[is_treated, ]</a:t>
            </a:r>
          </a:p>
          <a:p>
            <a:pPr lvl="0" indent="0" marL="0">
              <a:buNone/>
            </a:pPr>
            <a:r>
              <a:rPr/>
              <a:t>문자형 값을 비교할 때는 따옴표와 철자를 확인합니다.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%in%</a:t>
            </a:r>
            <a:r>
              <a:rPr/>
              <a:t>으로 여러 값 중 하나인지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selected_batches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"batch_1"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"batch_3"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batch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selected_batches</a:t>
            </a:r>
          </a:p>
          <a:p>
            <a:pPr lvl="0"/>
            <a:r>
              <a:rPr/>
              <a:t>왼쪽 값이 오른쪽 벡터에 포함되어 있으면 </a:t>
            </a:r>
            <a:r>
              <a:rPr>
                <a:latin typeface="Courier"/>
              </a:rPr>
              <a:t>TRUE</a:t>
            </a:r>
            <a:r>
              <a:rPr/>
              <a:t>입니다.</a:t>
            </a:r>
          </a:p>
          <a:p>
            <a:pPr lvl="0"/>
            <a:r>
              <a:rPr/>
              <a:t>여러 범주 중 하나에 해당하는 행을 찾을 때 편리합니다.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&amp;</a:t>
            </a:r>
            <a:r>
              <a:rPr/>
              <a:t>는 두 조건이 모두 참인지 확인한다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enough_cells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low_mito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enough_cells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low_mito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조건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조건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&amp;</a:t>
                      </a:r>
                      <a:r>
                        <a:rPr/>
                        <a:t> 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FALSE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|</a:t>
            </a:r>
            <a:r>
              <a:rPr/>
              <a:t>는 하나 이상의 조건이 참인지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few_cells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high_mito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few_cells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high_mito</a:t>
            </a:r>
          </a:p>
          <a:p>
            <a:pPr lvl="0" indent="0" marL="0">
              <a:buNone/>
            </a:pPr>
            <a:r>
              <a:rPr/>
              <a:t>두 조건 중 하나라도 </a:t>
            </a:r>
            <a:r>
              <a:rPr>
                <a:latin typeface="Courier"/>
              </a:rPr>
              <a:t>TRUE</a:t>
            </a:r>
            <a:r>
              <a:rPr/>
              <a:t>이면 결과는 </a:t>
            </a:r>
            <a:r>
              <a:rPr>
                <a:latin typeface="Courier"/>
              </a:rPr>
              <a:t>TRUE</a:t>
            </a:r>
            <a:r>
              <a:rPr/>
              <a:t>입니다.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!</a:t>
            </a:r>
            <a:r>
              <a:rPr/>
              <a:t>는 논리값을 반대로 바꾼다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  <a:br/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</a:p>
          <a:p>
            <a:pPr lvl="0"/>
            <a:r>
              <a:rPr>
                <a:latin typeface="Courier"/>
              </a:rPr>
              <a:t>TRUE</a:t>
            </a:r>
            <a:r>
              <a:rPr/>
              <a:t>는 </a:t>
            </a:r>
            <a:r>
              <a:rPr>
                <a:latin typeface="Courier"/>
              </a:rPr>
              <a:t>FALSE</a:t>
            </a:r>
            <a:r>
              <a:rPr/>
              <a:t>로 바뀝니다.</a:t>
            </a:r>
          </a:p>
          <a:p>
            <a:pPr lvl="0"/>
            <a:r>
              <a:rPr>
                <a:latin typeface="Courier"/>
              </a:rPr>
              <a:t>FALSE</a:t>
            </a:r>
            <a:r>
              <a:rPr/>
              <a:t>는 </a:t>
            </a:r>
            <a:r>
              <a:rPr>
                <a:latin typeface="Courier"/>
              </a:rPr>
              <a:t>TRUE</a:t>
            </a:r>
            <a:r>
              <a:rPr/>
              <a:t>로 바뀝니다.</a:t>
            </a:r>
          </a:p>
          <a:p>
            <a:pPr lvl="0"/>
            <a:r>
              <a:rPr/>
              <a:t>조건을 만족하지 않는 행을 찾을 때 사용합니다.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조건을 결합해 행을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sample_metadata[qc_condition, ]</a:t>
            </a:r>
          </a:p>
          <a:p>
            <a:pPr lvl="0" indent="0" marL="0">
              <a:buNone/>
            </a:pPr>
            <a:r>
              <a:rPr/>
              <a:t>각 비교식을 줄로 나누면 긴 조건도 읽기 쉽습니다.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괄호로 조건의 의미를 분명히 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selected_condition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batch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"batch_1"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batch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"batch_2"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괄호 안의 조건을 먼저 계산합니다.</a:t>
            </a:r>
          </a:p>
          <a:p>
            <a:pPr lvl="0"/>
            <a:r>
              <a:rPr>
                <a:latin typeface="Courier"/>
              </a:rPr>
              <a:t>&amp;</a:t>
            </a:r>
            <a:r>
              <a:rPr/>
              <a:t>와 </a:t>
            </a:r>
            <a:r>
              <a:rPr>
                <a:latin typeface="Courier"/>
              </a:rPr>
              <a:t>|</a:t>
            </a:r>
            <a:r>
              <a:rPr/>
              <a:t>를 함께 쓸 때는 괄호로 의도를 표시합니다.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조건식에는 교육용 기준을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</a:p>
          <a:p>
            <a:pPr lvl="0" indent="0" marL="1270000">
              <a:buNone/>
            </a:pPr>
            <a:r>
              <a:rPr sz="2000"/>
              <a:t>이 수치는 R 조건식 연습을 위한 예시입니다. 실제 QC 기준은 조직, 실험법, 샘플 상태와 분포를 검토하여 정해야 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조건을 만족하는 행의 개수를 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(qc_condition)</a:t>
            </a:r>
          </a:p>
          <a:p>
            <a:pPr lvl="0"/>
            <a:r>
              <a:rPr/>
              <a:t>계산에서 </a:t>
            </a:r>
            <a:r>
              <a:rPr>
                <a:latin typeface="Courier"/>
              </a:rPr>
              <a:t>TRUE</a:t>
            </a:r>
            <a:r>
              <a:rPr/>
              <a:t>는 1, </a:t>
            </a:r>
            <a:r>
              <a:rPr>
                <a:latin typeface="Courier"/>
              </a:rPr>
              <a:t>FALSE</a:t>
            </a:r>
            <a:r>
              <a:rPr/>
              <a:t>는 0처럼 사용됩니다.</a:t>
            </a:r>
          </a:p>
          <a:p>
            <a:pPr lvl="0"/>
            <a:r>
              <a:rPr/>
              <a:t>따라서 </a:t>
            </a:r>
            <a:r>
              <a:rPr>
                <a:latin typeface="Courier"/>
              </a:rPr>
              <a:t>sum()</a:t>
            </a:r>
            <a:r>
              <a:rPr/>
              <a:t>으로 조건을 만족하는 개수를 셀 수 있습니다.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any()</a:t>
            </a:r>
            <a:r>
              <a:rPr/>
              <a:t>는 하나라도 참인지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any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하나 이상의 샘플이 조건을 만족하면 </a:t>
            </a:r>
            <a:r>
              <a:rPr>
                <a:latin typeface="Courier"/>
              </a:rPr>
              <a:t>TRUE</a:t>
            </a:r>
            <a:r>
              <a:rPr/>
              <a:t>를 반환합니다.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all()</a:t>
            </a:r>
            <a:r>
              <a:rPr/>
              <a:t>은 모두 참인지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all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모든 샘플이 조건을 만족해야 </a:t>
            </a:r>
            <a:r>
              <a:rPr>
                <a:latin typeface="Courier"/>
              </a:rPr>
              <a:t>TRUE</a:t>
            </a:r>
            <a:r>
              <a:rPr/>
              <a:t>를 반환합니다.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which()</a:t>
            </a:r>
            <a:r>
              <a:rPr/>
              <a:t>는 참인 위치를 반환한다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which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passed_qc)</a:t>
            </a:r>
          </a:p>
          <a:p>
            <a:pPr lvl="0"/>
            <a:r>
              <a:rPr/>
              <a:t>논리형 결과 대신 행 번호가 필요할 때 사용합니다.</a:t>
            </a:r>
          </a:p>
          <a:p>
            <a:pPr lvl="0"/>
            <a:r>
              <a:rPr/>
              <a:t>행 선택에는 논리형 벡터를 직접 사용하는 편이 더 읽기 쉬운 경우가 많습니다.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NA</a:t>
            </a:r>
            <a:r>
              <a:rPr/>
              <a:t>와 비교하면 결과도 </a:t>
            </a:r>
            <a:r>
              <a:rPr>
                <a:latin typeface="Courier"/>
              </a:rPr>
              <a:t>NA</a:t>
            </a:r>
            <a:r>
              <a:rPr/>
              <a:t>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</a:p>
          <a:p>
            <a:pPr lvl="0"/>
            <a:r>
              <a:rPr/>
              <a:t>알 수 없는 값이 기준 이하인지도 알 수 없습니다.</a:t>
            </a:r>
          </a:p>
          <a:p>
            <a:pPr lvl="0"/>
            <a:r>
              <a:rPr/>
              <a:t>따라서 해당 위치의 비교 결과는 </a:t>
            </a:r>
            <a:r>
              <a:rPr>
                <a:latin typeface="Courier"/>
              </a:rPr>
              <a:t>NA</a:t>
            </a:r>
            <a:r>
              <a:rPr/>
              <a:t>입니다.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결측값을 제외하는 조건을 함께 작성한다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known_doublet_rate &lt;-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low_doublet_rate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doublet_condition &lt;- known_doublet_rate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low_doublet_rate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sample_metadata[doublet_condition, ]</a:t>
            </a:r>
          </a:p>
          <a:p>
            <a:pPr lvl="0" indent="0" marL="0">
              <a:buNone/>
            </a:pPr>
            <a:r>
              <a:rPr/>
              <a:t>결측값을 임의로 통과 또는 탈락시키지 말고 처리 원칙을 먼저 정합니다.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if</a:t>
            </a:r>
            <a:r>
              <a:rPr/>
              <a:t>는 조건에 따라 코드를 실행한다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"세포 수 기준을 만족합니다."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/>
              <a:t>괄호 안의 조건이 </a:t>
            </a:r>
            <a:r>
              <a:rPr>
                <a:latin typeface="Courier"/>
              </a:rPr>
              <a:t>TRUE</a:t>
            </a:r>
            <a:r>
              <a:rPr/>
              <a:t>일 때만 중괄호 안을 실행합니다.</a:t>
            </a:r>
          </a:p>
          <a:p>
            <a:pPr lvl="0"/>
            <a:r>
              <a:rPr/>
              <a:t>들여쓰기는 공백 2칸을 사용합니다.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if ... else</a:t>
            </a:r>
            <a:r>
              <a:rPr/>
              <a:t>는 두 실행 경로를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qc_message &lt;- </a:t>
            </a:r>
            <a:r>
              <a:rPr>
                <a:solidFill>
                  <a:srgbClr val="20794D"/>
                </a:solidFill>
                <a:latin typeface="Courier"/>
              </a:rPr>
              <a:t>"세포 수 기준 통과"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qc_message &lt;- </a:t>
            </a:r>
            <a:r>
              <a:rPr>
                <a:solidFill>
                  <a:srgbClr val="20794D"/>
                </a:solidFill>
                <a:latin typeface="Courier"/>
              </a:rPr>
              <a:t>"세포 수 기준 미달"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qc_message</a:t>
            </a:r>
          </a:p>
          <a:p>
            <a:pPr lvl="0" indent="0" marL="0">
              <a:buNone/>
            </a:pPr>
            <a:r>
              <a:rPr/>
              <a:t>조건이 </a:t>
            </a:r>
            <a:r>
              <a:rPr>
                <a:latin typeface="Courier"/>
              </a:rPr>
              <a:t>TRUE</a:t>
            </a:r>
            <a:r>
              <a:rPr/>
              <a:t>이면 첫 블록, </a:t>
            </a:r>
            <a:r>
              <a:rPr>
                <a:latin typeface="Courier"/>
              </a:rPr>
              <a:t>FALSE</a:t>
            </a:r>
            <a:r>
              <a:rPr/>
              <a:t>이면 </a:t>
            </a:r>
            <a:r>
              <a:rPr>
                <a:latin typeface="Courier"/>
              </a:rPr>
              <a:t>else</a:t>
            </a:r>
            <a:r>
              <a:rPr/>
              <a:t> 블록을 실행합니다.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if</a:t>
            </a:r>
            <a:r>
              <a:rPr/>
              <a:t>에는 길이 1인 조건이 필요하다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all_passed &lt;- </a:t>
            </a:r>
            <a:r>
              <a:rPr>
                <a:solidFill>
                  <a:srgbClr val="4758AB"/>
                </a:solidFill>
                <a:latin typeface="Courier"/>
              </a:rPr>
              <a:t>all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passed_qc)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(all_passed)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"모든 샘플이 QC를 통과했습니다."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"QC를 통과하지 못한 샘플이 있습니다."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열 전체처럼 여러 논리값을 </a:t>
            </a:r>
            <a:r>
              <a:rPr>
                <a:latin typeface="Courier"/>
              </a:rPr>
              <a:t>if</a:t>
            </a:r>
            <a:r>
              <a:rPr/>
              <a:t>에 직접 넣지 않습니다.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if (sample_metadata$passed_qc) { ... }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&amp;&amp;</a:t>
            </a:r>
            <a:r>
              <a:rPr/>
              <a:t>와 </a:t>
            </a:r>
            <a:r>
              <a:rPr>
                <a:latin typeface="Courier"/>
              </a:rPr>
              <a:t>||</a:t>
            </a:r>
            <a:r>
              <a:rPr/>
              <a:t>는 </a:t>
            </a:r>
            <a:r>
              <a:rPr>
                <a:latin typeface="Courier"/>
              </a:rPr>
              <a:t>if</a:t>
            </a:r>
            <a:r>
              <a:rPr/>
              <a:t>의 단일 조건을 결합한다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1240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mito_percent &lt;- </a:t>
            </a:r>
            <a:r>
              <a:rPr>
                <a:solidFill>
                  <a:srgbClr val="AD0000"/>
                </a:solidFill>
                <a:latin typeface="Courier"/>
              </a:rPr>
              <a:t>4.2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&amp;&amp;</a:t>
            </a:r>
            <a:r>
              <a:rPr>
                <a:solidFill>
                  <a:srgbClr val="003B4F"/>
                </a:solidFill>
                <a:latin typeface="Courier"/>
              </a:rPr>
              <a:t> 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"두 기준을 모두 만족합니다."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/>
            <a:r>
              <a:rPr>
                <a:latin typeface="Courier"/>
              </a:rPr>
              <a:t>&amp;&amp;</a:t>
            </a:r>
            <a:r>
              <a:rPr/>
              <a:t>는 단일 조건 두 개가 모두 참인지 확인합니다.</a:t>
            </a:r>
          </a:p>
          <a:p>
            <a:pPr lvl="0"/>
            <a:r>
              <a:rPr>
                <a:latin typeface="Courier"/>
              </a:rPr>
              <a:t>||</a:t>
            </a:r>
            <a:r>
              <a:rPr/>
              <a:t>는 단일 조건 중 하나 이상이 참인지 확인합니다.</a:t>
            </a:r>
          </a:p>
          <a:p>
            <a:pPr lvl="0"/>
            <a:r>
              <a:rPr/>
              <a:t>벡터의 원소별 비교에는 </a:t>
            </a:r>
            <a:r>
              <a:rPr>
                <a:latin typeface="Courier"/>
              </a:rPr>
              <a:t>&amp;</a:t>
            </a:r>
            <a:r>
              <a:rPr/>
              <a:t>와 </a:t>
            </a:r>
            <a:r>
              <a:rPr>
                <a:latin typeface="Courier"/>
              </a:rPr>
              <a:t>|</a:t>
            </a:r>
            <a:r>
              <a:rPr/>
              <a:t>를 사용합니다.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ifelse()</a:t>
            </a:r>
            <a:r>
              <a:rPr/>
              <a:t>는 원소마다 값을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qc_labels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"fail"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qc_labels</a:t>
            </a:r>
          </a:p>
          <a:p>
            <a:pPr lvl="0"/>
            <a:r>
              <a:rPr/>
              <a:t>첫 번째 인자의 각 논리값을 확인합니다.</a:t>
            </a:r>
          </a:p>
          <a:p>
            <a:pPr lvl="0"/>
            <a:r>
              <a:rPr>
                <a:latin typeface="Courier"/>
              </a:rPr>
              <a:t>TRUE</a:t>
            </a:r>
            <a:r>
              <a:rPr/>
              <a:t>이면 두 번째 값, </a:t>
            </a:r>
            <a:r>
              <a:rPr>
                <a:latin typeface="Courier"/>
              </a:rPr>
              <a:t>FALSE</a:t>
            </a:r>
            <a:r>
              <a:rPr/>
              <a:t>이면 세 번째 값을 반환합니다.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if</a:t>
            </a:r>
            <a:r>
              <a:rPr/>
              <a:t>와 </a:t>
            </a:r>
            <a:r>
              <a:rPr>
                <a:latin typeface="Courier"/>
              </a:rPr>
              <a:t>ifelse()</a:t>
            </a:r>
            <a:r>
              <a:rPr/>
              <a:t>를 구분한다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사용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조건에 따라 코드 블록 하나를 실행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if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if ... else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벡터의 각 원소에 결과값 부여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ifelse()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qc_label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"fail"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필터링 결과는 새 변수에 저장한다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qc_passed_metadata &lt;- sample_metadata[qc_condition, 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qc_passed_metadata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(qc_passed_metadata)</a:t>
            </a:r>
          </a:p>
          <a:p>
            <a:pPr lvl="0"/>
            <a:r>
              <a:rPr/>
              <a:t>원본을 보존하면 기준과 결과를 비교하기 쉽습니다.</a:t>
            </a:r>
          </a:p>
          <a:p>
            <a:pPr lvl="0"/>
            <a:r>
              <a:rPr/>
              <a:t>조건을 확인한 뒤 결과를 새 이름에 저장합니다.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필터링 결과를 저장할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dir.create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"results"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showWarnings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write.csv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qc_passed_metadata,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"results/qc_passed_metadata.csv"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row.names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저장한 기준과 파일 이름이 무엇을 의미하는지 기록합니다.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</a:t>
            </a:r>
            <a:r>
              <a:rPr>
                <a:latin typeface="Courier"/>
              </a:rPr>
              <a:t>&amp;</a:t>
            </a:r>
            <a:r>
              <a:rPr/>
              <a:t> 대신 </a:t>
            </a:r>
            <a:r>
              <a:rPr>
                <a:latin typeface="Courier"/>
              </a:rPr>
              <a:t>&amp;&amp;</a:t>
            </a:r>
            <a:r>
              <a:rPr/>
              <a:t>를 사용한다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condition_1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condition_2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condition_1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condition_2</a:t>
            </a:r>
          </a:p>
          <a:p>
            <a:pPr lvl="0"/>
            <a:r>
              <a:rPr/>
              <a:t>데이터 프레임의 각 행을 비교할 때는 </a:t>
            </a:r>
            <a:r>
              <a:rPr>
                <a:latin typeface="Courier"/>
              </a:rPr>
              <a:t>&amp;</a:t>
            </a:r>
            <a:r>
              <a:rPr/>
              <a:t>를 사용합니다.</a:t>
            </a:r>
          </a:p>
          <a:p>
            <a:pPr lvl="0"/>
            <a:r>
              <a:rPr>
                <a:latin typeface="Courier"/>
              </a:rPr>
              <a:t>&amp;&amp;</a:t>
            </a:r>
            <a:r>
              <a:rPr/>
              <a:t>는 첫 번째 값만 확인하므로 행별 필터링에 적합하지 않습니다.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문자에 따옴표가 없다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sample_metadata$condition == treated</a:t>
            </a:r>
          </a:p>
          <a:p>
            <a:pPr lvl="0" indent="0" marL="0">
              <a:buNone/>
            </a:pPr>
            <a:r>
              <a:rPr/>
              <a:t>문자형 값은 따옴표로 감쌉니다.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결측값을 </a:t>
            </a:r>
            <a:r>
              <a:rPr>
                <a:latin typeface="Courier"/>
              </a:rPr>
              <a:t>== NA</a:t>
            </a:r>
            <a:r>
              <a:rPr/>
              <a:t>로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sample_metadata$doublet_rate == NA</a:t>
            </a:r>
          </a:p>
          <a:p>
            <a:pPr lvl="0" indent="0" marL="0">
              <a:buNone/>
            </a:pPr>
            <a:r>
              <a:rPr/>
              <a:t>결측값은 </a:t>
            </a:r>
            <a:r>
              <a:rPr>
                <a:latin typeface="Courier"/>
              </a:rPr>
              <a:t>is.na()</a:t>
            </a:r>
            <a:r>
              <a:rPr/>
              <a:t>로 확인합니다.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단일 조건으로 필터링하기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enough_cells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sample_metadata[enough_cells, 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treated_samples &lt;-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sample_metadata[treated_samples, ]</a:t>
            </a:r>
          </a:p>
          <a:p>
            <a:pPr lvl="0" indent="0" marL="0">
              <a:buNone/>
            </a:pPr>
            <a:r>
              <a:rPr/>
              <a:t>각 조건을 만족하는 샘플 수를 </a:t>
            </a:r>
            <a:r>
              <a:rPr>
                <a:latin typeface="Courier"/>
              </a:rPr>
              <a:t>sum()</a:t>
            </a:r>
            <a:r>
              <a:rPr/>
              <a:t>으로 계산합니다.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여러 조건 결합하기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median_genes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mito_percent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sample_metadata[qc_condition, ]</a:t>
            </a:r>
          </a:p>
          <a:p>
            <a:pPr lvl="0" indent="0" marL="0">
              <a:buNone/>
            </a:pPr>
            <a:r>
              <a:rPr/>
              <a:t>각 조건을 따로 실행한 뒤 결합 결과와 비교합니다.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결측값이 있는 조건 다루기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doublet_condition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doublet_rate)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sample_metadata[doublet_condition, ]</a:t>
            </a:r>
          </a:p>
          <a:p>
            <a:pPr lvl="0" indent="0" marL="0">
              <a:buNone/>
            </a:pPr>
            <a:r>
              <a:rPr/>
              <a:t>결측값을 제외하는 조건이 없을 때와 결과를 비교합니다.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조건에 따라 결과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qc_label &lt;- </a:t>
            </a:r>
            <a:r>
              <a:rPr>
                <a:solidFill>
                  <a:srgbClr val="4758AB"/>
                </a:solidFill>
                <a:latin typeface="Courier"/>
              </a:rPr>
              <a:t>ifelse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qc_condition,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"pass"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"review"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sample_metadata[,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"sample_id"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"qc_label"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if ... else</a:t>
            </a:r>
            <a:r>
              <a:rPr/>
              <a:t>로 전체 데이터의 QC 상태 메시지도 만듭니다.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5: 기본 R과 dplyr 비교하기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base_result &lt;- sample_metadata[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sample_metadata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dplyr_result &lt;- 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두 결과의 행 수와 샘플 ID를 비교합니다.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6: 파이프로 행과 열 선택하기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qc_overview &lt;- sample_metadata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(passed_qc,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(doublet_rate))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(sample_id, condition, cell_count, doublet_rate)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qc_overview</a:t>
            </a:r>
          </a:p>
          <a:p>
            <a:pPr lvl="0" indent="0" marL="0">
              <a:buNone/>
            </a:pPr>
            <a:r>
              <a:rPr/>
              <a:t>각 함수가 행과 열 중 무엇을 선택하는지 설명합니다.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비교 연산자는 조건별 </a:t>
            </a:r>
            <a:r>
              <a:rPr>
                <a:latin typeface="Courier"/>
              </a:rPr>
              <a:t>TRUE</a:t>
            </a:r>
            <a:r>
              <a:rPr/>
              <a:t>, </a:t>
            </a:r>
            <a:r>
              <a:rPr>
                <a:latin typeface="Courier"/>
              </a:rPr>
              <a:t>FALSE</a:t>
            </a:r>
            <a:r>
              <a:rPr/>
              <a:t>를 만듭니다.</a:t>
            </a:r>
          </a:p>
          <a:p>
            <a:pPr lvl="0"/>
            <a:r>
              <a:rPr>
                <a:latin typeface="Courier"/>
              </a:rPr>
              <a:t>&amp;</a:t>
            </a:r>
            <a:r>
              <a:rPr/>
              <a:t>, </a:t>
            </a:r>
            <a:r>
              <a:rPr>
                <a:latin typeface="Courier"/>
              </a:rPr>
              <a:t>|</a:t>
            </a:r>
            <a:r>
              <a:rPr/>
              <a:t>, </a:t>
            </a:r>
            <a:r>
              <a:rPr>
                <a:latin typeface="Courier"/>
              </a:rPr>
              <a:t>!</a:t>
            </a:r>
            <a:r>
              <a:rPr/>
              <a:t>로 여러 조건을 결합하거나 반대로 바꿉니다.</a:t>
            </a:r>
          </a:p>
          <a:p>
            <a:pPr lvl="0"/>
            <a:r>
              <a:rPr/>
              <a:t>논리형 벡터를 </a:t>
            </a:r>
            <a:r>
              <a:rPr>
                <a:latin typeface="Courier"/>
              </a:rPr>
              <a:t>[행, 열]</a:t>
            </a:r>
            <a:r>
              <a:rPr/>
              <a:t>의 행 위치에 사용해 필터링합니다.</a:t>
            </a:r>
          </a:p>
          <a:p>
            <a:pPr lvl="0"/>
            <a:r>
              <a:rPr/>
              <a:t>dplyr의 </a:t>
            </a:r>
            <a:r>
              <a:rPr>
                <a:latin typeface="Courier"/>
              </a:rPr>
              <a:t>filter()</a:t>
            </a:r>
            <a:r>
              <a:rPr/>
              <a:t>와 </a:t>
            </a:r>
            <a:r>
              <a:rPr>
                <a:latin typeface="Courier"/>
              </a:rPr>
              <a:t>select()</a:t>
            </a:r>
            <a:r>
              <a:rPr/>
              <a:t>로 행과 열을 선택할 수 있습니다.</a:t>
            </a:r>
          </a:p>
          <a:p>
            <a:pPr lvl="0"/>
            <a:r>
              <a:rPr/>
              <a:t>데이터 마스킹에서는 함수 안에서 열 이름을 직접 사용합니다.</a:t>
            </a:r>
          </a:p>
          <a:p>
            <a:pPr lvl="0"/>
            <a:r>
              <a:rPr>
                <a:latin typeface="Courier"/>
              </a:rPr>
              <a:t>%&gt;%</a:t>
            </a:r>
            <a:r>
              <a:rPr/>
              <a:t>로 분석 단계를 위에서 아래로 연결할 수 있습니다.</a:t>
            </a:r>
          </a:p>
          <a:p>
            <a:pPr lvl="0"/>
            <a:r>
              <a:rPr/>
              <a:t>결측값이 있는 조건에는 </a:t>
            </a:r>
            <a:r>
              <a:rPr>
                <a:latin typeface="Courier"/>
              </a:rPr>
              <a:t>is.na()</a:t>
            </a:r>
            <a:r>
              <a:rPr/>
              <a:t> 처리를 함께 고려합니다.</a:t>
            </a:r>
          </a:p>
          <a:p>
            <a:pPr lvl="0"/>
            <a:r>
              <a:rPr/>
              <a:t>단일 실행 흐름에는 </a:t>
            </a:r>
            <a:r>
              <a:rPr>
                <a:latin typeface="Courier"/>
              </a:rPr>
              <a:t>if</a:t>
            </a:r>
            <a:r>
              <a:rPr/>
              <a:t>, 원소별 결과에는 </a:t>
            </a:r>
            <a:r>
              <a:rPr>
                <a:latin typeface="Courier"/>
              </a:rPr>
              <a:t>ifelse()</a:t>
            </a:r>
            <a:r>
              <a:rPr/>
              <a:t>를 사용합니다.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urier"/>
              </a:rPr>
              <a:t>=</a:t>
            </a:r>
            <a:r>
              <a:rPr/>
              <a:t>와 </a:t>
            </a:r>
            <a:r>
              <a:rPr>
                <a:latin typeface="Courier"/>
              </a:rPr>
              <a:t>==</a:t>
            </a:r>
            <a:r>
              <a:rPr/>
              <a:t>는 어떻게 다릅니까?</a:t>
            </a:r>
          </a:p>
          <a:p>
            <a:pPr lvl="0" indent="-457200" marL="457200">
              <a:buAutoNum type="arabicPeriod"/>
            </a:pPr>
            <a:r>
              <a:rPr/>
              <a:t>두 조건을 모두 만족하는 행은 어떤 연산자로 찾습니까?</a:t>
            </a:r>
          </a:p>
          <a:p>
            <a:pPr lvl="0" indent="-457200" marL="457200">
              <a:buAutoNum type="arabicPeriod"/>
            </a:pPr>
            <a:r>
              <a:rPr/>
              <a:t>결측값 여부는 어떤 함수로 확인합니까?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filter()</a:t>
            </a:r>
            <a:r>
              <a:rPr/>
              <a:t> 안에서 열 이름을 직접 쓸 수 있는 이유는 무엇입니까?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if</a:t>
            </a:r>
            <a:r>
              <a:rPr/>
              <a:t>와 </a:t>
            </a:r>
            <a:r>
              <a:rPr>
                <a:latin typeface="Courier"/>
              </a:rPr>
              <a:t>ifelse()</a:t>
            </a:r>
            <a:r>
              <a:rPr/>
              <a:t>는 언제 각각 사용합니까?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여러 값에 같은 작업을 반복하고 벡터화 연산과 비교하기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7차시: 조건식과 데이터 필터링</dc:title>
  <dc:creator/>
  <cp:keywords/>
  <dcterms:created xsi:type="dcterms:W3CDTF">2026-07-12T11:15:58Z</dcterms:created>
  <dcterms:modified xsi:type="dcterms:W3CDTF">2026-07-12T11:15:58Z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