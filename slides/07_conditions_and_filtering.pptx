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</p:sldIdLst>
  <p:sldSz cx="12192000" cy="6858000"/>
  <p:notesSz cx="6858000" cy="9144000"/>
  <p:defaultTextStyle>
    <a:defPPr>
      <a:defRPr lang="ko-KR"/>
    </a:defPPr>
    <a:lvl1pPr algn="l" defTabSz="914400" eaLnBrk="1" hangingPunct="1" latinLnBrk="1" marL="0" rtl="0">
      <a:defRPr altLang="en-US" b="1" kern="1200" lang="ko-KR" sz="3000">
        <a:solidFill>
          <a:srgbClr val="172033"/>
        </a:solidFill>
        <a:latin charset="-127" panose="02000503000000020004" pitchFamily="50" typeface="Pretendard"/>
        <a:ea charset="-127" panose="02000503000000020004" pitchFamily="50" typeface="Pretendard"/>
        <a:cs typeface="+mn-cs"/>
      </a:defRPr>
    </a:lvl1pPr>
    <a:lvl2pPr algn="l" defTabSz="914400" eaLnBrk="1" hangingPunct="1" latinLnBrk="1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1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1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1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1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1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1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1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howGuides="1" snapToGrid="0">
      <p:cViewPr varScale="1">
        <p:scale>
          <a:sx d="100" n="113"/>
          <a:sy d="100" n="113"/>
        </p:scale>
        <p:origin x="312" y="108"/>
      </p:cViewPr>
      <p:guideLst>
        <p:guide orient="horz" pos="2160"/>
        <p:guide pos="3840"/>
      </p:guideLst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2" Type="http://schemas.openxmlformats.org/officeDocument/2006/relationships/tableStyles" Target="tableStyles.xml" /><Relationship Id="rId61" Type="http://schemas.openxmlformats.org/officeDocument/2006/relationships/theme" Target="theme/theme1.xml" /><Relationship Id="rId60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DC4F62-B626-4C1A-9258-8B7A85121C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36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53DA06A-F964-4BA7-B1A0-476AFBA404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 b="0">
                <a:solidFill>
                  <a:srgbClr val="0F766E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75EA77F-A944-4F90-A580-BFB1EBDD92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247731-8C16-48CE-83E8-82961F5A4B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73EC76E-53A1-48FD-AAA5-91D55E1A2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0F5A436-622D-4609-9CAD-93F62FE9C071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90350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3ADEE9-D4EA-4A02-8908-7CE7FA28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DF8BB1-DB9D-47B4-AC6B-6E959AF59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57BB9-73CC-4070-8281-5B07E989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B2FCBBD-DFA9-4E92-A913-26CF9C16EE1F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7119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Exercise">
    <p:bg>
      <p:bgPr>
        <a:solidFill>
          <a:srgbClr val="1720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 b="1">
                <a:solidFill>
                  <a:srgbClr val="FFFFFF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3ADEE9-D4EA-4A02-8908-7CE7FA28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DF8BB1-DB9D-47B4-AC6B-6E959AF59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57BB9-73CC-4070-8281-5B07E989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B51DC66-B343-4339-8DFE-F337361B7142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F766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624DEFA-F193-42BA-A7DC-72FAB0CB111A}"/>
              </a:ext>
            </a:extLst>
          </p:cNvPr>
          <p:cNvSpPr/>
          <p:nvPr userDrawn="1"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18FC79-1AA4-44C2-AB13-4EE8FD5EB7E8}"/>
              </a:ext>
            </a:extLst>
          </p:cNvPr>
          <p:cNvSpPr txBox="1"/>
          <p:nvPr userDrawn="1"/>
        </p:nvSpPr>
        <p:spPr>
          <a:xfrm>
            <a:off x="508000" y="990600"/>
            <a:ext cx="2286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1100" b="1">
                <a:solidFill>
                  <a:srgbClr val="0F766E"/>
                </a:solidFill>
                <a:latin typeface="Inter" panose="02000503000000020004" pitchFamily="2" charset="0"/>
                <a:ea typeface="Inter" panose="02000503000000020004" pitchFamily="2" charset="0"/>
              </a:rPr>
              <a:t>PRACTICE</a:t>
            </a:r>
            <a:endParaRPr lang="ko-KR" altLang="en-US" sz="1100" b="1">
              <a:solidFill>
                <a:srgbClr val="0F766E"/>
              </a:solidFill>
              <a:latin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98304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de / Demonstrati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3ADEE9-D4EA-4A02-8908-7CE7FA28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DF8BB1-DB9D-47B4-AC6B-6E959AF59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57BB9-73CC-4070-8281-5B07E989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F65F950-2413-4CE2-8BD0-18A4BBCD72EB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8C3D350-ADF5-46FD-87CE-C07683F6982B}"/>
              </a:ext>
            </a:extLst>
          </p:cNvPr>
          <p:cNvSpPr/>
          <p:nvPr userDrawn="1"/>
        </p:nvSpPr>
        <p:spPr>
          <a:xfrm>
            <a:off x="457200" y="1422400"/>
            <a:ext cx="11277600" cy="457200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0862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00C25F-30DA-4EDD-8504-44DA909B4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8E1EED7-4C61-4A08-AF5B-A390C60A00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26A1FF6-51FE-4685-BA34-E0F89D4546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2B3851C-0BE4-4E91-95F4-2EC266D694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43CBF9E-951B-4FF6-85E6-6601F23868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54922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CE8392-3978-4394-BAB4-2437C15AD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374FF69-769F-4677-B82A-E232B25BA9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52B5173-A205-47A2-953F-A236FB1D43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DD21268-4ABF-4DE0-998A-28F7BFCD2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BEFEE9E-EDCD-4886-92ED-3796485C88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BE14DB4-8F62-4CD7-8DD2-AD422C0CF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8B169FF-FAD7-46E0-9D59-C9B5BEB076DC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69090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F9F672-094E-482F-8FE2-0C0D8F2E0E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0AF80BD-BF78-49AF-BBBA-1A773DA2CE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98D6527-B034-41A0-9FC9-C530962C8B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E5785AA-E40F-4E95-B834-2D7649E02A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DA75630-B532-4D2B-BA6E-233076F4AD2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005AF02-6B25-4BBC-9A62-947D988356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A29AF57-1554-4883-A5C0-D2E356058D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F02C77D-EDE4-4302-857A-97BE6DADBF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2813AE4-CA38-49CC-83A5-DA570C2D152E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45710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AC5B61-FD8F-4A03-8446-AFB1FC117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317F6E7-F469-4E45-A7CA-18C4220B7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081412A-6E99-4D2F-8564-CCE9309E2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7B49B12-B58B-42B1-9FC8-0F11E70ED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C9F98D1-EC0F-4996-8D0E-19D80403D7FB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59383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B3DAFDE-3EF4-4BC2-8C6E-53A0DCBB0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E806864-590A-497A-9E3B-31220A838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AE52D8-EF8D-4B38-BAE5-100369F3A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57893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96CAC9-BDCF-454F-B4EB-26821C0AC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7F85D79-8D84-4463-A554-36DA89022A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4A32173-BE5A-4386-B8FC-0DD3565F6F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5D7BBE8-F04D-4F20-A998-2847A7EC36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1091599-E0C3-4951-800C-0FA8BF5CD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9D06458-41C2-4B2E-9AF2-A62CE3660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39F72F4-84F2-4B08-8B7A-396EE76DDF26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97828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F8A6E4-6940-49AF-8B5F-9B16DB004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5AFC852-B328-4179-BC85-EB34AC8CD4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DBD367B-5A0C-4ADF-98EF-314F244CCF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C903147-4754-4023-8B77-20EB33E5B4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3ADDB5D-EDEB-4E99-BA69-F1F76F2751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3872CF2-966E-422A-927F-3BD6A6E59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7E2E2F7-28CA-4288-94F5-8E25DCD2A45E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5647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CE92E6-4E61-4E2B-9F4F-D23641A2E5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E576B3A-9062-444C-9C47-61FA4351C0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1A3954-5D36-48F6-87B1-16A84AB442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DA0FE3E-5C3F-4A6C-952A-7C8CB744F7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068D49-B037-4EA4-BE8F-2516D3000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5064922-4160-4D2C-A562-270D09593F37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05819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C94EABC-274E-4BAD-AB22-188F885A3B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47306ED-34B5-4464-AFBE-9E25FC9A04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C0C654F-F2FA-42D5-8AC8-4073F8FBA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531A3EE-B6E8-4AF1-9041-45D44926D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3645F18-B2AB-45F4-8642-885F2B8AB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B5F32C9-BBE2-4217-A3E2-DE5FC68F3267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7587791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461F8DA-C043-4CD7-86F2-E1A0EF4CBD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altLang="en-US" lang="ko-KR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B14F0DF-8367-4CE4-BFB7-B09F18D1638C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en-US" lang="ko-KR"/>
              <a:t>마스터 텍스트 스타일을 편집하려면 클릭</a:t>
            </a:r>
          </a:p>
          <a:p>
            <a:pPr lvl="1"/>
            <a:r>
              <a:rPr altLang="en-US" lang="ko-KR"/>
              <a:t>두 번째 수준</a:t>
            </a:r>
          </a:p>
          <a:p>
            <a:pPr lvl="2"/>
            <a:r>
              <a:rPr altLang="en-US" lang="ko-KR"/>
              <a:t>세 번째 수준</a:t>
            </a:r>
          </a:p>
          <a:p>
            <a:pPr lvl="3"/>
            <a:r>
              <a:rPr altLang="en-US" lang="ko-KR"/>
              <a:t>네 번째 수준</a:t>
            </a:r>
          </a:p>
          <a:p>
            <a:pPr lvl="4"/>
            <a:r>
              <a:rPr altLang="en-US" lang="ko-KR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183F21-A1A8-463E-86D3-0CFB7A05EF38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b="0" sz="900">
                <a:solidFill>
                  <a:srgbClr val="526077"/>
                </a:solidFill>
                <a:latin charset="0" panose="02000503000000020004" pitchFamily="2" typeface="Inter"/>
              </a:defRPr>
            </a:lvl1pPr>
          </a:lstStyle>
          <a:p>
            <a:fld id="{2696ECB5-D1DE-4FA4-9CD7-1650D2029999}" type="datetimeFigureOut">
              <a:rPr altLang="ko-KR" lang="en-US" smtClean="0">
                <a:ea charset="0" panose="02000503000000020004" pitchFamily="2" typeface="Inter"/>
              </a:rPr>
              <a:pPr/>
              <a:t>2026-07-12</a:t>
            </a:fld>
            <a:endParaRPr altLang="ko-KR" lang="en-US">
              <a:ea charset="0" panose="02000503000000020004" pitchFamily="2" typeface="Inter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0C5B5C-65C9-4D66-BC46-FDE4016F57BF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b="0" sz="900">
                <a:solidFill>
                  <a:srgbClr val="526077"/>
                </a:solidFill>
                <a:latin charset="0" panose="02000503000000020004" pitchFamily="2" typeface="Inter"/>
              </a:defRPr>
            </a:lvl1pPr>
          </a:lstStyle>
          <a:p>
            <a:endParaRPr altLang="en-US" 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52730EB-AE08-4C4E-A274-945B51E99D4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b="0" sz="900">
                <a:solidFill>
                  <a:srgbClr val="526077"/>
                </a:solidFill>
                <a:latin charset="0" panose="02000503000000020004" pitchFamily="2" typeface="Inter"/>
              </a:defRPr>
            </a:lvl1pPr>
          </a:lstStyle>
          <a:p>
            <a:fld id="{812DBD89-BD24-4FCE-906C-9138E5983130}" type="slidenum">
              <a:rPr altLang="ko-KR" lang="en-US" smtClean="0">
                <a:ea charset="0" panose="02000503000000020004" pitchFamily="2" typeface="Inter"/>
              </a:rPr>
              <a:pPr/>
              <a:t>‹#›</a:t>
            </a:fld>
            <a:endParaRPr altLang="ko-KR" lang="en-US">
              <a:ea charset="0" panose="02000503000000020004" pitchFamily="2"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395331952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61" r:id="rId3"/>
    <p:sldLayoutId id="214748366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</p:sldLayoutIdLst>
  <p:txStyles>
    <p:titleStyle>
      <a:lvl1pPr algn="l" defTabSz="914400" eaLnBrk="1" hangingPunct="1" latinLnBrk="1" rtl="0">
        <a:lnSpc>
          <a:spcPct val="108000"/>
        </a:lnSpc>
        <a:spcBef>
          <a:spcPct val="0"/>
        </a:spcBef>
        <a:spcAft>
          <a:spcPts val="700"/>
        </a:spcAft>
        <a:buNone/>
        <a:defRPr b="0" kern="1200" sz="20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j-cs"/>
        </a:defRPr>
      </a:lvl1pPr>
    </p:titleStyle>
    <p:bodyStyle>
      <a:lvl1pPr algn="l" defTabSz="914400" eaLnBrk="1" hangingPunct="1" indent="-228600" latinLnBrk="1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1pPr>
      <a:lvl2pPr algn="l" defTabSz="914400" eaLnBrk="1" hangingPunct="1" indent="-228600" latinLnBrk="1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2pPr>
      <a:lvl3pPr algn="l" defTabSz="914400" eaLnBrk="1" hangingPunct="1" indent="-228600" latinLnBrk="1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3pPr>
      <a:lvl4pPr algn="l" defTabSz="914400" eaLnBrk="1" hangingPunct="1" indent="-228600" latinLnBrk="1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4pPr>
      <a:lvl5pPr algn="l" defTabSz="914400" eaLnBrk="1" hangingPunct="1" indent="-228600" latinLnBrk="1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5pPr>
      <a:lvl6pPr algn="l" defTabSz="914400" eaLnBrk="1" hangingPunct="1" indent="-228600" latinLnBrk="1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1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1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1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algn="l" defTabSz="914400" eaLnBrk="1" hangingPunct="1" latinLnBrk="1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1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1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1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1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1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1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1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1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0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DC4F62-B626-4C1A-9258-8B7A85121C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7차시: 조건식과 데이터 필터링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53DA06A-F964-4BA7-B1A0-476AFBA404D1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기초 프로그래밍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오늘의 학습 목표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비교 연산자로 조건을 만들 수 있다.</a:t>
            </a:r>
          </a:p>
          <a:p>
            <a:pPr lvl="0" indent="-457200" marL="457200">
              <a:buAutoNum type="arabicPeriod"/>
            </a:pPr>
            <a:r>
              <a:rPr/>
              <a:t>논리 연산자로 여러 조건을 결합할 수 있다.</a:t>
            </a:r>
          </a:p>
          <a:p>
            <a:pPr lvl="0" indent="-457200" marL="457200">
              <a:buAutoNum type="arabicPeriod"/>
            </a:pPr>
            <a:r>
              <a:rPr/>
              <a:t>조건을 이용해 데이터 프레임의 행을 선택할 수 있다.</a:t>
            </a:r>
          </a:p>
          <a:p>
            <a:pPr lvl="0" indent="-457200" marL="457200">
              <a:buAutoNum type="arabicPeriod"/>
            </a:pPr>
            <a:r>
              <a:rPr>
                <a:latin typeface="Courier"/>
              </a:rPr>
              <a:t>if</a:t>
            </a:r>
            <a:r>
              <a:rPr/>
              <a:t>, </a:t>
            </a:r>
            <a:r>
              <a:rPr>
                <a:latin typeface="Courier"/>
              </a:rPr>
              <a:t>if ... else</a:t>
            </a:r>
            <a:r>
              <a:rPr/>
              <a:t>, </a:t>
            </a:r>
            <a:r>
              <a:rPr>
                <a:latin typeface="Courier"/>
              </a:rPr>
              <a:t>ifelse()</a:t>
            </a:r>
            <a:r>
              <a:rPr/>
              <a:t>를 상황에 맞게 사용할 수 있다.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선수 지식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논리형 값 </a:t>
            </a:r>
            <a:r>
              <a:rPr>
                <a:latin typeface="Courier"/>
              </a:rPr>
              <a:t>TRUE</a:t>
            </a:r>
            <a:r>
              <a:rPr/>
              <a:t>, </a:t>
            </a:r>
            <a:r>
              <a:rPr>
                <a:latin typeface="Courier"/>
              </a:rPr>
              <a:t>FALSE</a:t>
            </a:r>
            <a:r>
              <a:rPr/>
              <a:t>를 구분할 수 있습니다.</a:t>
            </a:r>
          </a:p>
          <a:p>
            <a:pPr lvl="0"/>
            <a:r>
              <a:rPr/>
              <a:t>벡터를 조건으로 인덱싱할 수 있습니다.</a:t>
            </a:r>
          </a:p>
          <a:p>
            <a:pPr lvl="0"/>
            <a:r>
              <a:rPr/>
              <a:t>데이터 프레임에서 </a:t>
            </a:r>
            <a:r>
              <a:rPr>
                <a:latin typeface="Courier"/>
              </a:rPr>
              <a:t>$</a:t>
            </a:r>
            <a:r>
              <a:rPr/>
              <a:t>와 </a:t>
            </a:r>
            <a:r>
              <a:rPr>
                <a:latin typeface="Courier"/>
              </a:rPr>
              <a:t>[행, 열]</a:t>
            </a:r>
            <a:r>
              <a:rPr/>
              <a:t>을 사용할 수 있습니다.</a:t>
            </a:r>
          </a:p>
          <a:p>
            <a:pPr lvl="0"/>
            <a:r>
              <a:rPr>
                <a:latin typeface="Courier"/>
              </a:rPr>
              <a:t>read.csv()</a:t>
            </a:r>
            <a:r>
              <a:rPr/>
              <a:t>로 CSV 파일을 불러올 수 있습니다.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6차시의 샘플 메타데이터를 사용한다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sample_metadata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"data/sample_metadata.csv"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</a:p>
          <a:p>
            <a:pPr lvl="0" indent="0" marL="0">
              <a:buNone/>
            </a:pPr>
            <a:r>
              <a:rPr/>
              <a:t>이번 차시에서는 불러온 표에서 원하는 샘플을 조건에 따라 선택합니다.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조건식의 결과는 논리값이다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 &lt;- </a:t>
            </a:r>
            <a:r>
              <a:rPr>
                <a:solidFill>
                  <a:srgbClr val="AD0000"/>
                </a:solidFill>
                <a:latin typeface="Courier"/>
              </a:rPr>
              <a:t>1240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cell_count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cell_count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</a:p>
          <a:p>
            <a:pPr lvl="0"/>
            <a:r>
              <a:rPr/>
              <a:t>조건이 맞으면 </a:t>
            </a:r>
            <a:r>
              <a:rPr>
                <a:latin typeface="Courier"/>
              </a:rPr>
              <a:t>TRUE</a:t>
            </a:r>
            <a:r>
              <a:rPr/>
              <a:t>, 맞지 않으면 </a:t>
            </a:r>
            <a:r>
              <a:rPr>
                <a:latin typeface="Courier"/>
              </a:rPr>
              <a:t>FALSE</a:t>
            </a:r>
            <a:r>
              <a:rPr/>
              <a:t>입니다.</a:t>
            </a:r>
          </a:p>
          <a:p>
            <a:pPr lvl="0"/>
            <a:r>
              <a:rPr/>
              <a:t>이 논리값을 선택과 실행 흐름에 사용할 수 있습니다.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크기를 비교하는 연산자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38200" y="1816100"/>
          <a:ext cx="1051560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연산자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의미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예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크다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x &gt; 10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크거나 같다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x &gt;= 10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작다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x &lt; 10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작거나 같다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x &lt;= 10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경계값을 포함할지 생각한 뒤 </a:t>
            </a:r>
            <a:r>
              <a:rPr>
                <a:latin typeface="Courier"/>
              </a:rPr>
              <a:t>&gt;</a:t>
            </a:r>
            <a:r>
              <a:rPr/>
              <a:t>와 </a:t>
            </a:r>
            <a:r>
              <a:rPr>
                <a:latin typeface="Courier"/>
              </a:rPr>
              <a:t>&gt;=</a:t>
            </a:r>
            <a:r>
              <a:rPr/>
              <a:t>를 구분합니다.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같은지 또는 다른지 비교한다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38200" y="1816100"/>
          <a:ext cx="1051560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연산자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의미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예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같다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condition == "treated"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다르다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condition != "treated"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condition &lt;- </a:t>
            </a:r>
            <a:r>
              <a:rPr>
                <a:solidFill>
                  <a:srgbClr val="20794D"/>
                </a:solidFill>
                <a:latin typeface="Courier"/>
              </a:rPr>
              <a:t>"control"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condition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"control"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condition </a:t>
            </a:r>
            <a:r>
              <a:rPr>
                <a:solidFill>
                  <a:srgbClr val="5E5E5E"/>
                </a:solidFill>
                <a:latin typeface="Courier"/>
              </a:rPr>
              <a:t>!=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"treated"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대입과 비교를 구분한다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condition &lt;- </a:t>
            </a:r>
            <a:r>
              <a:rPr>
                <a:solidFill>
                  <a:srgbClr val="20794D"/>
                </a:solidFill>
                <a:latin typeface="Courier"/>
              </a:rPr>
              <a:t>"control"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condition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"control"</a:t>
            </a:r>
          </a:p>
          <a:p>
            <a:pPr lvl="0"/>
            <a:r>
              <a:rPr>
                <a:latin typeface="Courier"/>
              </a:rPr>
              <a:t>&lt;-</a:t>
            </a:r>
            <a:r>
              <a:rPr/>
              <a:t>는 값을 변수에 저장합니다.</a:t>
            </a:r>
          </a:p>
          <a:p>
            <a:pPr lvl="0"/>
            <a:r>
              <a:rPr>
                <a:latin typeface="Courier"/>
              </a:rPr>
              <a:t>==</a:t>
            </a:r>
            <a:r>
              <a:rPr/>
              <a:t>는 두 값이 같은지 비교합니다.</a:t>
            </a:r>
          </a:p>
          <a:p>
            <a:pPr lvl="0"/>
            <a:r>
              <a:rPr/>
              <a:t>조건식에서 </a:t>
            </a:r>
            <a:r>
              <a:rPr>
                <a:latin typeface="Courier"/>
              </a:rPr>
              <a:t>=</a:t>
            </a:r>
            <a:r>
              <a:rPr/>
              <a:t> 하나를 잘못 사용하지 않도록 주의합니다.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벡터를 비교하면 원소마다 결과가 나온다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1240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1090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1520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cell_counts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</a:p>
          <a:p>
            <a:pPr lvl="0" indent="0" marL="0">
              <a:buNone/>
            </a:pPr>
            <a:r>
              <a:rPr/>
              <a:t>비교 결과는 원래 벡터와 길이가 같은 논리형 벡터입니다.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데이터 프레임의 열로 조건을 만든다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enough_cells &lt;-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enough_cells</a:t>
            </a:r>
          </a:p>
          <a:p>
            <a:pPr lvl="0" indent="0" marL="0">
              <a:buNone/>
            </a:pPr>
            <a:r>
              <a:rPr/>
              <a:t>각 값은 같은 행에 있는 샘플이 조건을 만족하는지 나타냅니다.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조건으로 행을 선택한다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sample_metadata[enough_cells, ]</a:t>
            </a:r>
          </a:p>
          <a:p>
            <a:pPr lvl="0"/>
            <a:r>
              <a:rPr/>
              <a:t>대괄호의 쉼표 앞에 논리형 벡터를 넣습니다.</a:t>
            </a:r>
          </a:p>
          <a:p>
            <a:pPr lvl="0"/>
            <a:r>
              <a:rPr>
                <a:latin typeface="Courier"/>
              </a:rPr>
              <a:t>TRUE</a:t>
            </a:r>
            <a:r>
              <a:rPr/>
              <a:t>인 행만 선택됩니다.</a:t>
            </a:r>
          </a:p>
          <a:p>
            <a:pPr lvl="0"/>
            <a:r>
              <a:rPr/>
              <a:t>쉼표 뒤를 비워 모든 열을 유지합니다.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조건을 직접 작성할 수도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sample_metadata[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 marL="0">
              <a:buNone/>
            </a:pPr>
            <a:r>
              <a:rPr/>
              <a:t>조건을 변수에 먼저 저장하면 중간 결과를 확인하기 쉽고, 직접 작성하면 코드가 짧아집니다.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dplyr은 데이터 프레임 작업을 읽기 쉽게 표현한다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최초 한 번만 실행한다.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install.packages("dplyr")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(dplyr)</a:t>
            </a:r>
          </a:p>
          <a:p>
            <a:pPr lvl="0"/>
            <a:r>
              <a:rPr/>
              <a:t>dplyr은 데이터 프레임을 선택하고 변환하는 함수를 제공합니다.</a:t>
            </a:r>
          </a:p>
          <a:p>
            <a:pPr lvl="0"/>
            <a:r>
              <a:rPr/>
              <a:t>설치는 한 번, </a:t>
            </a:r>
            <a:r>
              <a:rPr>
                <a:latin typeface="Courier"/>
              </a:rPr>
              <a:t>library()</a:t>
            </a:r>
            <a:r>
              <a:rPr/>
              <a:t>는 새 R 세션마다 실행합니다.</a:t>
            </a:r>
          </a:p>
          <a:p>
            <a:pPr lvl="0"/>
            <a:r>
              <a:rPr/>
              <a:t>이 차시에서는 기본 R과 dplyr 표현을 함께 비교합니다.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기본 R과 </a:t>
            </a:r>
            <a:r>
              <a:rPr>
                <a:latin typeface="Courier"/>
              </a:rPr>
              <a:t>filter()</a:t>
            </a:r>
            <a:r>
              <a:rPr/>
              <a:t>는 같은 조건을 다르게 표현한다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기본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sample_metadata[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dplyr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(sample_metadata, cell_count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두 코드는 세포 수가 1200 이상인 행을 선택합니다.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데이터 마스킹에서는 열 이름을 직접 쓴다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함수 밖에서는 객체와 열 이름을 함께 쓴다.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filter() 안에서는 열 이름을 직접 쓸 수 있다.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(sample_metadata, cell_count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가 첫 번째 입력 데이터의 열 이름을 먼저 찾기 때문입니다. 이를 </a:t>
            </a:r>
            <a:r>
              <a:rPr b="1"/>
              <a:t>데이터 마스킹</a:t>
            </a:r>
            <a:r>
              <a:rPr/>
              <a:t>이라고 합니다.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데이터 마스킹의 범위를 구분한다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min_cells &lt;-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cell_count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min_cells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>
                <a:latin typeface="Courier"/>
              </a:rPr>
              <a:t>cell_count</a:t>
            </a:r>
            <a:r>
              <a:rPr/>
              <a:t>는 </a:t>
            </a:r>
            <a:r>
              <a:rPr>
                <a:latin typeface="Courier"/>
              </a:rPr>
              <a:t>sample_metadata</a:t>
            </a:r>
            <a:r>
              <a:rPr/>
              <a:t> 안의 열입니다.</a:t>
            </a:r>
          </a:p>
          <a:p>
            <a:pPr lvl="0"/>
            <a:r>
              <a:rPr>
                <a:latin typeface="Courier"/>
              </a:rPr>
              <a:t>min_cells</a:t>
            </a:r>
            <a:r>
              <a:rPr/>
              <a:t>는 함수 밖에서 만든 변수입니다.</a:t>
            </a:r>
          </a:p>
          <a:p>
            <a:pPr lvl="0"/>
            <a:r>
              <a:rPr/>
              <a:t>열 이름과 외부 변수 이름을 서로 다르게 작성하면 혼동을 줄일 수 있습니다.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%&gt;%</a:t>
            </a:r>
            <a:r>
              <a:rPr/>
              <a:t>는 왼쪽 결과를 다음 함수로 전달한다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sample_metadata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(cell_count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위 코드는 다음 함수 호출과 같은 의미입니다.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(sample_metadata, cell_count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%&gt;%</a:t>
            </a:r>
            <a:r>
              <a:rPr sz="2000"/>
              <a:t>는 “그다음”이라고 읽으면 분석 순서를 이해하기 쉽습니다.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파이프를 사용해 여러 단계를 연결한다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filtered_metadata &lt;- sample_metadata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(cell_count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(sample_id, condition, cell_count)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filtered_metadata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는 행을 선택합니다.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는 열을 선택합니다.</a:t>
            </a:r>
          </a:p>
          <a:p>
            <a:pPr lvl="0"/>
            <a:r>
              <a:rPr/>
              <a:t>결과는 기존 방식대로 </a:t>
            </a:r>
            <a:r>
              <a:rPr>
                <a:latin typeface="Courier"/>
              </a:rPr>
              <a:t>&lt;-</a:t>
            </a:r>
            <a:r>
              <a:rPr/>
              <a:t>로 저장합니다.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에서 여러 조건을 결합한다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sample_metadata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cell_count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median_genes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mito_percent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 marL="0">
              <a:buNone/>
            </a:pPr>
            <a:r>
              <a:rPr/>
              <a:t>쉼표로 나눈 조건은 모두 만족해야 하므로 </a:t>
            </a:r>
            <a:r>
              <a:rPr>
                <a:latin typeface="Courier"/>
              </a:rPr>
              <a:t>&amp;</a:t>
            </a:r>
            <a:r>
              <a:rPr/>
              <a:t>로 결합한 것과 같습니다.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기존 논리 연산자를 그대로 사용할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sample_metadata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condition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"treated"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batch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"batch_1"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sample_metadata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(doublet_rate))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&amp;</a:t>
            </a:r>
            <a:r>
              <a:rPr/>
              <a:t>, </a:t>
            </a:r>
            <a:r>
              <a:rPr>
                <a:latin typeface="Courier"/>
              </a:rPr>
              <a:t>|</a:t>
            </a:r>
            <a:r>
              <a:rPr/>
              <a:t>, </a:t>
            </a:r>
            <a:r>
              <a:rPr>
                <a:latin typeface="Courier"/>
              </a:rPr>
              <a:t>!</a:t>
            </a:r>
            <a:r>
              <a:rPr/>
              <a:t>, </a:t>
            </a:r>
            <a:r>
              <a:rPr>
                <a:latin typeface="Courier"/>
              </a:rPr>
              <a:t>%in%</a:t>
            </a:r>
            <a:r>
              <a:rPr/>
              <a:t>, </a:t>
            </a:r>
            <a:r>
              <a:rPr>
                <a:latin typeface="Courier"/>
              </a:rPr>
              <a:t>is.na()</a:t>
            </a:r>
            <a:r>
              <a:rPr/>
              <a:t>의 의미는 기본 R과 같습니다.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dplyr::</a:t>
            </a:r>
            <a:r>
              <a:rPr/>
              <a:t>로 함수의 출처를 표시할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cell_count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>
                <a:latin typeface="Courier"/>
              </a:rPr>
              <a:t>패키지::함수</a:t>
            </a:r>
            <a:r>
              <a:rPr/>
              <a:t>는 어느 패키지의 함수인지 명확히 보여 줍니다.</a:t>
            </a:r>
          </a:p>
          <a:p>
            <a:pPr lvl="0"/>
            <a:r>
              <a:rPr/>
              <a:t>같은 이름의 함수가 여러 패키지에 있을 때 특히 유용합니다.</a:t>
            </a:r>
          </a:p>
          <a:p>
            <a:pPr lvl="0"/>
            <a:r>
              <a:rPr/>
              <a:t>이 표기는 </a:t>
            </a:r>
            <a:r>
              <a:rPr>
                <a:latin typeface="Courier"/>
              </a:rPr>
              <a:t>library(dplyr)</a:t>
            </a:r>
            <a:r>
              <a:rPr/>
              <a:t> 없이도 사용할 수 있습니다.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문자형 열도 비교할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is_treated &lt;-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condition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"treated"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is_treated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sample_metadata[is_treated, ]</a:t>
            </a:r>
          </a:p>
          <a:p>
            <a:pPr lvl="0" indent="0" marL="0">
              <a:buNone/>
            </a:pPr>
            <a:r>
              <a:rPr/>
              <a:t>문자형 값을 비교할 때는 따옴표와 철자를 확인합니다.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%in%</a:t>
            </a:r>
            <a:r>
              <a:rPr/>
              <a:t>으로 여러 값 중 하나인지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selected_batches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"batch_1"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"batch_3"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batch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selected_batches</a:t>
            </a:r>
          </a:p>
          <a:p>
            <a:pPr lvl="0"/>
            <a:r>
              <a:rPr/>
              <a:t>왼쪽 값이 오른쪽 벡터에 포함되어 있으면 </a:t>
            </a:r>
            <a:r>
              <a:rPr>
                <a:latin typeface="Courier"/>
              </a:rPr>
              <a:t>TRUE</a:t>
            </a:r>
            <a:r>
              <a:rPr/>
              <a:t>입니다.</a:t>
            </a:r>
          </a:p>
          <a:p>
            <a:pPr lvl="0"/>
            <a:r>
              <a:rPr/>
              <a:t>여러 범주 중 하나에 해당하는 행을 찾을 때 편리합니다.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96CAC9-BDCF-454F-B4EB-26821C0AC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&amp;</a:t>
            </a:r>
            <a:r>
              <a:rPr/>
              <a:t>는 두 조건이 모두 참인지 확인한다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4A32173-BE5A-4386-B8FC-0DD3565F6F55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enough_cells &lt;-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low_mito &lt;-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mito_percent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enough_cells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r>
              <a:rPr>
                <a:solidFill>
                  <a:srgbClr val="003B4F"/>
                </a:solidFill>
                <a:latin typeface="Courier"/>
              </a:rPr>
              <a:t> low_mito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81600" y="977900"/>
          <a:ext cx="6172200" cy="4864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조건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조건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&amp;</a:t>
                      </a:r>
                      <a:r>
                        <a:rPr/>
                        <a:t> 결과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TRUE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TRUE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TRUE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TRUE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FALSE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TRUE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FALSE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FALSE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|</a:t>
            </a:r>
            <a:r>
              <a:rPr/>
              <a:t>는 하나 이상의 조건이 참인지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few_cells &lt;-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high_mito &lt;-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mito_percent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few_cells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high_mito</a:t>
            </a:r>
          </a:p>
          <a:p>
            <a:pPr lvl="0" indent="0" marL="0">
              <a:buNone/>
            </a:pPr>
            <a:r>
              <a:rPr/>
              <a:t>두 조건 중 하나라도 </a:t>
            </a:r>
            <a:r>
              <a:rPr>
                <a:latin typeface="Courier"/>
              </a:rPr>
              <a:t>TRUE</a:t>
            </a:r>
            <a:r>
              <a:rPr/>
              <a:t>이면 결과는 </a:t>
            </a:r>
            <a:r>
              <a:rPr>
                <a:latin typeface="Courier"/>
              </a:rPr>
              <a:t>TRUE</a:t>
            </a:r>
            <a:r>
              <a:rPr/>
              <a:t>입니다.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!</a:t>
            </a:r>
            <a:r>
              <a:rPr/>
              <a:t>는 논리값을 반대로 바꾼다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passed_qc</a:t>
            </a:r>
            <a:br/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003B4F"/>
                </a:solidFill>
                <a:latin typeface="Courier"/>
              </a:rPr>
              <a:t>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passed_qc</a:t>
            </a:r>
          </a:p>
          <a:p>
            <a:pPr lvl="0"/>
            <a:r>
              <a:rPr>
                <a:latin typeface="Courier"/>
              </a:rPr>
              <a:t>TRUE</a:t>
            </a:r>
            <a:r>
              <a:rPr/>
              <a:t>는 </a:t>
            </a:r>
            <a:r>
              <a:rPr>
                <a:latin typeface="Courier"/>
              </a:rPr>
              <a:t>FALSE</a:t>
            </a:r>
            <a:r>
              <a:rPr/>
              <a:t>로 바뀝니다.</a:t>
            </a:r>
          </a:p>
          <a:p>
            <a:pPr lvl="0"/>
            <a:r>
              <a:rPr>
                <a:latin typeface="Courier"/>
              </a:rPr>
              <a:t>FALSE</a:t>
            </a:r>
            <a:r>
              <a:rPr/>
              <a:t>는 </a:t>
            </a:r>
            <a:r>
              <a:rPr>
                <a:latin typeface="Courier"/>
              </a:rPr>
              <a:t>TRUE</a:t>
            </a:r>
            <a:r>
              <a:rPr/>
              <a:t>로 바뀝니다.</a:t>
            </a:r>
          </a:p>
          <a:p>
            <a:pPr lvl="0"/>
            <a:r>
              <a:rPr/>
              <a:t>조건을 만족하지 않는 행을 찾을 때 사용합니다.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여러 조건을 결합해 행을 선택한다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qc_condition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mito_percent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sample_metadata[qc_condition, ]</a:t>
            </a:r>
          </a:p>
          <a:p>
            <a:pPr lvl="0" indent="0" marL="0">
              <a:buNone/>
            </a:pPr>
            <a:r>
              <a:rPr/>
              <a:t>각 비교식을 줄로 나누면 긴 조건도 읽기 쉽습니다.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괄호로 조건의 의미를 분명히 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selected_condition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condition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"treated"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(sample_metadata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batch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"batch_1"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batch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"batch_2"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/>
              <a:t>괄호 안의 조건을 먼저 계산합니다.</a:t>
            </a:r>
          </a:p>
          <a:p>
            <a:pPr lvl="0"/>
            <a:r>
              <a:rPr>
                <a:latin typeface="Courier"/>
              </a:rPr>
              <a:t>&amp;</a:t>
            </a:r>
            <a:r>
              <a:rPr/>
              <a:t>와 </a:t>
            </a:r>
            <a:r>
              <a:rPr>
                <a:latin typeface="Courier"/>
              </a:rPr>
              <a:t>|</a:t>
            </a:r>
            <a:r>
              <a:rPr/>
              <a:t>를 함께 쓸 때는 괄호로 의도를 표시합니다.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조건식에는 교육용 기준을 사용한다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qc_condition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median_genes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mito_percent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</a:p>
          <a:p>
            <a:pPr lvl="0" indent="0" marL="1270000">
              <a:buNone/>
            </a:pPr>
            <a:r>
              <a:rPr sz="2000"/>
              <a:t>이 수치는 R 조건식 연습을 위한 예시입니다. 실제 QC 기준은 조직, 실험법, 샘플 상태와 분포를 검토하여 정해야 합니다.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조건을 만족하는 행의 개수를 센다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(qc_condition)</a:t>
            </a:r>
          </a:p>
          <a:p>
            <a:pPr lvl="0"/>
            <a:r>
              <a:rPr/>
              <a:t>계산에서 </a:t>
            </a:r>
            <a:r>
              <a:rPr>
                <a:latin typeface="Courier"/>
              </a:rPr>
              <a:t>TRUE</a:t>
            </a:r>
            <a:r>
              <a:rPr/>
              <a:t>는 1, </a:t>
            </a:r>
            <a:r>
              <a:rPr>
                <a:latin typeface="Courier"/>
              </a:rPr>
              <a:t>FALSE</a:t>
            </a:r>
            <a:r>
              <a:rPr/>
              <a:t>는 0처럼 사용됩니다.</a:t>
            </a:r>
          </a:p>
          <a:p>
            <a:pPr lvl="0"/>
            <a:r>
              <a:rPr/>
              <a:t>따라서 </a:t>
            </a:r>
            <a:r>
              <a:rPr>
                <a:latin typeface="Courier"/>
              </a:rPr>
              <a:t>sum()</a:t>
            </a:r>
            <a:r>
              <a:rPr/>
              <a:t>으로 조건을 만족하는 개수를 셀 수 있습니다.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any()</a:t>
            </a:r>
            <a:r>
              <a:rPr/>
              <a:t>는 하나라도 참인지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any</a:t>
            </a:r>
            <a:r>
              <a:rPr>
                <a:solidFill>
                  <a:srgbClr val="003B4F"/>
                </a:solidFill>
                <a:latin typeface="Courier"/>
              </a:rPr>
              <a:t>(sample_metadata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mito_percent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하나 이상의 샘플이 조건을 만족하면 </a:t>
            </a:r>
            <a:r>
              <a:rPr>
                <a:latin typeface="Courier"/>
              </a:rPr>
              <a:t>TRUE</a:t>
            </a:r>
            <a:r>
              <a:rPr/>
              <a:t>를 반환합니다.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all()</a:t>
            </a:r>
            <a:r>
              <a:rPr/>
              <a:t>은 모두 참인지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all</a:t>
            </a:r>
            <a:r>
              <a:rPr>
                <a:solidFill>
                  <a:srgbClr val="003B4F"/>
                </a:solidFill>
                <a:latin typeface="Courier"/>
              </a:rPr>
              <a:t>(sample_metadata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모든 샘플이 조건을 만족해야 </a:t>
            </a:r>
            <a:r>
              <a:rPr>
                <a:latin typeface="Courier"/>
              </a:rPr>
              <a:t>TRUE</a:t>
            </a:r>
            <a:r>
              <a:rPr/>
              <a:t>를 반환합니다.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which()</a:t>
            </a:r>
            <a:r>
              <a:rPr/>
              <a:t>는 참인 위치를 반환한다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passed_qc)</a:t>
            </a:r>
          </a:p>
          <a:p>
            <a:pPr lvl="0"/>
            <a:r>
              <a:rPr/>
              <a:t>논리형 결과 대신 행 번호가 필요할 때 사용합니다.</a:t>
            </a:r>
          </a:p>
          <a:p>
            <a:pPr lvl="0"/>
            <a:r>
              <a:rPr/>
              <a:t>행 선택에는 논리형 벡터를 직접 사용하는 편이 더 읽기 쉬운 경우가 많습니다.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NA</a:t>
            </a:r>
            <a:r>
              <a:rPr/>
              <a:t>와 비교하면 결과도 </a:t>
            </a:r>
            <a:r>
              <a:rPr>
                <a:latin typeface="Courier"/>
              </a:rPr>
              <a:t>NA</a:t>
            </a:r>
            <a:r>
              <a:rPr/>
              <a:t>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doublet_rate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</a:p>
          <a:p>
            <a:pPr lvl="0"/>
            <a:r>
              <a:rPr/>
              <a:t>알 수 없는 값이 기준 이하인지도 알 수 없습니다.</a:t>
            </a:r>
          </a:p>
          <a:p>
            <a:pPr lvl="0"/>
            <a:r>
              <a:rPr/>
              <a:t>따라서 해당 위치의 비교 결과는 </a:t>
            </a:r>
            <a:r>
              <a:rPr>
                <a:latin typeface="Courier"/>
              </a:rPr>
              <a:t>NA</a:t>
            </a:r>
            <a:r>
              <a:rPr/>
              <a:t>입니다.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결측값을 제외하는 조건을 함께 작성한다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known_doublet_rate &lt;-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doublet_rate)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low_doublet_rate &lt;-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doublet_rate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doublet_condition &lt;- known_doublet_rate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r>
              <a:rPr>
                <a:solidFill>
                  <a:srgbClr val="003B4F"/>
                </a:solidFill>
                <a:latin typeface="Courier"/>
              </a:rPr>
              <a:t> low_doublet_rate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sample_metadata[doublet_condition, ]</a:t>
            </a:r>
          </a:p>
          <a:p>
            <a:pPr lvl="0" indent="0" marL="0">
              <a:buNone/>
            </a:pPr>
            <a:r>
              <a:rPr/>
              <a:t>결측값을 임의로 통과 또는 탈락시키지 말고 처리 원칙을 먼저 정합니다.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if</a:t>
            </a:r>
            <a:r>
              <a:rPr/>
              <a:t>는 조건에 따라 코드를 실행한다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 &lt;- </a:t>
            </a:r>
            <a:r>
              <a:rPr>
                <a:solidFill>
                  <a:srgbClr val="AD0000"/>
                </a:solidFill>
                <a:latin typeface="Courier"/>
              </a:rPr>
              <a:t>1240</a:t>
            </a:r>
            <a:br/>
            <a:br/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(cell_count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"세포 수 기준을 만족합니다."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/>
            <a:r>
              <a:rPr/>
              <a:t>괄호 안의 조건이 </a:t>
            </a:r>
            <a:r>
              <a:rPr>
                <a:latin typeface="Courier"/>
              </a:rPr>
              <a:t>TRUE</a:t>
            </a:r>
            <a:r>
              <a:rPr/>
              <a:t>일 때만 중괄호 안을 실행합니다.</a:t>
            </a:r>
          </a:p>
          <a:p>
            <a:pPr lvl="0"/>
            <a:r>
              <a:rPr/>
              <a:t>들여쓰기는 공백 2칸을 사용합니다.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if ... else</a:t>
            </a:r>
            <a:r>
              <a:rPr/>
              <a:t>는 두 실행 경로를 만든다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 &lt;- </a:t>
            </a:r>
            <a:r>
              <a:rPr>
                <a:solidFill>
                  <a:srgbClr val="AD0000"/>
                </a:solidFill>
                <a:latin typeface="Courier"/>
              </a:rPr>
              <a:t>980</a:t>
            </a:r>
            <a:br/>
            <a:br/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(cell_count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qc_message &lt;- </a:t>
            </a:r>
            <a:r>
              <a:rPr>
                <a:solidFill>
                  <a:srgbClr val="20794D"/>
                </a:solidFill>
                <a:latin typeface="Courier"/>
              </a:rPr>
              <a:t>"세포 수 기준 통과"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qc_message &lt;- </a:t>
            </a:r>
            <a:r>
              <a:rPr>
                <a:solidFill>
                  <a:srgbClr val="20794D"/>
                </a:solidFill>
                <a:latin typeface="Courier"/>
              </a:rPr>
              <a:t>"세포 수 기준 미달"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qc_message</a:t>
            </a:r>
          </a:p>
          <a:p>
            <a:pPr lvl="0" indent="0" marL="0">
              <a:buNone/>
            </a:pPr>
            <a:r>
              <a:rPr/>
              <a:t>조건이 </a:t>
            </a:r>
            <a:r>
              <a:rPr>
                <a:latin typeface="Courier"/>
              </a:rPr>
              <a:t>TRUE</a:t>
            </a:r>
            <a:r>
              <a:rPr/>
              <a:t>이면 첫 블록, </a:t>
            </a:r>
            <a:r>
              <a:rPr>
                <a:latin typeface="Courier"/>
              </a:rPr>
              <a:t>FALSE</a:t>
            </a:r>
            <a:r>
              <a:rPr/>
              <a:t>이면 </a:t>
            </a:r>
            <a:r>
              <a:rPr>
                <a:latin typeface="Courier"/>
              </a:rPr>
              <a:t>else</a:t>
            </a:r>
            <a:r>
              <a:rPr/>
              <a:t> 블록을 실행합니다.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if</a:t>
            </a:r>
            <a:r>
              <a:rPr/>
              <a:t>에는 길이 1인 조건이 필요하다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all_passed &lt;- </a:t>
            </a:r>
            <a:r>
              <a:rPr>
                <a:solidFill>
                  <a:srgbClr val="4758AB"/>
                </a:solidFill>
                <a:latin typeface="Courier"/>
              </a:rPr>
              <a:t>all</a:t>
            </a:r>
            <a:r>
              <a:rPr>
                <a:solidFill>
                  <a:srgbClr val="003B4F"/>
                </a:solidFill>
                <a:latin typeface="Courier"/>
              </a:rPr>
              <a:t>(sample_metadata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passed_qc)</a:t>
            </a:r>
            <a:br/>
            <a:br/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(all_passed)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"모든 샘플이 QC를 통과했습니다."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"QC를 통과하지 못한 샘플이 있습니다."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 marL="0">
              <a:buNone/>
            </a:pPr>
            <a:r>
              <a:rPr/>
              <a:t>열 전체처럼 여러 논리값을 </a:t>
            </a:r>
            <a:r>
              <a:rPr>
                <a:latin typeface="Courier"/>
              </a:rPr>
              <a:t>if</a:t>
            </a:r>
            <a:r>
              <a:rPr/>
              <a:t>에 직접 넣지 않습니다.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if (sample_metadata$passed_qc) { ... }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&amp;&amp;</a:t>
            </a:r>
            <a:r>
              <a:rPr/>
              <a:t>와 </a:t>
            </a:r>
            <a:r>
              <a:rPr>
                <a:latin typeface="Courier"/>
              </a:rPr>
              <a:t>||</a:t>
            </a:r>
            <a:r>
              <a:rPr/>
              <a:t>는 </a:t>
            </a:r>
            <a:r>
              <a:rPr>
                <a:latin typeface="Courier"/>
              </a:rPr>
              <a:t>if</a:t>
            </a:r>
            <a:r>
              <a:rPr/>
              <a:t>의 단일 조건을 결합한다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 &lt;- </a:t>
            </a:r>
            <a:r>
              <a:rPr>
                <a:solidFill>
                  <a:srgbClr val="AD0000"/>
                </a:solidFill>
                <a:latin typeface="Courier"/>
              </a:rPr>
              <a:t>1240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mito_percent &lt;-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br/>
            <a:br/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(cell_count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&amp;&amp;</a:t>
            </a:r>
            <a:r>
              <a:rPr>
                <a:solidFill>
                  <a:srgbClr val="003B4F"/>
                </a:solidFill>
                <a:latin typeface="Courier"/>
              </a:rPr>
              <a:t> mito_percent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"두 기준을 모두 만족합니다."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/>
            <a:r>
              <a:rPr>
                <a:latin typeface="Courier"/>
              </a:rPr>
              <a:t>&amp;&amp;</a:t>
            </a:r>
            <a:r>
              <a:rPr/>
              <a:t>는 단일 조건 두 개가 모두 참인지 확인합니다.</a:t>
            </a:r>
          </a:p>
          <a:p>
            <a:pPr lvl="0"/>
            <a:r>
              <a:rPr>
                <a:latin typeface="Courier"/>
              </a:rPr>
              <a:t>||</a:t>
            </a:r>
            <a:r>
              <a:rPr/>
              <a:t>는 단일 조건 중 하나 이상이 참인지 확인합니다.</a:t>
            </a:r>
          </a:p>
          <a:p>
            <a:pPr lvl="0"/>
            <a:r>
              <a:rPr/>
              <a:t>벡터의 원소별 비교에는 </a:t>
            </a:r>
            <a:r>
              <a:rPr>
                <a:latin typeface="Courier"/>
              </a:rPr>
              <a:t>&amp;</a:t>
            </a:r>
            <a:r>
              <a:rPr/>
              <a:t>와 </a:t>
            </a:r>
            <a:r>
              <a:rPr>
                <a:latin typeface="Courier"/>
              </a:rPr>
              <a:t>|</a:t>
            </a:r>
            <a:r>
              <a:rPr/>
              <a:t>를 사용합니다.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ifelse()</a:t>
            </a:r>
            <a:r>
              <a:rPr/>
              <a:t>는 원소마다 값을 선택한다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qc_labels &lt;- </a:t>
            </a:r>
            <a:r>
              <a:rPr>
                <a:solidFill>
                  <a:srgbClr val="4758AB"/>
                </a:solidFill>
                <a:latin typeface="Courier"/>
              </a:rPr>
              <a:t>ifelse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passed_qc,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"pass"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"fail"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qc_labels</a:t>
            </a:r>
          </a:p>
          <a:p>
            <a:pPr lvl="0"/>
            <a:r>
              <a:rPr/>
              <a:t>첫 번째 인자의 각 논리값을 확인합니다.</a:t>
            </a:r>
          </a:p>
          <a:p>
            <a:pPr lvl="0"/>
            <a:r>
              <a:rPr>
                <a:latin typeface="Courier"/>
              </a:rPr>
              <a:t>TRUE</a:t>
            </a:r>
            <a:r>
              <a:rPr/>
              <a:t>이면 두 번째 값, </a:t>
            </a:r>
            <a:r>
              <a:rPr>
                <a:latin typeface="Courier"/>
              </a:rPr>
              <a:t>FALSE</a:t>
            </a:r>
            <a:r>
              <a:rPr/>
              <a:t>이면 세 번째 값을 반환합니다.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if</a:t>
            </a:r>
            <a:r>
              <a:rPr/>
              <a:t>와 </a:t>
            </a:r>
            <a:r>
              <a:rPr>
                <a:latin typeface="Courier"/>
              </a:rPr>
              <a:t>ifelse()</a:t>
            </a:r>
            <a:r>
              <a:rPr/>
              <a:t>를 구분한다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38200" y="1816100"/>
          <a:ext cx="1051560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목적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사용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조건에 따라 코드 블록 하나를 실행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if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if ... else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벡터의 각 원소에 결과값 부여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ifelse()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qc_label &lt;- </a:t>
            </a:r>
            <a:r>
              <a:rPr>
                <a:solidFill>
                  <a:srgbClr val="4758AB"/>
                </a:solidFill>
                <a:latin typeface="Courier"/>
              </a:rPr>
              <a:t>ifelse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passed_qc,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"pass"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"fail"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필터링 결과는 새 변수에 저장한다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qc_passed_metadata &lt;- sample_metadata[qc_condition, 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qc_passed_metadata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(qc_passed_metadata)</a:t>
            </a:r>
          </a:p>
          <a:p>
            <a:pPr lvl="0"/>
            <a:r>
              <a:rPr/>
              <a:t>원본을 보존하면 기준과 결과를 비교하기 쉽습니다.</a:t>
            </a:r>
          </a:p>
          <a:p>
            <a:pPr lvl="0"/>
            <a:r>
              <a:rPr/>
              <a:t>조건을 확인한 뒤 결과를 새 이름에 저장합니다.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필터링 결과를 저장할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dir.create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"results"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showWarnings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write.csv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qc_passed_metadata,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"results/qc_passed_metadata.csv"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row.names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저장한 기준과 파일 이름이 무엇을 의미하는지 기록합니다.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흔한 오류 1: </a:t>
            </a:r>
            <a:r>
              <a:rPr>
                <a:latin typeface="Courier"/>
              </a:rPr>
              <a:t>&amp;</a:t>
            </a:r>
            <a:r>
              <a:rPr/>
              <a:t> 대신 </a:t>
            </a:r>
            <a:r>
              <a:rPr>
                <a:latin typeface="Courier"/>
              </a:rPr>
              <a:t>&amp;&amp;</a:t>
            </a:r>
            <a:r>
              <a:rPr/>
              <a:t>를 사용한다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condition_1 &lt;-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condition_2 &lt;-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mito_percent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condition_1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r>
              <a:rPr>
                <a:solidFill>
                  <a:srgbClr val="003B4F"/>
                </a:solidFill>
                <a:latin typeface="Courier"/>
              </a:rPr>
              <a:t> condition_2</a:t>
            </a:r>
          </a:p>
          <a:p>
            <a:pPr lvl="0"/>
            <a:r>
              <a:rPr/>
              <a:t>데이터 프레임의 각 행을 비교할 때는 </a:t>
            </a:r>
            <a:r>
              <a:rPr>
                <a:latin typeface="Courier"/>
              </a:rPr>
              <a:t>&amp;</a:t>
            </a:r>
            <a:r>
              <a:rPr/>
              <a:t>를 사용합니다.</a:t>
            </a:r>
          </a:p>
          <a:p>
            <a:pPr lvl="0"/>
            <a:r>
              <a:rPr>
                <a:latin typeface="Courier"/>
              </a:rPr>
              <a:t>&amp;&amp;</a:t>
            </a:r>
            <a:r>
              <a:rPr/>
              <a:t>는 첫 번째 값만 확인하므로 행별 필터링에 적합하지 않습니다.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흔한 오류 2: 문자에 따옴표가 없다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condition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"treated"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sample_metadata$condition == treated</a:t>
            </a:r>
          </a:p>
          <a:p>
            <a:pPr lvl="0" indent="0" marL="0">
              <a:buNone/>
            </a:pPr>
            <a:r>
              <a:rPr/>
              <a:t>문자형 값은 따옴표로 감쌉니다.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흔한 오류 3: 결측값을 </a:t>
            </a:r>
            <a:r>
              <a:rPr>
                <a:latin typeface="Courier"/>
              </a:rPr>
              <a:t>== NA</a:t>
            </a:r>
            <a:r>
              <a:rPr/>
              <a:t>로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doublet_rate)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sample_metadata$doublet_rate == NA</a:t>
            </a:r>
          </a:p>
          <a:p>
            <a:pPr lvl="0" indent="0" marL="0">
              <a:buNone/>
            </a:pPr>
            <a:r>
              <a:rPr/>
              <a:t>결측값은 </a:t>
            </a:r>
            <a:r>
              <a:rPr>
                <a:latin typeface="Courier"/>
              </a:rPr>
              <a:t>is.na()</a:t>
            </a:r>
            <a:r>
              <a:rPr/>
              <a:t>로 확인합니다.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1: 단일 조건으로 필터링하기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enough_cells &lt;-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sample_metadata[enough_cells, 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treated_samples &lt;-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condition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"treated"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sample_metadata[treated_samples, ]</a:t>
            </a:r>
          </a:p>
          <a:p>
            <a:pPr lvl="0" indent="0" marL="0">
              <a:buNone/>
            </a:pPr>
            <a:r>
              <a:rPr/>
              <a:t>각 조건을 만족하는 샘플 수를 </a:t>
            </a:r>
            <a:r>
              <a:rPr>
                <a:latin typeface="Courier"/>
              </a:rPr>
              <a:t>sum()</a:t>
            </a:r>
            <a:r>
              <a:rPr/>
              <a:t>으로 계산합니다.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2: 여러 조건 결합하기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qc_condition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median_genes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mito_percent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sample_metadata[qc_condition, ]</a:t>
            </a:r>
          </a:p>
          <a:p>
            <a:pPr lvl="0" indent="0" marL="0">
              <a:buNone/>
            </a:pPr>
            <a:r>
              <a:rPr/>
              <a:t>각 조건을 따로 실행한 뒤 결합 결과와 비교합니다.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3: 결측값이 있는 조건 다루기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doublet_condition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doublet_rate)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doublet_rate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sample_metadata[doublet_condition, ]</a:t>
            </a:r>
          </a:p>
          <a:p>
            <a:pPr lvl="0" indent="0" marL="0">
              <a:buNone/>
            </a:pPr>
            <a:r>
              <a:rPr/>
              <a:t>결측값을 제외하는 조건이 없을 때와 결과를 비교합니다.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4: 조건에 따라 결과 만들기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qc_label &lt;- </a:t>
            </a:r>
            <a:r>
              <a:rPr>
                <a:solidFill>
                  <a:srgbClr val="4758AB"/>
                </a:solidFill>
                <a:latin typeface="Courier"/>
              </a:rPr>
              <a:t>ifelse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qc_condition,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"pass"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"review"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sample_metadata[,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"sample_id"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"qc_label"</a:t>
            </a:r>
            <a:r>
              <a:rPr>
                <a:solidFill>
                  <a:srgbClr val="003B4F"/>
                </a:solidFill>
                <a:latin typeface="Courier"/>
              </a:rPr>
              <a:t>)]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if ... else</a:t>
            </a:r>
            <a:r>
              <a:rPr/>
              <a:t>로 전체 데이터의 QC 상태 메시지도 만듭니다.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5: 기본 R과 dplyr 비교하기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base_result &lt;- sample_metadata[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dplyr_result &lt;- sample_metadata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(cell_count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두 결과의 행 수와 샘플 ID를 비교합니다.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6: 파이프로 행과 열 선택하기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qc_overview &lt;- sample_metadata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(passed_qc,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(doublet_rate))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(sample_id, condition, cell_count, doublet_rate)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qc_overview</a:t>
            </a:r>
          </a:p>
          <a:p>
            <a:pPr lvl="0" indent="0" marL="0">
              <a:buNone/>
            </a:pPr>
            <a:r>
              <a:rPr/>
              <a:t>각 함수가 행과 열 중 무엇을 선택하는지 설명합니다.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오늘 배운 내용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비교 연산자는 조건별 </a:t>
            </a:r>
            <a:r>
              <a:rPr>
                <a:latin typeface="Courier"/>
              </a:rPr>
              <a:t>TRUE</a:t>
            </a:r>
            <a:r>
              <a:rPr/>
              <a:t>, </a:t>
            </a:r>
            <a:r>
              <a:rPr>
                <a:latin typeface="Courier"/>
              </a:rPr>
              <a:t>FALSE</a:t>
            </a:r>
            <a:r>
              <a:rPr/>
              <a:t>를 만듭니다.</a:t>
            </a:r>
          </a:p>
          <a:p>
            <a:pPr lvl="0"/>
            <a:r>
              <a:rPr>
                <a:latin typeface="Courier"/>
              </a:rPr>
              <a:t>&amp;</a:t>
            </a:r>
            <a:r>
              <a:rPr/>
              <a:t>, </a:t>
            </a:r>
            <a:r>
              <a:rPr>
                <a:latin typeface="Courier"/>
              </a:rPr>
              <a:t>|</a:t>
            </a:r>
            <a:r>
              <a:rPr/>
              <a:t>, </a:t>
            </a:r>
            <a:r>
              <a:rPr>
                <a:latin typeface="Courier"/>
              </a:rPr>
              <a:t>!</a:t>
            </a:r>
            <a:r>
              <a:rPr/>
              <a:t>로 여러 조건을 결합하거나 반대로 바꿉니다.</a:t>
            </a:r>
          </a:p>
          <a:p>
            <a:pPr lvl="0"/>
            <a:r>
              <a:rPr/>
              <a:t>논리형 벡터를 </a:t>
            </a:r>
            <a:r>
              <a:rPr>
                <a:latin typeface="Courier"/>
              </a:rPr>
              <a:t>[행, 열]</a:t>
            </a:r>
            <a:r>
              <a:rPr/>
              <a:t>의 행 위치에 사용해 필터링합니다.</a:t>
            </a:r>
          </a:p>
          <a:p>
            <a:pPr lvl="0"/>
            <a:r>
              <a:rPr/>
              <a:t>dplyr의 </a:t>
            </a:r>
            <a:r>
              <a:rPr>
                <a:latin typeface="Courier"/>
              </a:rPr>
              <a:t>filter()</a:t>
            </a:r>
            <a:r>
              <a:rPr/>
              <a:t>와 </a:t>
            </a:r>
            <a:r>
              <a:rPr>
                <a:latin typeface="Courier"/>
              </a:rPr>
              <a:t>select()</a:t>
            </a:r>
            <a:r>
              <a:rPr/>
              <a:t>로 행과 열을 선택할 수 있습니다.</a:t>
            </a:r>
          </a:p>
          <a:p>
            <a:pPr lvl="0"/>
            <a:r>
              <a:rPr/>
              <a:t>데이터 마스킹에서는 함수 안에서 열 이름을 직접 사용합니다.</a:t>
            </a:r>
          </a:p>
          <a:p>
            <a:pPr lvl="0"/>
            <a:r>
              <a:rPr>
                <a:latin typeface="Courier"/>
              </a:rPr>
              <a:t>%&gt;%</a:t>
            </a:r>
            <a:r>
              <a:rPr/>
              <a:t>로 분석 단계를 위에서 아래로 연결할 수 있습니다.</a:t>
            </a:r>
          </a:p>
          <a:p>
            <a:pPr lvl="0"/>
            <a:r>
              <a:rPr/>
              <a:t>결측값이 있는 조건에는 </a:t>
            </a:r>
            <a:r>
              <a:rPr>
                <a:latin typeface="Courier"/>
              </a:rPr>
              <a:t>is.na()</a:t>
            </a:r>
            <a:r>
              <a:rPr/>
              <a:t> 처리를 함께 고려합니다.</a:t>
            </a:r>
          </a:p>
          <a:p>
            <a:pPr lvl="0"/>
            <a:r>
              <a:rPr/>
              <a:t>단일 실행 흐름에는 </a:t>
            </a:r>
            <a:r>
              <a:rPr>
                <a:latin typeface="Courier"/>
              </a:rPr>
              <a:t>if</a:t>
            </a:r>
            <a:r>
              <a:rPr/>
              <a:t>, 원소별 결과에는 </a:t>
            </a:r>
            <a:r>
              <a:rPr>
                <a:latin typeface="Courier"/>
              </a:rPr>
              <a:t>ifelse()</a:t>
            </a:r>
            <a:r>
              <a:rPr/>
              <a:t>를 사용합니다.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종료 점검과 다음 차시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>
                <a:latin typeface="Courier"/>
              </a:rPr>
              <a:t>=</a:t>
            </a:r>
            <a:r>
              <a:rPr/>
              <a:t>와 </a:t>
            </a:r>
            <a:r>
              <a:rPr>
                <a:latin typeface="Courier"/>
              </a:rPr>
              <a:t>==</a:t>
            </a:r>
            <a:r>
              <a:rPr/>
              <a:t>는 어떻게 다릅니까?</a:t>
            </a:r>
          </a:p>
          <a:p>
            <a:pPr lvl="0" indent="-457200" marL="457200">
              <a:buAutoNum type="arabicPeriod"/>
            </a:pPr>
            <a:r>
              <a:rPr/>
              <a:t>두 조건을 모두 만족하는 행은 어떤 연산자로 찾습니까?</a:t>
            </a:r>
          </a:p>
          <a:p>
            <a:pPr lvl="0" indent="-457200" marL="457200">
              <a:buAutoNum type="arabicPeriod"/>
            </a:pPr>
            <a:r>
              <a:rPr/>
              <a:t>결측값 여부는 어떤 함수로 확인합니까?</a:t>
            </a:r>
          </a:p>
          <a:p>
            <a:pPr lvl="0" indent="-457200" marL="457200">
              <a:buAutoNum type="arabicPeriod"/>
            </a:pPr>
            <a:r>
              <a:rPr>
                <a:latin typeface="Courier"/>
              </a:rPr>
              <a:t>filter()</a:t>
            </a:r>
            <a:r>
              <a:rPr/>
              <a:t> 안에서 열 이름을 직접 쓸 수 있는 이유는 무엇입니까?</a:t>
            </a:r>
          </a:p>
          <a:p>
            <a:pPr lvl="0" indent="-457200" marL="457200">
              <a:buAutoNum type="arabicPeriod"/>
            </a:pPr>
            <a:r>
              <a:rPr>
                <a:latin typeface="Courier"/>
              </a:rPr>
              <a:t>if</a:t>
            </a:r>
            <a:r>
              <a:rPr/>
              <a:t>와 </a:t>
            </a:r>
            <a:r>
              <a:rPr>
                <a:latin typeface="Courier"/>
              </a:rPr>
              <a:t>ifelse()</a:t>
            </a:r>
            <a:r>
              <a:rPr/>
              <a:t>는 언제 각각 사용합니까?</a:t>
            </a:r>
          </a:p>
          <a:p>
            <a:pPr lvl="0" indent="0" marL="0">
              <a:buNone/>
            </a:pPr>
            <a:r>
              <a:rPr b="1"/>
              <a:t>다음 차시:</a:t>
            </a:r>
            <a:r>
              <a:rPr/>
              <a:t> 여러 값에 같은 작업을 반복하고 벡터화 연산과 비교하기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</Words>
  <Application>Microsoft Office PowerPoint</Application>
  <PresentationFormat>사용자 지정</PresentationFormat>
  <Paragraphs>2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7" baseType="lpstr">
      <vt:lpstr>Pretendard</vt:lpstr>
      <vt:lpstr>맑은 고딕</vt:lpstr>
      <vt:lpstr>Arial</vt:lpstr>
      <vt:lpstr>Inter</vt:lpstr>
      <vt:lpstr>JetBrains Mono</vt:lpstr>
      <vt:lpstr>Office 테마</vt:lpstr>
      <vt:lpstr>R Programming Lecture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7차시: 조건식과 데이터 필터링</dc:title>
  <dc:creator/>
  <cp:keywords/>
  <dcterms:created xsi:type="dcterms:W3CDTF">2026-07-12T13:13:08Z</dcterms:created>
  <dcterms:modified xsi:type="dcterms:W3CDTF">2026-07-12T13:13:08Z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ngines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R 기초 프로그래밍</vt:lpwstr>
  </property>
  <property fmtid="{D5CDD505-2E9C-101B-9397-08002B2CF9AE}" pid="9" name="toc-title">
    <vt:lpwstr>목차</vt:lpwstr>
  </property>
</Properties>
</file>