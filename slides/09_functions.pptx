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sldSz cx="12192000" cy="6858000"/>
  <p:notesSz cx="6858000" cy="9144000"/>
  <p:defaultTextStyle>
    <a:defPPr>
      <a:defRPr lang="ko-KR"/>
    </a:defPPr>
    <a:lvl1pPr algn="l" defTabSz="914400" eaLnBrk="1" hangingPunct="1" latinLnBrk="1" marL="0" rtl="0">
      <a:defRPr altLang="en-US" b="1" kern="1200" lang="ko-KR" sz="3000">
        <a:solidFill>
          <a:srgbClr val="172033"/>
        </a:solidFill>
        <a:latin charset="-127" panose="02000503000000020004" pitchFamily="50" typeface="Pretendard"/>
        <a:ea charset="-127" panose="02000503000000020004" pitchFamily="50" typeface="Pretendard"/>
        <a:cs typeface="+mn-cs"/>
      </a:defRPr>
    </a:lvl1pPr>
    <a:lvl2pPr algn="l" defTabSz="914400" eaLnBrk="1" hangingPunct="1" latinLnBrk="1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1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1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1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1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1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1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1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howGuides="1" snapToGrid="0">
      <p:cViewPr varScale="1">
        <p:scale>
          <a:sx d="100" n="113"/>
          <a:sy d="100" n="113"/>
        </p:scale>
        <p:origin x="312" y="108"/>
      </p:cViewPr>
      <p:guideLst>
        <p:guide orient="horz" pos="2160"/>
        <p:guide pos="3840"/>
      </p:guideLst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3" Type="http://schemas.openxmlformats.org/officeDocument/2006/relationships/tableStyles" Target="tableStyles.xml" /><Relationship Id="rId52" Type="http://schemas.openxmlformats.org/officeDocument/2006/relationships/theme" Target="theme/theme1.xml" /><Relationship Id="rId51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DC4F62-B626-4C1A-9258-8B7A85121C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36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53DA06A-F964-4BA7-B1A0-476AFBA404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 b="0">
                <a:solidFill>
                  <a:srgbClr val="0F766E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75EA77F-A944-4F90-A580-BFB1EBDD92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247731-8C16-48CE-83E8-82961F5A4B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73EC76E-53A1-48FD-AAA5-91D55E1A2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0F5A436-622D-4609-9CAD-93F62FE9C071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90350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3ADEE9-D4EA-4A02-8908-7CE7FA28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DF8BB1-DB9D-47B4-AC6B-6E959AF59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57BB9-73CC-4070-8281-5B07E989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B2FCBBD-DFA9-4E92-A913-26CF9C16EE1F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7119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Exercise">
    <p:bg>
      <p:bgPr>
        <a:solidFill>
          <a:srgbClr val="1720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 b="1">
                <a:solidFill>
                  <a:srgbClr val="FFFFFF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3ADEE9-D4EA-4A02-8908-7CE7FA28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DF8BB1-DB9D-47B4-AC6B-6E959AF59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57BB9-73CC-4070-8281-5B07E989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B51DC66-B343-4339-8DFE-F337361B7142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F766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624DEFA-F193-42BA-A7DC-72FAB0CB111A}"/>
              </a:ext>
            </a:extLst>
          </p:cNvPr>
          <p:cNvSpPr/>
          <p:nvPr userDrawn="1"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18FC79-1AA4-44C2-AB13-4EE8FD5EB7E8}"/>
              </a:ext>
            </a:extLst>
          </p:cNvPr>
          <p:cNvSpPr txBox="1"/>
          <p:nvPr userDrawn="1"/>
        </p:nvSpPr>
        <p:spPr>
          <a:xfrm>
            <a:off x="508000" y="990600"/>
            <a:ext cx="2286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1100" b="1">
                <a:solidFill>
                  <a:srgbClr val="0F766E"/>
                </a:solidFill>
                <a:latin typeface="Inter" panose="02000503000000020004" pitchFamily="2" charset="0"/>
                <a:ea typeface="Inter" panose="02000503000000020004" pitchFamily="2" charset="0"/>
              </a:rPr>
              <a:t>PRACTICE</a:t>
            </a:r>
            <a:endParaRPr lang="ko-KR" altLang="en-US" sz="1100" b="1">
              <a:solidFill>
                <a:srgbClr val="0F766E"/>
              </a:solidFill>
              <a:latin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98304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de / Demonstrati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3ADEE9-D4EA-4A02-8908-7CE7FA28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DF8BB1-DB9D-47B4-AC6B-6E959AF59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57BB9-73CC-4070-8281-5B07E989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F65F950-2413-4CE2-8BD0-18A4BBCD72EB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8C3D350-ADF5-46FD-87CE-C07683F6982B}"/>
              </a:ext>
            </a:extLst>
          </p:cNvPr>
          <p:cNvSpPr/>
          <p:nvPr userDrawn="1"/>
        </p:nvSpPr>
        <p:spPr>
          <a:xfrm>
            <a:off x="457200" y="1422400"/>
            <a:ext cx="11277600" cy="457200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0862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00C25F-30DA-4EDD-8504-44DA909B4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8E1EED7-4C61-4A08-AF5B-A390C60A00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26A1FF6-51FE-4685-BA34-E0F89D4546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2B3851C-0BE4-4E91-95F4-2EC266D694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43CBF9E-951B-4FF6-85E6-6601F23868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54922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CE8392-3978-4394-BAB4-2437C15AD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374FF69-769F-4677-B82A-E232B25BA9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52B5173-A205-47A2-953F-A236FB1D43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DD21268-4ABF-4DE0-998A-28F7BFCD2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BEFEE9E-EDCD-4886-92ED-3796485C88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BE14DB4-8F62-4CD7-8DD2-AD422C0CF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8B169FF-FAD7-46E0-9D59-C9B5BEB076DC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69090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F9F672-094E-482F-8FE2-0C0D8F2E0E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0AF80BD-BF78-49AF-BBBA-1A773DA2CE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98D6527-B034-41A0-9FC9-C530962C8B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E5785AA-E40F-4E95-B834-2D7649E02A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DA75630-B532-4D2B-BA6E-233076F4AD2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005AF02-6B25-4BBC-9A62-947D988356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A29AF57-1554-4883-A5C0-D2E356058D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F02C77D-EDE4-4302-857A-97BE6DADBF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2813AE4-CA38-49CC-83A5-DA570C2D152E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45710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AC5B61-FD8F-4A03-8446-AFB1FC117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317F6E7-F469-4E45-A7CA-18C4220B7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081412A-6E99-4D2F-8564-CCE9309E2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7B49B12-B58B-42B1-9FC8-0F11E70ED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C9F98D1-EC0F-4996-8D0E-19D80403D7FB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59383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B3DAFDE-3EF4-4BC2-8C6E-53A0DCBB0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E806864-590A-497A-9E3B-31220A838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AE52D8-EF8D-4B38-BAE5-100369F3A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57893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96CAC9-BDCF-454F-B4EB-26821C0AC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7F85D79-8D84-4463-A554-36DA89022A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4A32173-BE5A-4386-B8FC-0DD3565F6F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5D7BBE8-F04D-4F20-A998-2847A7EC36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1091599-E0C3-4951-800C-0FA8BF5CD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9D06458-41C2-4B2E-9AF2-A62CE3660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39F72F4-84F2-4B08-8B7A-396EE76DDF26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97828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F8A6E4-6940-49AF-8B5F-9B16DB004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5AFC852-B328-4179-BC85-EB34AC8CD4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DBD367B-5A0C-4ADF-98EF-314F244CCF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C903147-4754-4023-8B77-20EB33E5B4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3ADDB5D-EDEB-4E99-BA69-F1F76F2751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3872CF2-966E-422A-927F-3BD6A6E59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7E2E2F7-28CA-4288-94F5-8E25DCD2A45E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5647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CE92E6-4E61-4E2B-9F4F-D23641A2E5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E576B3A-9062-444C-9C47-61FA4351C0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1A3954-5D36-48F6-87B1-16A84AB442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DA0FE3E-5C3F-4A6C-952A-7C8CB744F7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068D49-B037-4EA4-BE8F-2516D3000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5064922-4160-4D2C-A562-270D09593F37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05819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C94EABC-274E-4BAD-AB22-188F885A3B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47306ED-34B5-4464-AFBE-9E25FC9A04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C0C654F-F2FA-42D5-8AC8-4073F8FBA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531A3EE-B6E8-4AF1-9041-45D44926D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3645F18-B2AB-45F4-8642-885F2B8AB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B5F32C9-BBE2-4217-A3E2-DE5FC68F3267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7587791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461F8DA-C043-4CD7-86F2-E1A0EF4CBD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altLang="en-US" lang="ko-KR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B14F0DF-8367-4CE4-BFB7-B09F18D1638C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en-US" lang="ko-KR"/>
              <a:t>마스터 텍스트 스타일을 편집하려면 클릭</a:t>
            </a:r>
          </a:p>
          <a:p>
            <a:pPr lvl="1"/>
            <a:r>
              <a:rPr altLang="en-US" lang="ko-KR"/>
              <a:t>두 번째 수준</a:t>
            </a:r>
          </a:p>
          <a:p>
            <a:pPr lvl="2"/>
            <a:r>
              <a:rPr altLang="en-US" lang="ko-KR"/>
              <a:t>세 번째 수준</a:t>
            </a:r>
          </a:p>
          <a:p>
            <a:pPr lvl="3"/>
            <a:r>
              <a:rPr altLang="en-US" lang="ko-KR"/>
              <a:t>네 번째 수준</a:t>
            </a:r>
          </a:p>
          <a:p>
            <a:pPr lvl="4"/>
            <a:r>
              <a:rPr altLang="en-US" lang="ko-KR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183F21-A1A8-463E-86D3-0CFB7A05EF38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b="0" sz="900">
                <a:solidFill>
                  <a:srgbClr val="526077"/>
                </a:solidFill>
                <a:latin charset="0" panose="02000503000000020004" pitchFamily="2" typeface="Inter"/>
              </a:defRPr>
            </a:lvl1pPr>
          </a:lstStyle>
          <a:p>
            <a:fld id="{2696ECB5-D1DE-4FA4-9CD7-1650D2029999}" type="datetimeFigureOut">
              <a:rPr altLang="ko-KR" lang="en-US" smtClean="0">
                <a:ea charset="0" panose="02000503000000020004" pitchFamily="2" typeface="Inter"/>
              </a:rPr>
              <a:pPr/>
              <a:t>2026-07-12</a:t>
            </a:fld>
            <a:endParaRPr altLang="ko-KR" lang="en-US">
              <a:ea charset="0" panose="02000503000000020004" pitchFamily="2" typeface="Inter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0C5B5C-65C9-4D66-BC46-FDE4016F57BF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b="0" sz="900">
                <a:solidFill>
                  <a:srgbClr val="526077"/>
                </a:solidFill>
                <a:latin charset="0" panose="02000503000000020004" pitchFamily="2" typeface="Inter"/>
              </a:defRPr>
            </a:lvl1pPr>
          </a:lstStyle>
          <a:p>
            <a:endParaRPr altLang="en-US" 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52730EB-AE08-4C4E-A274-945B51E99D4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b="0" sz="900">
                <a:solidFill>
                  <a:srgbClr val="526077"/>
                </a:solidFill>
                <a:latin charset="0" panose="02000503000000020004" pitchFamily="2" typeface="Inter"/>
              </a:defRPr>
            </a:lvl1pPr>
          </a:lstStyle>
          <a:p>
            <a:fld id="{812DBD89-BD24-4FCE-906C-9138E5983130}" type="slidenum">
              <a:rPr altLang="ko-KR" lang="en-US" smtClean="0">
                <a:ea charset="0" panose="02000503000000020004" pitchFamily="2" typeface="Inter"/>
              </a:rPr>
              <a:pPr/>
              <a:t>‹#›</a:t>
            </a:fld>
            <a:endParaRPr altLang="ko-KR" lang="en-US">
              <a:ea charset="0" panose="02000503000000020004" pitchFamily="2"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395331952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61" r:id="rId3"/>
    <p:sldLayoutId id="214748366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</p:sldLayoutIdLst>
  <p:txStyles>
    <p:titleStyle>
      <a:lvl1pPr algn="l" defTabSz="914400" eaLnBrk="1" hangingPunct="1" latinLnBrk="1" rtl="0">
        <a:lnSpc>
          <a:spcPct val="108000"/>
        </a:lnSpc>
        <a:spcBef>
          <a:spcPct val="0"/>
        </a:spcBef>
        <a:spcAft>
          <a:spcPts val="700"/>
        </a:spcAft>
        <a:buNone/>
        <a:defRPr b="0" kern="1200" sz="20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j-cs"/>
        </a:defRPr>
      </a:lvl1pPr>
    </p:titleStyle>
    <p:bodyStyle>
      <a:lvl1pPr algn="l" defTabSz="914400" eaLnBrk="1" hangingPunct="1" indent="-228600" latinLnBrk="1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1pPr>
      <a:lvl2pPr algn="l" defTabSz="914400" eaLnBrk="1" hangingPunct="1" indent="-228600" latinLnBrk="1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2pPr>
      <a:lvl3pPr algn="l" defTabSz="914400" eaLnBrk="1" hangingPunct="1" indent="-228600" latinLnBrk="1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3pPr>
      <a:lvl4pPr algn="l" defTabSz="914400" eaLnBrk="1" hangingPunct="1" indent="-228600" latinLnBrk="1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4pPr>
      <a:lvl5pPr algn="l" defTabSz="914400" eaLnBrk="1" hangingPunct="1" indent="-228600" latinLnBrk="1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5pPr>
      <a:lvl6pPr algn="l" defTabSz="914400" eaLnBrk="1" hangingPunct="1" indent="-228600" latinLnBrk="1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1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1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1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algn="l" defTabSz="914400" eaLnBrk="1" hangingPunct="1" latinLnBrk="1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1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1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1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1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1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1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1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1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0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DC4F62-B626-4C1A-9258-8B7A85121C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9차시: 함수 작성하기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53DA06A-F964-4BA7-B1A0-476AFBA404D1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기초 프로그래밍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오늘의 학습 목표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함수의 입력, 처리, 반환값을 구분할 수 있다.</a:t>
            </a:r>
          </a:p>
          <a:p>
            <a:pPr lvl="0" indent="-457200" marL="457200">
              <a:buAutoNum type="arabicPeriod"/>
            </a:pPr>
            <a:r>
              <a:rPr/>
              <a:t>한 가지 역할을 수행하는 간단한 함수를 작성할 수 있다.</a:t>
            </a:r>
          </a:p>
          <a:p>
            <a:pPr lvl="0" indent="-457200" marL="457200">
              <a:buAutoNum type="arabicPeriod"/>
            </a:pPr>
            <a:r>
              <a:rPr/>
              <a:t>기본값이 있는 인자와 이름이 있는 인자를 사용할 수 있다.</a:t>
            </a:r>
          </a:p>
          <a:p>
            <a:pPr lvl="0" indent="-457200" marL="457200">
              <a:buAutoNum type="arabicPeriod"/>
            </a:pPr>
            <a:r>
              <a:rPr/>
              <a:t>작성한 함수를 단일 값, 벡터, 데이터 프레임 열에 재사용할 수 있다.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선수 지식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변수, 벡터, 조건문을 사용할 수 있습니다.</a:t>
            </a:r>
          </a:p>
          <a:p>
            <a:pPr lvl="0"/>
            <a:r>
              <a:rPr/>
              <a:t>데이터 프레임의 열을 선택할 수 있습니다.</a:t>
            </a:r>
          </a:p>
          <a:p>
            <a:pPr lvl="0"/>
            <a:r>
              <a:rPr/>
              <a:t>같은 작업을 반복문이나 벡터화 연산으로 적용할 수 있습니다.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반복되는 계산을 살펴본다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control_count_k &lt;- </a:t>
            </a:r>
            <a:r>
              <a:rPr>
                <a:solidFill>
                  <a:srgbClr val="AD0000"/>
                </a:solidFill>
                <a:latin typeface="Courier"/>
              </a:rPr>
              <a:t>1240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treated_count_k &lt;- </a:t>
            </a:r>
            <a:r>
              <a:rPr>
                <a:solidFill>
                  <a:srgbClr val="AD0000"/>
                </a:solidFill>
                <a:latin typeface="Courier"/>
              </a:rPr>
              <a:t>1520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another_count_k &lt;- </a:t>
            </a:r>
            <a:r>
              <a:rPr>
                <a:solidFill>
                  <a:srgbClr val="AD0000"/>
                </a:solidFill>
                <a:latin typeface="Courier"/>
              </a:rPr>
              <a:t>1430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</a:p>
          <a:p>
            <a:pPr lvl="0"/>
            <a:r>
              <a:rPr/>
              <a:t>같은 계산을 여러 곳에서 반복하고 있습니다.</a:t>
            </a:r>
          </a:p>
          <a:p>
            <a:pPr lvl="0"/>
            <a:r>
              <a:rPr/>
              <a:t>계산 방법이 바뀌면 여러 줄을 모두 수정해야 합니다.</a:t>
            </a:r>
          </a:p>
          <a:p>
            <a:pPr lvl="0"/>
            <a:r>
              <a:rPr/>
              <a:t>계산에 이름을 붙여 재사용하면 코드를 관리하기 쉽습니다.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함수는 입력을 받아 작업하고 결과를 돌려준다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입력값 → 처리 과정 → 반환값
 1240  →  1000으로 나누기  →  1.24</a:t>
            </a:r>
          </a:p>
          <a:p>
            <a:pPr lvl="0" indent="0" marL="0">
              <a:buNone/>
            </a:pPr>
            <a:r>
              <a:rPr/>
              <a:t>R에서 이미 사용한 함수도 같은 구조를 가집니다.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980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함수의 기본 구조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function_name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(argument)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 &lt;- argument를 사용한 계산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/>
            <a:r>
              <a:rPr>
                <a:latin typeface="Courier"/>
              </a:rPr>
              <a:t>function_name</a:t>
            </a:r>
            <a:r>
              <a:rPr/>
              <a:t>: 함수에 붙이는 이름</a:t>
            </a:r>
          </a:p>
          <a:p>
            <a:pPr lvl="0"/>
            <a:r>
              <a:rPr>
                <a:latin typeface="Courier"/>
              </a:rPr>
              <a:t>argument</a:t>
            </a:r>
            <a:r>
              <a:rPr/>
              <a:t>: 함수가 받을 입력의 이름</a:t>
            </a:r>
          </a:p>
          <a:p>
            <a:pPr lvl="0"/>
            <a:r>
              <a:rPr>
                <a:latin typeface="Courier"/>
              </a:rPr>
              <a:t>{ }</a:t>
            </a:r>
            <a:r>
              <a:rPr/>
              <a:t>: 함수가 수행할 코드</a:t>
            </a:r>
          </a:p>
          <a:p>
            <a:pPr lvl="0"/>
            <a:r>
              <a:rPr>
                <a:latin typeface="Courier"/>
              </a:rPr>
              <a:t>return()</a:t>
            </a:r>
            <a:r>
              <a:rPr/>
              <a:t>: 호출한 곳으로 돌려줄 결과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첫 번째 함수를 작성한다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to_thousands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(cell_count)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 &lt;- cell_count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 marL="0">
              <a:buNone/>
            </a:pPr>
            <a:r>
              <a:rPr/>
              <a:t>이 코드는 함수를 정의할 뿐, 아직 계산을 실행하지는 않습니다.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함수를 호출하면 코드가 실행된다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to_thousands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1240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to_thousands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1520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호출할 때 전달한 값이 함수 안의 </a:t>
            </a:r>
            <a:r>
              <a:rPr>
                <a:latin typeface="Courier"/>
              </a:rPr>
              <a:t>cell_count</a:t>
            </a:r>
            <a:r>
              <a:rPr/>
              <a:t>에 들어갑니다.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96CAC9-BDCF-454F-B4EB-26821C0AC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함수의 세 부분을 구분한다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4A32173-BE5A-4386-B8FC-0DD3565F6F55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to_thousands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(cell_count)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 &lt;- cell_count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81600" y="977900"/>
          <a:ext cx="6172200" cy="4864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86100"/>
                <a:gridCol w="3086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부분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코드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입력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cell_count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처리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cell_count / 1000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반환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return(result)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반환값을 변수에 저장한다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control_count_k &lt;- </a:t>
            </a:r>
            <a:r>
              <a:rPr>
                <a:solidFill>
                  <a:srgbClr val="4758AB"/>
                </a:solidFill>
                <a:latin typeface="Courier"/>
              </a:rPr>
              <a:t>to_thousands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1240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control_count_k</a:t>
            </a:r>
          </a:p>
          <a:p>
            <a:pPr lvl="0"/>
            <a:r>
              <a:rPr/>
              <a:t>함수의 결과는 다른 값처럼 변수에 저장할 수 있습니다.</a:t>
            </a:r>
          </a:p>
          <a:p>
            <a:pPr lvl="0"/>
            <a:r>
              <a:rPr/>
              <a:t>반환값을 다음 계산의 입력으로 사용할 수도 있습니다.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반환된 객체를 다시 저장해야 할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1350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980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1240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sort</a:t>
            </a:r>
            <a:r>
              <a:rPr>
                <a:solidFill>
                  <a:srgbClr val="003B4F"/>
                </a:solidFill>
                <a:latin typeface="Courier"/>
              </a:rPr>
              <a:t>(cell_counts)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cell_counts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cell_counts &lt;- </a:t>
            </a:r>
            <a:r>
              <a:rPr>
                <a:solidFill>
                  <a:srgbClr val="4758AB"/>
                </a:solidFill>
                <a:latin typeface="Courier"/>
              </a:rPr>
              <a:t>sort</a:t>
            </a:r>
            <a:r>
              <a:rPr>
                <a:solidFill>
                  <a:srgbClr val="003B4F"/>
                </a:solidFill>
                <a:latin typeface="Courier"/>
              </a:rPr>
              <a:t>(cell_counts)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cell_counts</a:t>
            </a:r>
          </a:p>
          <a:p>
            <a:pPr lvl="0"/>
            <a:r>
              <a:rPr/>
              <a:t>많은 R 함수는 입력 객체를 직접 바꾸지 않고 처리한 결과를 반환합니다.</a:t>
            </a:r>
          </a:p>
          <a:p>
            <a:pPr lvl="0"/>
            <a:r>
              <a:rPr/>
              <a:t>결과를 계속 사용하려면 반환값을 변수에 저장합니다.</a:t>
            </a:r>
          </a:p>
          <a:p>
            <a:pPr lvl="0"/>
            <a:r>
              <a:rPr/>
              <a:t>같은 이름에 저장하면 이후 코드에서는 변경된 결과를 사용합니다.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분석 패키지에서도 같은 패턴을 사용한다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패키지 사용 예시: 이 차시에서는 실행하지 않습니다.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pbmc &lt;- </a:t>
            </a:r>
            <a:r>
              <a:rPr>
                <a:solidFill>
                  <a:srgbClr val="4758AB"/>
                </a:solidFill>
                <a:latin typeface="Courier"/>
              </a:rPr>
              <a:t>NormalizeData</a:t>
            </a:r>
            <a:r>
              <a:rPr>
                <a:solidFill>
                  <a:srgbClr val="003B4F"/>
                </a:solidFill>
                <a:latin typeface="Courier"/>
              </a:rPr>
              <a:t>(pbmc)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pbmc &lt;- </a:t>
            </a:r>
            <a:r>
              <a:rPr>
                <a:solidFill>
                  <a:srgbClr val="4758AB"/>
                </a:solidFill>
                <a:latin typeface="Courier"/>
              </a:rPr>
              <a:t>ScaleData</a:t>
            </a:r>
            <a:r>
              <a:rPr>
                <a:solidFill>
                  <a:srgbClr val="003B4F"/>
                </a:solidFill>
                <a:latin typeface="Courier"/>
              </a:rPr>
              <a:t>(pbmc)</a:t>
            </a:r>
          </a:p>
          <a:p>
            <a:pPr lvl="0" indent="0" marL="0">
              <a:buNone/>
            </a:pPr>
            <a:r>
              <a:rPr/>
              <a:t>두 코드 모두 다음 순서로 읽습니다.</a:t>
            </a:r>
          </a:p>
          <a:p>
            <a:pPr lvl="0" indent="0">
              <a:buNone/>
            </a:pPr>
            <a:r>
              <a:rPr>
                <a:latin typeface="Courier"/>
              </a:rPr>
              <a:t>현재 객체를 함수에 전달한다
→ 함수가 처리한 객체를 반환한다
→ 반환된 객체를 같은 이름에 다시 저장한다</a:t>
            </a:r>
          </a:p>
          <a:p>
            <a:pPr lvl="0" indent="0" marL="0">
              <a:buNone/>
            </a:pPr>
            <a:r>
              <a:rPr/>
              <a:t>함수가 원본을 직접 바꾸는지, 새 객체를 반환하는지는 도움말의 반환값 설명을 확인합니다.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마지막 표현식도 자동으로 반환된다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to_thousands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(cell_count)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cell_count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to_thousands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1240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/>
              <a:t>R은 함수에서 마지막으로 계산된 값을 자동 반환합니다.</a:t>
            </a:r>
          </a:p>
          <a:p>
            <a:pPr lvl="0"/>
            <a:r>
              <a:rPr/>
              <a:t>입문 단계에서는 반환 위치를 분명히 보여 주고 싶을 때 </a:t>
            </a:r>
            <a:r>
              <a:rPr>
                <a:latin typeface="Courier"/>
              </a:rPr>
              <a:t>return()</a:t>
            </a:r>
            <a:r>
              <a:rPr/>
              <a:t>을 사용합니다.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print()</a:t>
            </a:r>
            <a:r>
              <a:rPr/>
              <a:t>와 </a:t>
            </a:r>
            <a:r>
              <a:rPr>
                <a:latin typeface="Courier"/>
              </a:rPr>
              <a:t>return()</a:t>
            </a:r>
            <a:r>
              <a:rPr/>
              <a:t>은 역할이 다르다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show_cell_count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(cell_count)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(cell_count)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double_cell_count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(cell_count)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 &lt;- cell_count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/>
            <a:r>
              <a:rPr>
                <a:latin typeface="Courier"/>
              </a:rPr>
              <a:t>print()</a:t>
            </a:r>
            <a:r>
              <a:rPr/>
              <a:t>는 값을 화면에 보여 줍니다.</a:t>
            </a:r>
          </a:p>
          <a:p>
            <a:pPr lvl="0"/>
            <a:r>
              <a:rPr>
                <a:latin typeface="Courier"/>
              </a:rPr>
              <a:t>return()</a:t>
            </a:r>
            <a:r>
              <a:rPr/>
              <a:t>은 함수의 결과를 호출한 곳으로 돌려줍니다.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여러 입력을 받을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calculate_retention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(raw_count, filtered_count)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retention &lt;- filtered_count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raw_count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(retention)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calculate_retention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쉼표로 여러 인자를 구분합니다.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위치에 따라 인자를 전달한다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calculate_retention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/>
              <a:t>첫 번째 값은 </a:t>
            </a:r>
            <a:r>
              <a:rPr>
                <a:latin typeface="Courier"/>
              </a:rPr>
              <a:t>raw_count</a:t>
            </a:r>
            <a:r>
              <a:rPr/>
              <a:t>에 들어갑니다.</a:t>
            </a:r>
          </a:p>
          <a:p>
            <a:pPr lvl="0"/>
            <a:r>
              <a:rPr/>
              <a:t>두 번째 값은 </a:t>
            </a:r>
            <a:r>
              <a:rPr>
                <a:latin typeface="Courier"/>
              </a:rPr>
              <a:t>filtered_count</a:t>
            </a:r>
            <a:r>
              <a:rPr/>
              <a:t>에 들어갑니다.</a:t>
            </a:r>
          </a:p>
          <a:p>
            <a:pPr lvl="0"/>
            <a:r>
              <a:rPr/>
              <a:t>순서가 바뀌면 계산 결과도 달라질 수 있습니다.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이름을 적어 인자를 전달한다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calculate_retention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raw_count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filtered_count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/>
              <a:t>각 값의 의미가 분명해집니다.</a:t>
            </a:r>
          </a:p>
          <a:p>
            <a:pPr lvl="0"/>
            <a:r>
              <a:rPr/>
              <a:t>이름을 모두 적으면 순서를 바꾸어도 됩니다.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calculate_retention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filtered_count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raw_count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인자에 기본값을 지정할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passes_cell_count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(cell_count, </a:t>
            </a:r>
            <a:r>
              <a:rPr>
                <a:solidFill>
                  <a:srgbClr val="657422"/>
                </a:solidFill>
                <a:latin typeface="Courier"/>
              </a:rPr>
              <a:t>min_cells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 &lt;- cell_count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min_cells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min_cells</a:t>
            </a:r>
            <a:r>
              <a:rPr/>
              <a:t>를 생략하면 기본값 1200을 사용합니다.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passes_cell_count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1240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passes_cell_count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1240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min_cells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필수 인자와 기본 인자를 구분한다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passes_cell_count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(cell_count, </a:t>
            </a:r>
            <a:r>
              <a:rPr>
                <a:solidFill>
                  <a:srgbClr val="657422"/>
                </a:solidFill>
                <a:latin typeface="Courier"/>
              </a:rPr>
              <a:t>min_cells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cell_count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min_cells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/>
            <a:r>
              <a:rPr>
                <a:latin typeface="Courier"/>
              </a:rPr>
              <a:t>cell_count</a:t>
            </a:r>
            <a:r>
              <a:rPr/>
              <a:t>는 호출할 때 반드시 전달해야 합니다.</a:t>
            </a:r>
          </a:p>
          <a:p>
            <a:pPr lvl="0"/>
            <a:r>
              <a:rPr>
                <a:latin typeface="Courier"/>
              </a:rPr>
              <a:t>min_cells</a:t>
            </a:r>
            <a:r>
              <a:rPr/>
              <a:t>는 필요할 때만 다른 값으로 바꿉니다.</a:t>
            </a:r>
          </a:p>
          <a:p>
            <a:pPr lvl="0"/>
            <a:r>
              <a:rPr/>
              <a:t>필수 인자를 앞에, 기본값이 있는 인자를 뒤에 배치합니다.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하나의 함수는 한 가지 역할에 집중한다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calculate_retention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(raw_count, filtered_count)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filtered_count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raw_count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 marL="0">
              <a:buNone/>
            </a:pPr>
            <a:r>
              <a:rPr/>
              <a:t>좋은 함수는 다음 질문에 답하기 쉽습니다.</a:t>
            </a:r>
          </a:p>
          <a:p>
            <a:pPr lvl="0"/>
            <a:r>
              <a:rPr/>
              <a:t>이 함수는 무엇을 계산하는가?</a:t>
            </a:r>
          </a:p>
          <a:p>
            <a:pPr lvl="0"/>
            <a:r>
              <a:rPr/>
              <a:t>어떤 입력이 필요한가?</a:t>
            </a:r>
          </a:p>
          <a:p>
            <a:pPr lvl="0"/>
            <a:r>
              <a:rPr/>
              <a:t>어떤 값을 반환하는가?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함수 이름은 동작을 나타내게 작성한다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calculate_retention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passes_cell_count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label_qc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/>
            <a:r>
              <a:rPr/>
              <a:t>함수 이름에도 </a:t>
            </a:r>
            <a:r>
              <a:rPr>
                <a:latin typeface="Courier"/>
              </a:rPr>
              <a:t>snake_case</a:t>
            </a:r>
            <a:r>
              <a:rPr/>
              <a:t>를 사용합니다.</a:t>
            </a:r>
          </a:p>
          <a:p>
            <a:pPr lvl="0"/>
            <a:r>
              <a:rPr>
                <a:latin typeface="Courier"/>
              </a:rPr>
              <a:t>calculate</a:t>
            </a:r>
            <a:r>
              <a:rPr/>
              <a:t>, </a:t>
            </a:r>
            <a:r>
              <a:rPr>
                <a:latin typeface="Courier"/>
              </a:rPr>
              <a:t>check</a:t>
            </a:r>
            <a:r>
              <a:rPr/>
              <a:t>, </a:t>
            </a:r>
            <a:r>
              <a:rPr>
                <a:latin typeface="Courier"/>
              </a:rPr>
              <a:t>convert</a:t>
            </a:r>
            <a:r>
              <a:rPr/>
              <a:t>, </a:t>
            </a:r>
            <a:r>
              <a:rPr>
                <a:latin typeface="Courier"/>
              </a:rPr>
              <a:t>label</a:t>
            </a:r>
            <a:r>
              <a:rPr/>
              <a:t>처럼 동작을 나타내는 단어가 유용합니다.</a:t>
            </a:r>
          </a:p>
          <a:p>
            <a:pPr lvl="0"/>
            <a:r>
              <a:rPr/>
              <a:t>이름만 보고 목적을 짐작할 수 있어야 합니다.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벡터화 연산을 사용한 함수는 벡터도 처리한다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1240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1385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1090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1520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to_thousands</a:t>
            </a:r>
            <a:r>
              <a:rPr>
                <a:solidFill>
                  <a:srgbClr val="003B4F"/>
                </a:solidFill>
                <a:latin typeface="Courier"/>
              </a:rPr>
              <a:t>(cell_counts)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passes_cell_count</a:t>
            </a:r>
            <a:r>
              <a:rPr>
                <a:solidFill>
                  <a:srgbClr val="003B4F"/>
                </a:solidFill>
                <a:latin typeface="Courier"/>
              </a:rPr>
              <a:t>(cell_counts)</a:t>
            </a:r>
          </a:p>
          <a:p>
            <a:pPr lvl="0" indent="0" marL="0">
              <a:buNone/>
            </a:pPr>
            <a:r>
              <a:rPr/>
              <a:t>함수 안의 </a:t>
            </a:r>
            <a:r>
              <a:rPr>
                <a:latin typeface="Courier"/>
              </a:rPr>
              <a:t>/</a:t>
            </a:r>
            <a:r>
              <a:rPr/>
              <a:t>와 </a:t>
            </a:r>
            <a:r>
              <a:rPr>
                <a:latin typeface="Courier"/>
              </a:rPr>
              <a:t>&gt;=</a:t>
            </a:r>
            <a:r>
              <a:rPr/>
              <a:t>가 벡터의 모든 원소에 적용됩니다.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데이터 프레임 열을 함수에 전달한다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sample_metadata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"data/sample_metadata.csv"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cell_count_k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to_thousands</a:t>
            </a:r>
            <a:r>
              <a:rPr>
                <a:solidFill>
                  <a:srgbClr val="003B4F"/>
                </a:solidFill>
                <a:latin typeface="Courier"/>
              </a:rPr>
              <a:t>(sample_metadata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</a:p>
          <a:p>
            <a:pPr lvl="0" indent="0" marL="0">
              <a:buNone/>
            </a:pPr>
            <a:r>
              <a:rPr/>
              <a:t>함수를 한 번 정의한 뒤 여러 데이터에 같은 계산을 적용할 수 있습니다.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여러 QC 기준을 함수로 묶는다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passes_qc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cell_count,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median_genes,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mito_percent,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min_cells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min_genes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max_mito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cell_count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min_cells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median_genes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min_genes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mito_percent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max_mito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QC 함수를 단일 샘플에 사용한다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passes_qc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cell_count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1240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median_genes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2180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mito_percent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각 인자 이름을 적으면 어떤 측정값을 전달하는지 분명합니다.</a:t>
            </a:r>
          </a:p>
          <a:p>
            <a:pPr lvl="0" indent="0" marL="1270000">
              <a:buNone/>
            </a:pPr>
            <a:r>
              <a:rPr sz="2000"/>
              <a:t>QC 수치는 함수 학습을 위한 예시이며 실제 분석 기준은 데이터와 실험 맥락에 따라 정해야 합니다.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QC 함수를 벡터에 사용한다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qc_result &lt;- </a:t>
            </a:r>
            <a:r>
              <a:rPr>
                <a:solidFill>
                  <a:srgbClr val="4758AB"/>
                </a:solidFill>
                <a:latin typeface="Courier"/>
              </a:rPr>
              <a:t>passes_qc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cell_count =</a:t>
            </a:r>
            <a:r>
              <a:rPr>
                <a:solidFill>
                  <a:srgbClr val="003B4F"/>
                </a:solidFill>
                <a:latin typeface="Courier"/>
              </a:rPr>
              <a:t>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median_genes =</a:t>
            </a:r>
            <a:r>
              <a:rPr>
                <a:solidFill>
                  <a:srgbClr val="003B4F"/>
                </a:solidFill>
                <a:latin typeface="Courier"/>
              </a:rPr>
              <a:t>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median_genes,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mito_percent =</a:t>
            </a:r>
            <a:r>
              <a:rPr>
                <a:solidFill>
                  <a:srgbClr val="003B4F"/>
                </a:solidFill>
                <a:latin typeface="Courier"/>
              </a:rPr>
              <a:t>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mito_percent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qc_result</a:t>
            </a:r>
          </a:p>
          <a:p>
            <a:pPr lvl="0" indent="0" marL="0">
              <a:buNone/>
            </a:pPr>
            <a:r>
              <a:rPr/>
              <a:t>각 행의 같은 위치에 있는 값들이 함께 계산됩니다.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기본 기준을 바꾸어 재사용한다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strict_qc_result &lt;- </a:t>
            </a:r>
            <a:r>
              <a:rPr>
                <a:solidFill>
                  <a:srgbClr val="4758AB"/>
                </a:solidFill>
                <a:latin typeface="Courier"/>
              </a:rPr>
              <a:t>passes_qc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cell_count =</a:t>
            </a:r>
            <a:r>
              <a:rPr>
                <a:solidFill>
                  <a:srgbClr val="003B4F"/>
                </a:solidFill>
                <a:latin typeface="Courier"/>
              </a:rPr>
              <a:t>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median_genes =</a:t>
            </a:r>
            <a:r>
              <a:rPr>
                <a:solidFill>
                  <a:srgbClr val="003B4F"/>
                </a:solidFill>
                <a:latin typeface="Courier"/>
              </a:rPr>
              <a:t>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median_genes,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mito_percent =</a:t>
            </a:r>
            <a:r>
              <a:rPr>
                <a:solidFill>
                  <a:srgbClr val="003B4F"/>
                </a:solidFill>
                <a:latin typeface="Courier"/>
              </a:rPr>
              <a:t>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mito_percent,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min_cells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max_mito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함수 본문을 수정하지 않고 호출할 때 기준을 바꿀 수 있습니다.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결과 레이블 함수는 별도로 작성한다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label_qc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(passed_qc)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label &lt;- </a:t>
            </a:r>
            <a:r>
              <a:rPr>
                <a:solidFill>
                  <a:srgbClr val="4758AB"/>
                </a:solidFill>
                <a:latin typeface="Courier"/>
              </a:rPr>
              <a:t>ifelse</a:t>
            </a:r>
            <a:r>
              <a:rPr>
                <a:solidFill>
                  <a:srgbClr val="003B4F"/>
                </a:solidFill>
                <a:latin typeface="Courier"/>
              </a:rPr>
              <a:t>(passed_qc, </a:t>
            </a:r>
            <a:r>
              <a:rPr>
                <a:solidFill>
                  <a:srgbClr val="20794D"/>
                </a:solidFill>
                <a:latin typeface="Courier"/>
              </a:rPr>
              <a:t>"pass"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"review"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(label)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label_qc</a:t>
            </a:r>
            <a:r>
              <a:rPr>
                <a:solidFill>
                  <a:srgbClr val="003B4F"/>
                </a:solidFill>
                <a:latin typeface="Courier"/>
              </a:rPr>
              <a:t>(qc_result)</a:t>
            </a:r>
          </a:p>
          <a:p>
            <a:pPr lvl="0" indent="0" marL="0">
              <a:buNone/>
            </a:pPr>
            <a:r>
              <a:rPr/>
              <a:t>조건 계산과 문자 레이블 생성을 서로 다른 함수로 나누었습니다.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함수를 연결해 결과 열을 만든다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qc_result &lt;- qc_result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qc_label &lt;- </a:t>
            </a:r>
            <a:r>
              <a:rPr>
                <a:solidFill>
                  <a:srgbClr val="4758AB"/>
                </a:solidFill>
                <a:latin typeface="Courier"/>
              </a:rPr>
              <a:t>label_qc</a:t>
            </a:r>
            <a:r>
              <a:rPr>
                <a:solidFill>
                  <a:srgbClr val="003B4F"/>
                </a:solidFill>
                <a:latin typeface="Courier"/>
              </a:rPr>
              <a:t>(qc_result)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sample_metadata[,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"sample_id"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"qc_result"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"qc_label"</a:t>
            </a:r>
            <a:r>
              <a:rPr>
                <a:solidFill>
                  <a:srgbClr val="003B4F"/>
                </a:solidFill>
                <a:latin typeface="Courier"/>
              </a:rPr>
              <a:t>)]</a:t>
            </a:r>
          </a:p>
          <a:p>
            <a:pPr lvl="0" indent="0" marL="0">
              <a:buNone/>
            </a:pPr>
            <a:r>
              <a:rPr/>
              <a:t>작은 함수의 결과를 다음 함수의 입력으로 사용할 수 있습니다.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결측값을 처리하는 함수를 작성한다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label_doublet_rate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(doublet_rate, </a:t>
            </a:r>
            <a:r>
              <a:rPr>
                <a:solidFill>
                  <a:srgbClr val="657422"/>
                </a:solidFill>
                <a:latin typeface="Courier"/>
              </a:rPr>
              <a:t>max_rate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label &lt;- </a:t>
            </a:r>
            <a:r>
              <a:rPr>
                <a:solidFill>
                  <a:srgbClr val="4758AB"/>
                </a:solidFill>
                <a:latin typeface="Courier"/>
              </a:rPr>
              <a:t>ifelse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(doublet_rate),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ifelse</a:t>
            </a:r>
            <a:r>
              <a:rPr>
                <a:solidFill>
                  <a:srgbClr val="003B4F"/>
                </a:solidFill>
                <a:latin typeface="Courier"/>
              </a:rPr>
              <a:t>(doublet_rate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max_rate, </a:t>
            </a:r>
            <a:r>
              <a:rPr>
                <a:solidFill>
                  <a:srgbClr val="20794D"/>
                </a:solidFill>
                <a:latin typeface="Courier"/>
              </a:rPr>
              <a:t>"pass"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"review"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(label)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 marL="0">
              <a:buNone/>
            </a:pPr>
            <a:r>
              <a:rPr/>
              <a:t>먼저 결측값인지 확인한 뒤 측정값을 기준과 비교합니다.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함수 안의 변수는 지역 변수다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calculate_retention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(raw_count, filtered_count)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retention &lt;- filtered_count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raw_count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(retention)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calculate_retention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>
                <a:latin typeface="Courier"/>
              </a:rPr>
              <a:t>retention</a:t>
            </a:r>
            <a:r>
              <a:rPr/>
              <a:t>은 함수가 실행되는 동안 함수 안에서 만들어집니다.</a:t>
            </a:r>
          </a:p>
          <a:p>
            <a:pPr lvl="0"/>
            <a:r>
              <a:rPr/>
              <a:t>함수 밖의 작업에 필요하면 반환값을 변수에 저장합니다.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sample_retention &lt;- </a:t>
            </a:r>
            <a:r>
              <a:rPr>
                <a:solidFill>
                  <a:srgbClr val="4758AB"/>
                </a:solidFill>
                <a:latin typeface="Courier"/>
              </a:rPr>
              <a:t>calculate_retention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함수 밖의 값을 몰래 사용하지 않는다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피해야 할 예: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min_cells가 함수 밖에 있어야만 실행된다.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passes_cell_count &lt;- function(cell_count) {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  cell_count &gt;= min_cells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}</a:t>
            </a:r>
          </a:p>
          <a:p>
            <a:pPr lvl="0" indent="0" marL="0">
              <a:buNone/>
            </a:pPr>
            <a:r>
              <a:rPr/>
              <a:t>권장 예: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passes_cell_count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(cell_count, </a:t>
            </a:r>
            <a:r>
              <a:rPr>
                <a:solidFill>
                  <a:srgbClr val="657422"/>
                </a:solidFill>
                <a:latin typeface="Courier"/>
              </a:rPr>
              <a:t>min_cells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cell_count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min_cells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 marL="0">
              <a:buNone/>
            </a:pPr>
            <a:r>
              <a:rPr/>
              <a:t>필요한 값은 인자로 명시합니다.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is.numeric()</a:t>
            </a:r>
            <a:r>
              <a:rPr/>
              <a:t>으로 입력 자료형을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is.numeric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1240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is.numeric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"1240"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함수의 입력이 예상한 자료형인지 확인할 때 사용할 수 있습니다.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잘못된 입력에는 오류를 발생시킬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to_thousands_checked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(cell_count)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is.numeric</a:t>
            </a:r>
            <a:r>
              <a:rPr>
                <a:solidFill>
                  <a:srgbClr val="003B4F"/>
                </a:solidFill>
                <a:latin typeface="Courier"/>
              </a:rPr>
              <a:t>(cell_count))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stop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"cell_count는 숫자형이어야 합니다."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result &lt;- cell_count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stop()</a:t>
            </a:r>
            <a:r>
              <a:rPr/>
              <a:t>은 설명이 포함된 오류를 발생시키고 함수 실행을 중단합니다.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올바른 입력과 잘못된 입력을 시험한다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to_thousands_checked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1240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다음 코드는 입력 확인을 시험할 때 한 줄씩 실행합니다.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to_thousands_checked("1240")</a:t>
            </a:r>
          </a:p>
          <a:p>
            <a:pPr lvl="0" indent="0" marL="0">
              <a:buNone/>
            </a:pPr>
            <a:r>
              <a:rPr/>
              <a:t>전체 실습 파일 실행을 막지 않도록 의도적 오류는 주석 처리합니다.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함수는 정의한 뒤에 호출한다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to_thousands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(cell_count)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cell_count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to_thousands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1240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 스크립트는 위에서 아래로 실행되므로 함수 정의가 호출보다 먼저 실행되어야 합니다.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함수를 작은 입력으로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to_thousands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passes_cell_count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calculate_retention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/>
              <a:t>결과를 쉽게 예상할 수 있는 값을 사용합니다.</a:t>
            </a:r>
          </a:p>
          <a:p>
            <a:pPr lvl="0"/>
            <a:r>
              <a:rPr/>
              <a:t>경계값과 결측값도 확인합니다.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passes_cell_count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1199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passes_cell_count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stopifnot()</a:t>
            </a:r>
            <a:r>
              <a:rPr/>
              <a:t>으로 예상 결과를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stopifnot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to_thousands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stopifnot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passes_cell_count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stopifnot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calculate_retention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/>
              <a:t>조건이 모두 </a:t>
            </a:r>
            <a:r>
              <a:rPr>
                <a:latin typeface="Courier"/>
              </a:rPr>
              <a:t>TRUE</a:t>
            </a:r>
            <a:r>
              <a:rPr/>
              <a:t>이면 아무것도 출력하지 않습니다.</a:t>
            </a:r>
          </a:p>
          <a:p>
            <a:pPr lvl="0"/>
            <a:r>
              <a:rPr/>
              <a:t>하나라도 </a:t>
            </a:r>
            <a:r>
              <a:rPr>
                <a:latin typeface="Courier"/>
              </a:rPr>
              <a:t>FALSE</a:t>
            </a:r>
            <a:r>
              <a:rPr/>
              <a:t>이면 실행을 멈추므로 예상 결과 검증에 사용할 수 있습니다.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함수 위에 목적과 입력을 기록한다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필터링 후 남은 세포 비율을 계산한다.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raw_count와 filtered_count는 같은 길이의 숫자형 값이다.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calculate_retention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(raw_count, filtered_count)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filtered_count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raw_count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 marL="0">
              <a:buNone/>
            </a:pPr>
            <a:r>
              <a:rPr/>
              <a:t>코드만으로 알기 어려운 입력 조건과 단위를 주석으로 설명합니다.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흔한 오류 1: 함수를 정의만 하고 호출하지 않는다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to_thousands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(cell_count)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cell_count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to_thousands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1240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함수 정의와 함수 호출은 서로 다른 단계입니다.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흔한 오류 2: 괄호나 중괄호를 닫지 않는다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passes_cell_count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(cell_count, </a:t>
            </a:r>
            <a:r>
              <a:rPr>
                <a:solidFill>
                  <a:srgbClr val="657422"/>
                </a:solidFill>
                <a:latin typeface="Courier"/>
              </a:rPr>
              <a:t>min_cells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 &lt;- cell_count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min_cells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/>
            <a:r>
              <a:rPr/>
              <a:t>함수 이름 뒤의 </a:t>
            </a:r>
            <a:r>
              <a:rPr>
                <a:latin typeface="Courier"/>
              </a:rPr>
              <a:t>()</a:t>
            </a:r>
            <a:r>
              <a:rPr/>
              <a:t>와 본문을 감싸는 </a:t>
            </a:r>
            <a:r>
              <a:rPr>
                <a:latin typeface="Courier"/>
              </a:rPr>
              <a:t>{}</a:t>
            </a:r>
            <a:r>
              <a:rPr/>
              <a:t>를 짝지어 작성합니다.</a:t>
            </a:r>
          </a:p>
          <a:p>
            <a:pPr lvl="0"/>
            <a:r>
              <a:rPr/>
              <a:t>코드를 들여쓰면 구조를 확인하기 쉽습니다.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흔한 오류 3: 반환할 값을 만들지 않는다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calculate_retention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(raw_count, filtered_count)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retention &lt;- filtered_count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raw_count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(retention)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 marL="0">
              <a:buNone/>
            </a:pPr>
            <a:r>
              <a:rPr/>
              <a:t>계산한 변수 이름과 </a:t>
            </a:r>
            <a:r>
              <a:rPr>
                <a:latin typeface="Courier"/>
              </a:rPr>
              <a:t>return()</a:t>
            </a:r>
            <a:r>
              <a:rPr/>
              <a:t>에 적은 이름의 철자를 확인합니다.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1: 단위 변환 함수 만들기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to_thousands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(cell_count)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 &lt;- cell_count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to_thousands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1240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to_thousands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1240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1385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1090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단일 값과 벡터에서 모두 예상한 결과가 나오는지 확인합니다.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2: 여러 입력과 기본값 사용하기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calculate_retention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(raw_count, filtered_count)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filtered_count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raw_count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passes_cell_count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(cell_count, </a:t>
            </a:r>
            <a:r>
              <a:rPr>
                <a:solidFill>
                  <a:srgbClr val="657422"/>
                </a:solidFill>
                <a:latin typeface="Courier"/>
              </a:rPr>
              <a:t>min_cells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cell_count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min_cells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 marL="0">
              <a:buNone/>
            </a:pPr>
            <a:r>
              <a:rPr/>
              <a:t>위치 인자, 이름이 있는 인자, 변경한 기본값으로 각각 호출합니다.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3: QC 함수 재사용하기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qc_result &lt;- </a:t>
            </a:r>
            <a:r>
              <a:rPr>
                <a:solidFill>
                  <a:srgbClr val="4758AB"/>
                </a:solidFill>
                <a:latin typeface="Courier"/>
              </a:rPr>
              <a:t>passes_qc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median_genes,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mito_percent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qc_label &lt;- </a:t>
            </a:r>
            <a:r>
              <a:rPr>
                <a:solidFill>
                  <a:srgbClr val="4758AB"/>
                </a:solidFill>
                <a:latin typeface="Courier"/>
              </a:rPr>
              <a:t>label_qc</a:t>
            </a:r>
            <a:r>
              <a:rPr>
                <a:solidFill>
                  <a:srgbClr val="003B4F"/>
                </a:solidFill>
                <a:latin typeface="Courier"/>
              </a:rPr>
              <a:t>(qc_result)</a:t>
            </a:r>
          </a:p>
          <a:p>
            <a:pPr lvl="0" indent="0" marL="0">
              <a:buNone/>
            </a:pPr>
            <a:r>
              <a:rPr/>
              <a:t>함수 결과를 데이터 프레임에 추가하고 선택된 행을 확인합니다.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4: 함수 결과 검증하기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stopifnot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to_thousands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stopifnot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calculate_retention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stopifnot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passes_cell_count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직접 만든 함수마다 쉽게 예상할 수 있는 확인 예제를 작성합니다.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오늘 배운 내용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함수는 입력을 받아 한 가지 작업을 수행하고 결과를 반환합니다.</a:t>
            </a:r>
          </a:p>
          <a:p>
            <a:pPr lvl="0"/>
            <a:r>
              <a:rPr/>
              <a:t>반환된 결과를 계속 사용하려면 변수에 다시 저장합니다.</a:t>
            </a:r>
          </a:p>
          <a:p>
            <a:pPr lvl="0"/>
            <a:r>
              <a:rPr/>
              <a:t>인자는 위치 또는 이름으로 전달하고 기본값을 지정할 수 있습니다.</a:t>
            </a:r>
          </a:p>
          <a:p>
            <a:pPr lvl="0"/>
            <a:r>
              <a:rPr/>
              <a:t>벡터화된 계산을 사용한 함수는 벡터와 데이터 프레임 열에도 재사용할 수 있습니다.</a:t>
            </a:r>
          </a:p>
          <a:p>
            <a:pPr lvl="0"/>
            <a:r>
              <a:rPr/>
              <a:t>필요한 값은 함수 밖에서 가져오지 않고 인자로 명시합니다.</a:t>
            </a:r>
          </a:p>
          <a:p>
            <a:pPr lvl="0"/>
            <a:r>
              <a:rPr/>
              <a:t>작은 입력과 </a:t>
            </a:r>
            <a:r>
              <a:rPr>
                <a:latin typeface="Courier"/>
              </a:rPr>
              <a:t>stopifnot()</a:t>
            </a:r>
            <a:r>
              <a:rPr/>
              <a:t>으로 함수 결과를 확인할 수 있습니다.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종료 점검과 다음 차시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함수의 입력, 처리, 반환값은 각각 무엇입니까?</a:t>
            </a:r>
          </a:p>
          <a:p>
            <a:pPr lvl="0" indent="-457200" marL="457200">
              <a:buAutoNum type="arabicPeriod"/>
            </a:pPr>
            <a:r>
              <a:rPr>
                <a:latin typeface="Courier"/>
              </a:rPr>
              <a:t>print()</a:t>
            </a:r>
            <a:r>
              <a:rPr/>
              <a:t>와 </a:t>
            </a:r>
            <a:r>
              <a:rPr>
                <a:latin typeface="Courier"/>
              </a:rPr>
              <a:t>return()</a:t>
            </a:r>
            <a:r>
              <a:rPr/>
              <a:t>은 어떻게 다릅니까?</a:t>
            </a:r>
          </a:p>
          <a:p>
            <a:pPr lvl="0" indent="-457200" marL="457200">
              <a:buAutoNum type="arabicPeriod"/>
            </a:pPr>
            <a:r>
              <a:rPr/>
              <a:t>함수 호출 결과를 변수에 저장하지 않으면 어떤 차이가 생깁니까?</a:t>
            </a:r>
          </a:p>
          <a:p>
            <a:pPr lvl="0" indent="-457200" marL="457200">
              <a:buAutoNum type="arabicPeriod"/>
            </a:pPr>
            <a:r>
              <a:rPr/>
              <a:t>기본 인자는 어떤 상황에서 유용합니까?</a:t>
            </a:r>
          </a:p>
          <a:p>
            <a:pPr lvl="0" indent="-457200" marL="457200">
              <a:buAutoNum type="arabicPeriod"/>
            </a:pPr>
            <a:r>
              <a:rPr/>
              <a:t>함수를 작성한 뒤 어떤 값으로 시험해야 합니까?</a:t>
            </a:r>
          </a:p>
          <a:p>
            <a:pPr lvl="0" indent="0" marL="0">
              <a:buNone/>
            </a:pPr>
            <a:r>
              <a:rPr b="1"/>
              <a:t>다음 차시:</a:t>
            </a:r>
            <a:r>
              <a:rPr/>
              <a:t> 그룹별로 데이터를 요약하고 목적에 맞는 그래프로 표현하기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</Words>
  <Application>Microsoft Office PowerPoint</Application>
  <PresentationFormat>사용자 지정</PresentationFormat>
  <Paragraphs>2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7" baseType="lpstr">
      <vt:lpstr>Pretendard</vt:lpstr>
      <vt:lpstr>맑은 고딕</vt:lpstr>
      <vt:lpstr>Arial</vt:lpstr>
      <vt:lpstr>Inter</vt:lpstr>
      <vt:lpstr>JetBrains Mono</vt:lpstr>
      <vt:lpstr>Office 테마</vt:lpstr>
      <vt:lpstr>R Programming Lecture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9차시: 함수 작성하기</dc:title>
  <dc:creator/>
  <cp:keywords/>
  <dcterms:created xsi:type="dcterms:W3CDTF">2026-07-12T13:13:11Z</dcterms:created>
  <dcterms:modified xsi:type="dcterms:W3CDTF">2026-07-12T13:13:11Z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ngines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R 기초 프로그래밍</vt:lpwstr>
  </property>
  <property fmtid="{D5CDD505-2E9C-101B-9397-08002B2CF9AE}" pid="9" name="toc-title">
    <vt:lpwstr>목차</vt:lpwstr>
  </property>
</Properties>
</file>