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Relationship Id="rId4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9차시: 함수 작성하기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함수의 입력, 처리, 반환값을 구분할 수 있다.</a:t>
            </a:r>
          </a:p>
          <a:p>
            <a:pPr lvl="0" indent="-457200" marL="457200">
              <a:buAutoNum type="arabicPeriod"/>
            </a:pPr>
            <a:r>
              <a:rPr/>
              <a:t>한 가지 역할을 수행하는 간단한 함수를 작성할 수 있다.</a:t>
            </a:r>
          </a:p>
          <a:p>
            <a:pPr lvl="0" indent="-457200" marL="457200">
              <a:buAutoNum type="arabicPeriod"/>
            </a:pPr>
            <a:r>
              <a:rPr/>
              <a:t>기본값이 있는 인자와 이름이 있는 인자를 사용할 수 있다.</a:t>
            </a:r>
          </a:p>
          <a:p>
            <a:pPr lvl="0" indent="-457200" marL="457200">
              <a:buAutoNum type="arabicPeriod"/>
            </a:pPr>
            <a:r>
              <a:rPr/>
              <a:t>작성한 함수를 단일 값, 벡터, 데이터 프레임 열에 재사용할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선수 지식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변수, 벡터, 조건문을 사용할 수 있습니다.</a:t>
            </a:r>
          </a:p>
          <a:p>
            <a:pPr lvl="0"/>
            <a:r>
              <a:rPr/>
              <a:t>데이터 프레임의 열을 선택할 수 있습니다.</a:t>
            </a:r>
          </a:p>
          <a:p>
            <a:pPr lvl="0"/>
            <a:r>
              <a:rPr/>
              <a:t>같은 작업을 반복문이나 벡터화 연산으로 적용할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반복되는 계산을 살펴본다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control_count_k &lt;- 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treated_count_k &lt;- </a:t>
            </a:r>
            <a:r>
              <a:rPr>
                <a:solidFill>
                  <a:srgbClr val="AD0000"/>
                </a:solidFill>
                <a:latin typeface="Courier"/>
              </a:rPr>
              <a:t>1520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another_count_k &lt;- </a:t>
            </a:r>
            <a:r>
              <a:rPr>
                <a:solidFill>
                  <a:srgbClr val="AD0000"/>
                </a:solidFill>
                <a:latin typeface="Courier"/>
              </a:rPr>
              <a:t>1430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</a:p>
          <a:p>
            <a:pPr lvl="0"/>
            <a:r>
              <a:rPr/>
              <a:t>같은 계산을 여러 곳에서 반복하고 있습니다.</a:t>
            </a:r>
          </a:p>
          <a:p>
            <a:pPr lvl="0"/>
            <a:r>
              <a:rPr/>
              <a:t>계산 방법이 바뀌면 여러 줄을 모두 수정해야 합니다.</a:t>
            </a:r>
          </a:p>
          <a:p>
            <a:pPr lvl="0"/>
            <a:r>
              <a:rPr/>
              <a:t>계산에 이름을 붙여 재사용하면 코드를 관리하기 쉽습니다.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함수는 입력을 받아 작업하고 결과를 돌려준다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입력값 → 처리 과정 → 반환값
 1240  →  1000으로 나누기  →  1.24</a:t>
            </a:r>
          </a:p>
          <a:p>
            <a:pPr lvl="0" indent="0" marL="0">
              <a:buNone/>
            </a:pPr>
            <a:r>
              <a:rPr/>
              <a:t>R에서 이미 사용한 함수도 같은 구조를 가집니다.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함수의 기본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function_name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(argument)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 &lt;- argument를 사용한 계산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/>
            <a:r>
              <a:rPr>
                <a:latin typeface="Courier"/>
              </a:rPr>
              <a:t>function_name</a:t>
            </a:r>
            <a:r>
              <a:rPr/>
              <a:t>: 함수에 붙이는 이름</a:t>
            </a:r>
          </a:p>
          <a:p>
            <a:pPr lvl="0"/>
            <a:r>
              <a:rPr>
                <a:latin typeface="Courier"/>
              </a:rPr>
              <a:t>argument</a:t>
            </a:r>
            <a:r>
              <a:rPr/>
              <a:t>: 함수가 받을 입력의 이름</a:t>
            </a:r>
          </a:p>
          <a:p>
            <a:pPr lvl="0"/>
            <a:r>
              <a:rPr>
                <a:latin typeface="Courier"/>
              </a:rPr>
              <a:t>{ }</a:t>
            </a:r>
            <a:r>
              <a:rPr/>
              <a:t>: 함수가 수행할 코드</a:t>
            </a:r>
          </a:p>
          <a:p>
            <a:pPr lvl="0"/>
            <a:r>
              <a:rPr>
                <a:latin typeface="Courier"/>
              </a:rPr>
              <a:t>return()</a:t>
            </a:r>
            <a:r>
              <a:rPr/>
              <a:t>: 호출한 곳으로 돌려줄 결과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첫 번째 함수를 작성한다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to_thousands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 &lt;- 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이 코드는 함수를 정의할 뿐, 아직 계산을 실행하지는 않습니다.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함수를 호출하면 코드가 실행된다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호출할 때 전달한 값이 함수 안의 </a:t>
            </a:r>
            <a:r>
              <a:rPr>
                <a:latin typeface="Courier"/>
              </a:rPr>
              <a:t>cell_count</a:t>
            </a:r>
            <a:r>
              <a:rPr/>
              <a:t>에 들어갑니다.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함수의 세 부분을 구분한다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to_thousands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 &lt;- 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3086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입력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cell_count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처리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cell_count / 1000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반환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return(result)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반환값을 변수에 저장한다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control_count_k &lt;- </a:t>
            </a:r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control_count_k</a:t>
            </a:r>
          </a:p>
          <a:p>
            <a:pPr lvl="0"/>
            <a:r>
              <a:rPr/>
              <a:t>함수의 결과는 다른 값처럼 변수에 저장할 수 있습니다.</a:t>
            </a:r>
          </a:p>
          <a:p>
            <a:pPr lvl="0"/>
            <a:r>
              <a:rPr/>
              <a:t>반환값을 다음 계산의 입력으로 사용할 수도 있습니다.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마지막 표현식도 자동으로 반환된다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to_thousands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R은 함수에서 마지막으로 계산된 값을 자동 반환합니다.</a:t>
            </a:r>
          </a:p>
          <a:p>
            <a:pPr lvl="0"/>
            <a:r>
              <a:rPr/>
              <a:t>입문 단계에서는 반환 위치를 분명히 보여 주고 싶을 때 </a:t>
            </a:r>
            <a:r>
              <a:rPr>
                <a:latin typeface="Courier"/>
              </a:rPr>
              <a:t>return()</a:t>
            </a:r>
            <a:r>
              <a:rPr/>
              <a:t>을 사용합니다.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print()</a:t>
            </a:r>
            <a:r>
              <a:rPr/>
              <a:t>와 </a:t>
            </a:r>
            <a:r>
              <a:rPr>
                <a:latin typeface="Courier"/>
              </a:rPr>
              <a:t>return()</a:t>
            </a:r>
            <a:r>
              <a:rPr/>
              <a:t>은 역할이 다르다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show_cell_count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(cell_count)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double_cell_count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 &lt;- cell_count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/>
            <a:r>
              <a:rPr>
                <a:latin typeface="Courier"/>
              </a:rPr>
              <a:t>print()</a:t>
            </a:r>
            <a:r>
              <a:rPr/>
              <a:t>는 값을 화면에 보여 줍니다.</a:t>
            </a:r>
          </a:p>
          <a:p>
            <a:pPr lvl="0"/>
            <a:r>
              <a:rPr>
                <a:latin typeface="Courier"/>
              </a:rPr>
              <a:t>return()</a:t>
            </a:r>
            <a:r>
              <a:rPr/>
              <a:t>은 함수의 결과를 호출한 곳으로 돌려줍니다.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입력을 받을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calculate_retention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(raw_count, filtered_count)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retention &lt;- filtered_count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raw_count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(retention)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calculate_retention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쉼표로 여러 인자를 구분합니다.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위치에 따라 인자를 전달한다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calculate_retention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첫 번째 값은 </a:t>
            </a:r>
            <a:r>
              <a:rPr>
                <a:latin typeface="Courier"/>
              </a:rPr>
              <a:t>raw_count</a:t>
            </a:r>
            <a:r>
              <a:rPr/>
              <a:t>에 들어갑니다.</a:t>
            </a:r>
          </a:p>
          <a:p>
            <a:pPr lvl="0"/>
            <a:r>
              <a:rPr/>
              <a:t>두 번째 값은 </a:t>
            </a:r>
            <a:r>
              <a:rPr>
                <a:latin typeface="Courier"/>
              </a:rPr>
              <a:t>filtered_count</a:t>
            </a:r>
            <a:r>
              <a:rPr/>
              <a:t>에 들어갑니다.</a:t>
            </a:r>
          </a:p>
          <a:p>
            <a:pPr lvl="0"/>
            <a:r>
              <a:rPr/>
              <a:t>순서가 바뀌면 계산 결과도 달라질 수 있습니다.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이름을 적어 인자를 전달한다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calculate_retention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raw_count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filtered_count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각 값의 의미가 분명해집니다.</a:t>
            </a:r>
          </a:p>
          <a:p>
            <a:pPr lvl="0"/>
            <a:r>
              <a:rPr/>
              <a:t>이름을 모두 적으면 순서를 바꾸어도 됩니다.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calculate_retention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filtered_count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raw_count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인자에 기본값을 지정할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passes_cell_count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(cell_count, </a:t>
            </a:r>
            <a:r>
              <a:rPr>
                <a:solidFill>
                  <a:srgbClr val="657422"/>
                </a:solidFill>
                <a:latin typeface="Courier"/>
              </a:rPr>
              <a:t>min_cells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 &lt;-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min_cells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min_cells</a:t>
            </a:r>
            <a:r>
              <a:rPr/>
              <a:t>를 생략하면 기본값 1200을 사용합니다.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passes_cell_count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passes_cell_count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min_cells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필수 인자와 기본 인자를 구분한다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passes_cell_count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(cell_count, </a:t>
            </a:r>
            <a:r>
              <a:rPr>
                <a:solidFill>
                  <a:srgbClr val="657422"/>
                </a:solidFill>
                <a:latin typeface="Courier"/>
              </a:rPr>
              <a:t>min_cells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min_cells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/>
            <a:r>
              <a:rPr>
                <a:latin typeface="Courier"/>
              </a:rPr>
              <a:t>cell_count</a:t>
            </a:r>
            <a:r>
              <a:rPr/>
              <a:t>는 호출할 때 반드시 전달해야 합니다.</a:t>
            </a:r>
          </a:p>
          <a:p>
            <a:pPr lvl="0"/>
            <a:r>
              <a:rPr>
                <a:latin typeface="Courier"/>
              </a:rPr>
              <a:t>min_cells</a:t>
            </a:r>
            <a:r>
              <a:rPr/>
              <a:t>는 필요할 때만 다른 값으로 바꿉니다.</a:t>
            </a:r>
          </a:p>
          <a:p>
            <a:pPr lvl="0"/>
            <a:r>
              <a:rPr/>
              <a:t>필수 인자를 앞에, 기본값이 있는 인자를 뒤에 배치합니다.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하나의 함수는 한 가지 역할에 집중한다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calculate_retention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(raw_count, filtered_count)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filtered_count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raw_count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좋은 함수는 다음 질문에 답하기 쉽습니다.</a:t>
            </a:r>
          </a:p>
          <a:p>
            <a:pPr lvl="0"/>
            <a:r>
              <a:rPr/>
              <a:t>이 함수는 무엇을 계산하는가?</a:t>
            </a:r>
          </a:p>
          <a:p>
            <a:pPr lvl="0"/>
            <a:r>
              <a:rPr/>
              <a:t>어떤 입력이 필요한가?</a:t>
            </a:r>
          </a:p>
          <a:p>
            <a:pPr lvl="0"/>
            <a:r>
              <a:rPr/>
              <a:t>어떤 값을 반환하는가?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 이름은 동작을 나타내게 작성한다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calculate_retention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passes_cell_count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label_qc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/>
            <a:r>
              <a:rPr/>
              <a:t>함수 이름에도 </a:t>
            </a:r>
            <a:r>
              <a:rPr>
                <a:latin typeface="Courier"/>
              </a:rPr>
              <a:t>snake_case</a:t>
            </a:r>
            <a:r>
              <a:rPr/>
              <a:t>를 사용합니다.</a:t>
            </a:r>
          </a:p>
          <a:p>
            <a:pPr lvl="0"/>
            <a:r>
              <a:rPr>
                <a:latin typeface="Courier"/>
              </a:rPr>
              <a:t>calculate</a:t>
            </a:r>
            <a:r>
              <a:rPr/>
              <a:t>, </a:t>
            </a:r>
            <a:r>
              <a:rPr>
                <a:latin typeface="Courier"/>
              </a:rPr>
              <a:t>check</a:t>
            </a:r>
            <a:r>
              <a:rPr/>
              <a:t>, </a:t>
            </a:r>
            <a:r>
              <a:rPr>
                <a:latin typeface="Courier"/>
              </a:rPr>
              <a:t>convert</a:t>
            </a:r>
            <a:r>
              <a:rPr/>
              <a:t>, </a:t>
            </a:r>
            <a:r>
              <a:rPr>
                <a:latin typeface="Courier"/>
              </a:rPr>
              <a:t>label</a:t>
            </a:r>
            <a:r>
              <a:rPr/>
              <a:t>처럼 동작을 나타내는 단어가 유용합니다.</a:t>
            </a:r>
          </a:p>
          <a:p>
            <a:pPr lvl="0"/>
            <a:r>
              <a:rPr/>
              <a:t>이름만 보고 목적을 짐작할 수 있어야 합니다.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벡터화 연산을 사용한 함수는 벡터도 처리한다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1385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1090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1520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passes_cell_count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 indent="0" marL="0">
              <a:buNone/>
            </a:pPr>
            <a:r>
              <a:rPr/>
              <a:t>함수 안의 </a:t>
            </a:r>
            <a:r>
              <a:rPr>
                <a:latin typeface="Courier"/>
              </a:rPr>
              <a:t>/</a:t>
            </a:r>
            <a:r>
              <a:rPr/>
              <a:t>와 </a:t>
            </a:r>
            <a:r>
              <a:rPr>
                <a:latin typeface="Courier"/>
              </a:rPr>
              <a:t>&gt;=</a:t>
            </a:r>
            <a:r>
              <a:rPr/>
              <a:t>가 벡터의 모든 원소에 적용됩니다.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프레임 열을 함수에 전달한다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"data/sample_metadata.csv"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cell_count_k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함수를 한 번 정의한 뒤 여러 데이터에 같은 계산을 적용할 수 있습니다.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QC 기준을 함수로 묶는다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passes_qc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median_genes,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mito_percent,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min_cells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min_genes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max_mito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min_cells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median_genes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min_genes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max_mito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QC 함수를 단일 샘플에 사용한다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passes_qc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cell_count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median_genes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2180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mito_percent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각 인자 이름을 적으면 어떤 측정값을 전달하는지 분명합니다.</a:t>
            </a:r>
          </a:p>
          <a:p>
            <a:pPr lvl="0" indent="0" marL="1270000">
              <a:buNone/>
            </a:pPr>
            <a:r>
              <a:rPr sz="2000"/>
              <a:t>QC 수치는 함수 학습을 위한 예시이며 실제 분석 기준은 데이터와 실험 맥락에 따라 정해야 합니다.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QC 함수를 벡터에 사용한다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qc_result &lt;- </a:t>
            </a:r>
            <a:r>
              <a:rPr>
                <a:solidFill>
                  <a:srgbClr val="4758AB"/>
                </a:solidFill>
                <a:latin typeface="Courier"/>
              </a:rPr>
              <a:t>passes_qc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cell_count =</a:t>
            </a:r>
            <a:r>
              <a:rPr>
                <a:solidFill>
                  <a:srgbClr val="003B4F"/>
                </a:solidFill>
                <a:latin typeface="Courier"/>
              </a:rPr>
              <a:t>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median_genes =</a:t>
            </a:r>
            <a:r>
              <a:rPr>
                <a:solidFill>
                  <a:srgbClr val="003B4F"/>
                </a:solidFill>
                <a:latin typeface="Courier"/>
              </a:rPr>
              <a:t>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mito_percent =</a:t>
            </a:r>
            <a:r>
              <a:rPr>
                <a:solidFill>
                  <a:srgbClr val="003B4F"/>
                </a:solidFill>
                <a:latin typeface="Courier"/>
              </a:rPr>
              <a:t>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qc_result</a:t>
            </a:r>
          </a:p>
          <a:p>
            <a:pPr lvl="0" indent="0" marL="0">
              <a:buNone/>
            </a:pPr>
            <a:r>
              <a:rPr/>
              <a:t>각 행의 같은 위치에 있는 값들이 함께 계산됩니다.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기본 기준을 바꾸어 재사용한다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strict_qc_result &lt;- </a:t>
            </a:r>
            <a:r>
              <a:rPr>
                <a:solidFill>
                  <a:srgbClr val="4758AB"/>
                </a:solidFill>
                <a:latin typeface="Courier"/>
              </a:rPr>
              <a:t>passes_qc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cell_count =</a:t>
            </a:r>
            <a:r>
              <a:rPr>
                <a:solidFill>
                  <a:srgbClr val="003B4F"/>
                </a:solidFill>
                <a:latin typeface="Courier"/>
              </a:rPr>
              <a:t>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median_genes =</a:t>
            </a:r>
            <a:r>
              <a:rPr>
                <a:solidFill>
                  <a:srgbClr val="003B4F"/>
                </a:solidFill>
                <a:latin typeface="Courier"/>
              </a:rPr>
              <a:t>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mito_percent =</a:t>
            </a:r>
            <a:r>
              <a:rPr>
                <a:solidFill>
                  <a:srgbClr val="003B4F"/>
                </a:solidFill>
                <a:latin typeface="Courier"/>
              </a:rPr>
              <a:t>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min_cells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1300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max_mito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함수 본문을 수정하지 않고 호출할 때 기준을 바꿀 수 있습니다.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결과 레이블 함수는 별도로 작성한다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label_qc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(passed_qc)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label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(passed_qc,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"review"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(label)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label_qc</a:t>
            </a:r>
            <a:r>
              <a:rPr>
                <a:solidFill>
                  <a:srgbClr val="003B4F"/>
                </a:solidFill>
                <a:latin typeface="Courier"/>
              </a:rPr>
              <a:t>(qc_result)</a:t>
            </a:r>
          </a:p>
          <a:p>
            <a:pPr lvl="0" indent="0" marL="0">
              <a:buNone/>
            </a:pPr>
            <a:r>
              <a:rPr/>
              <a:t>조건 계산과 문자 레이블 생성을 서로 다른 함수로 나누었습니다.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함수를 연결해 결과 열을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qc_result &lt;- qc_result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qc_label &lt;- </a:t>
            </a:r>
            <a:r>
              <a:rPr>
                <a:solidFill>
                  <a:srgbClr val="4758AB"/>
                </a:solidFill>
                <a:latin typeface="Courier"/>
              </a:rPr>
              <a:t>label_qc</a:t>
            </a:r>
            <a:r>
              <a:rPr>
                <a:solidFill>
                  <a:srgbClr val="003B4F"/>
                </a:solidFill>
                <a:latin typeface="Courier"/>
              </a:rPr>
              <a:t>(qc_result)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sample_metadata[,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"sample_id"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"qc_result"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"qc_label"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</a:p>
          <a:p>
            <a:pPr lvl="0" indent="0" marL="0">
              <a:buNone/>
            </a:pPr>
            <a:r>
              <a:rPr/>
              <a:t>작은 함수의 결과를 다음 함수의 입력으로 사용할 수 있습니다.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결측값을 처리하는 함수를 작성한다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label_doublet_rate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(doublet_rate, </a:t>
            </a:r>
            <a:r>
              <a:rPr>
                <a:solidFill>
                  <a:srgbClr val="657422"/>
                </a:solidFill>
                <a:latin typeface="Courier"/>
              </a:rPr>
              <a:t>max_rate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label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(doublet_rate),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"missing"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(doublet_rate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max_rate,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"review"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(label)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먼저 결측값인지 확인한 뒤 측정값을 기준과 비교합니다.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 안의 변수는 지역 변수다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calculate_retention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(raw_count, filtered_count)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retention &lt;- filtered_count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raw_count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(retention)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calculate_retention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>
                <a:latin typeface="Courier"/>
              </a:rPr>
              <a:t>retention</a:t>
            </a:r>
            <a:r>
              <a:rPr/>
              <a:t>은 함수가 실행되는 동안 함수 안에서 만들어집니다.</a:t>
            </a:r>
          </a:p>
          <a:p>
            <a:pPr lvl="0"/>
            <a:r>
              <a:rPr/>
              <a:t>함수 밖의 작업에 필요하면 반환값을 변수에 저장합니다.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sample_retention &lt;- </a:t>
            </a:r>
            <a:r>
              <a:rPr>
                <a:solidFill>
                  <a:srgbClr val="4758AB"/>
                </a:solidFill>
                <a:latin typeface="Courier"/>
              </a:rPr>
              <a:t>calculate_retention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 밖의 값을 몰래 사용하지 않는다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피해야 할 예: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min_cells가 함수 밖에 있어야만 실행된다.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passes_cell_count &lt;- function(cell_count) {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cell_count &gt;= min_cells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}</a:t>
            </a:r>
          </a:p>
          <a:p>
            <a:pPr lvl="0" indent="0" marL="0">
              <a:buNone/>
            </a:pPr>
            <a:r>
              <a:rPr/>
              <a:t>권장 예: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passes_cell_count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(cell_count, </a:t>
            </a:r>
            <a:r>
              <a:rPr>
                <a:solidFill>
                  <a:srgbClr val="657422"/>
                </a:solidFill>
                <a:latin typeface="Courier"/>
              </a:rPr>
              <a:t>min_cells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min_cells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필요한 값은 인자로 명시합니다.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is.numeric()</a:t>
            </a:r>
            <a:r>
              <a:rPr/>
              <a:t>으로 입력 자료형을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is.numeric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is.numeric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"1240"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함수의 입력이 예상한 자료형인지 확인할 때 사용할 수 있습니다.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잘못된 입력에는 오류를 발생시킬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to_thousands_checked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is.numeric</a:t>
            </a:r>
            <a:r>
              <a:rPr>
                <a:solidFill>
                  <a:srgbClr val="003B4F"/>
                </a:solidFill>
                <a:latin typeface="Courier"/>
              </a:rPr>
              <a:t>(cell_count))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stop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"cell_count는 숫자형이어야 합니다."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result &lt;- 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stop()</a:t>
            </a:r>
            <a:r>
              <a:rPr/>
              <a:t>은 설명이 포함된 오류를 발생시키고 함수 실행을 중단합니다.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올바른 입력과 잘못된 입력을 시험한다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to_thousands_checked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다음 코드는 입력 확인을 시험할 때 한 줄씩 실행합니다.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to_thousands_checked("1240")</a:t>
            </a:r>
          </a:p>
          <a:p>
            <a:pPr lvl="0" indent="0" marL="0">
              <a:buNone/>
            </a:pPr>
            <a:r>
              <a:rPr/>
              <a:t>전체 실습 파일 실행을 막지 않도록 의도적 오류는 주석 처리합니다.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함수는 정의한 뒤에 호출한다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to_thousands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R 스크립트는 위에서 아래로 실행되므로 함수 정의가 호출보다 먼저 실행되어야 합니다.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함수를 작은 입력으로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passes_cell_count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calculate_retention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결과를 쉽게 예상할 수 있는 값을 사용합니다.</a:t>
            </a:r>
          </a:p>
          <a:p>
            <a:pPr lvl="0"/>
            <a:r>
              <a:rPr/>
              <a:t>경계값과 결측값도 확인합니다.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passes_cell_count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1199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passes_cell_count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stopifnot()</a:t>
            </a:r>
            <a:r>
              <a:rPr/>
              <a:t>으로 예상 결과를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stopifnot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stopifnot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passes_cell_count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stopifnot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calculate_retention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조건이 모두 </a:t>
            </a:r>
            <a:r>
              <a:rPr>
                <a:latin typeface="Courier"/>
              </a:rPr>
              <a:t>TRUE</a:t>
            </a:r>
            <a:r>
              <a:rPr/>
              <a:t>이면 아무것도 출력하지 않습니다.</a:t>
            </a:r>
          </a:p>
          <a:p>
            <a:pPr lvl="0"/>
            <a:r>
              <a:rPr/>
              <a:t>하나라도 </a:t>
            </a:r>
            <a:r>
              <a:rPr>
                <a:latin typeface="Courier"/>
              </a:rPr>
              <a:t>FALSE</a:t>
            </a:r>
            <a:r>
              <a:rPr/>
              <a:t>이면 실행을 멈추므로 예상 결과 검증에 사용할 수 있습니다.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 위에 목적과 입력을 기록한다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필터링 후 남은 세포 비율을 계산한다.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raw_count와 filtered_count는 같은 길이의 숫자형 값이다.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calculate_retention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(raw_count, filtered_count)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filtered_count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raw_count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코드만으로 알기 어려운 입력 조건과 단위를 주석으로 설명합니다.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1: 함수를 정의만 하고 호출하지 않는다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to_thousands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함수 정의와 함수 호출은 서로 다른 단계입니다.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2: 괄호나 중괄호를 닫지 않는다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passes_cell_count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(cell_count, </a:t>
            </a:r>
            <a:r>
              <a:rPr>
                <a:solidFill>
                  <a:srgbClr val="657422"/>
                </a:solidFill>
                <a:latin typeface="Courier"/>
              </a:rPr>
              <a:t>min_cells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 &lt;-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min_cells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/>
            <a:r>
              <a:rPr/>
              <a:t>함수 이름 뒤의 </a:t>
            </a:r>
            <a:r>
              <a:rPr>
                <a:latin typeface="Courier"/>
              </a:rPr>
              <a:t>()</a:t>
            </a:r>
            <a:r>
              <a:rPr/>
              <a:t>와 본문을 감싸는 </a:t>
            </a:r>
            <a:r>
              <a:rPr>
                <a:latin typeface="Courier"/>
              </a:rPr>
              <a:t>{}</a:t>
            </a:r>
            <a:r>
              <a:rPr/>
              <a:t>를 짝지어 작성합니다.</a:t>
            </a:r>
          </a:p>
          <a:p>
            <a:pPr lvl="0"/>
            <a:r>
              <a:rPr/>
              <a:t>코드를 들여쓰면 구조를 확인하기 쉽습니다.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3: 반환할 값을 만들지 않는다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calculate_retention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(raw_count, filtered_count)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retention &lt;- filtered_count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raw_count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(retention)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계산한 변수 이름과 </a:t>
            </a:r>
            <a:r>
              <a:rPr>
                <a:latin typeface="Courier"/>
              </a:rPr>
              <a:t>return()</a:t>
            </a:r>
            <a:r>
              <a:rPr/>
              <a:t>에 적은 이름의 철자를 확인합니다.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단위 변환 함수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to_thousands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 &lt;- 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1385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1090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단일 값과 벡터에서 모두 예상한 결과가 나오는지 확인합니다.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여러 입력과 기본값 사용하기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calculate_retention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(raw_count, filtered_count)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filtered_count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raw_count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passes_cell_count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(cell_count, </a:t>
            </a:r>
            <a:r>
              <a:rPr>
                <a:solidFill>
                  <a:srgbClr val="657422"/>
                </a:solidFill>
                <a:latin typeface="Courier"/>
              </a:rPr>
              <a:t>min_cells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min_cells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위치 인자, 이름이 있는 인자, 변경한 기본값으로 각각 호출합니다.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QC 함수 재사용하기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qc_result &lt;- </a:t>
            </a:r>
            <a:r>
              <a:rPr>
                <a:solidFill>
                  <a:srgbClr val="4758AB"/>
                </a:solidFill>
                <a:latin typeface="Courier"/>
              </a:rPr>
              <a:t>passes_qc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qc_label &lt;- </a:t>
            </a:r>
            <a:r>
              <a:rPr>
                <a:solidFill>
                  <a:srgbClr val="4758AB"/>
                </a:solidFill>
                <a:latin typeface="Courier"/>
              </a:rPr>
              <a:t>label_qc</a:t>
            </a:r>
            <a:r>
              <a:rPr>
                <a:solidFill>
                  <a:srgbClr val="003B4F"/>
                </a:solidFill>
                <a:latin typeface="Courier"/>
              </a:rPr>
              <a:t>(qc_result)</a:t>
            </a:r>
          </a:p>
          <a:p>
            <a:pPr lvl="0" indent="0" marL="0">
              <a:buNone/>
            </a:pPr>
            <a:r>
              <a:rPr/>
              <a:t>함수 결과를 데이터 프레임에 추가하고 선택된 행을 확인합니다.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함수 결과 검증하기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stopifnot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to_thousands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stopifnot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calculate_retention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stopifnot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passes_cell_count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직접 만든 함수마다 쉽게 예상할 수 있는 확인 예제를 작성합니다.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함수는 입력을 받아 한 가지 작업을 수행하고 결과를 반환합니다.</a:t>
            </a:r>
          </a:p>
          <a:p>
            <a:pPr lvl="0"/>
            <a:r>
              <a:rPr/>
              <a:t>인자는 위치 또는 이름으로 전달하고 기본값을 지정할 수 있습니다.</a:t>
            </a:r>
          </a:p>
          <a:p>
            <a:pPr lvl="0"/>
            <a:r>
              <a:rPr/>
              <a:t>벡터화된 계산을 사용한 함수는 벡터와 데이터 프레임 열에도 재사용할 수 있습니다.</a:t>
            </a:r>
          </a:p>
          <a:p>
            <a:pPr lvl="0"/>
            <a:r>
              <a:rPr/>
              <a:t>필요한 값은 함수 밖에서 가져오지 않고 인자로 명시합니다.</a:t>
            </a:r>
          </a:p>
          <a:p>
            <a:pPr lvl="0"/>
            <a:r>
              <a:rPr/>
              <a:t>작은 입력과 </a:t>
            </a:r>
            <a:r>
              <a:rPr>
                <a:latin typeface="Courier"/>
              </a:rPr>
              <a:t>stopifnot()</a:t>
            </a:r>
            <a:r>
              <a:rPr/>
              <a:t>으로 함수 결과를 확인할 수 있습니다.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함수의 입력, 처리, 반환값은 각각 무엇입니까?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print()</a:t>
            </a:r>
            <a:r>
              <a:rPr/>
              <a:t>와 </a:t>
            </a:r>
            <a:r>
              <a:rPr>
                <a:latin typeface="Courier"/>
              </a:rPr>
              <a:t>return()</a:t>
            </a:r>
            <a:r>
              <a:rPr/>
              <a:t>은 어떻게 다릅니까?</a:t>
            </a:r>
          </a:p>
          <a:p>
            <a:pPr lvl="0" indent="-457200" marL="457200">
              <a:buAutoNum type="arabicPeriod"/>
            </a:pPr>
            <a:r>
              <a:rPr/>
              <a:t>기본 인자는 어떤 상황에서 유용합니까?</a:t>
            </a:r>
          </a:p>
          <a:p>
            <a:pPr lvl="0" indent="-457200" marL="457200">
              <a:buAutoNum type="arabicPeriod"/>
            </a:pPr>
            <a:r>
              <a:rPr/>
              <a:t>함수를 작성한 뒤 어떤 값으로 시험해야 합니까?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그룹별로 데이터를 요약하고 목적에 맞는 그래프로 표현하기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9차시: 함수 작성하기</dc:title>
  <dc:creator/>
  <cp:keywords/>
  <dcterms:created xsi:type="dcterms:W3CDTF">2026-07-12T09:24:15Z</dcterms:created>
  <dcterms:modified xsi:type="dcterms:W3CDTF">2026-07-12T09:24:15Z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R 기초 프로그래밍</vt:lpwstr>
  </property>
  <property fmtid="{D5CDD505-2E9C-101B-9397-08002B2CF9AE}" pid="8" name="toc-title">
    <vt:lpwstr>목차</vt:lpwstr>
  </property>
</Properties>
</file>