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Relationship Id="rId4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8차시: 반복 처리와 벡터화 연산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urier"/>
              </a:rPr>
              <a:t>for</a:t>
            </a:r>
            <a:r>
              <a:rPr/>
              <a:t> 반복문의 구성과 실행 흐름을 설명할 수 있다.</a:t>
            </a:r>
          </a:p>
          <a:p>
            <a:pPr lvl="0" indent="-457200" marL="457200">
              <a:buAutoNum type="arabicPeriod"/>
            </a:pPr>
            <a:r>
              <a:rPr/>
              <a:t>여러 값에 같은 작업을 반복하고 결과를 저장할 수 있다.</a:t>
            </a:r>
          </a:p>
          <a:p>
            <a:pPr lvl="0" indent="-457200" marL="457200">
              <a:buAutoNum type="arabicPeriod"/>
            </a:pPr>
            <a:r>
              <a:rPr/>
              <a:t>벡터화 연산으로 반복문을 간단하게 바꿀 수 있다.</a:t>
            </a:r>
          </a:p>
          <a:p>
            <a:pPr lvl="0" indent="-457200" marL="457200">
              <a:buAutoNum type="arabicPeriod"/>
            </a:pPr>
            <a:r>
              <a:rPr/>
              <a:t>작업의 목적에 따라 반복문과 벡터화 연산을 선택할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벡터와 데이터 프레임의 원소를 선택할 수 있습니다.</a:t>
            </a:r>
          </a:p>
          <a:p>
            <a:pPr lvl="0"/>
            <a:r>
              <a:rPr/>
              <a:t>조건식과 </a:t>
            </a:r>
            <a:r>
              <a:rPr>
                <a:latin typeface="Courier"/>
              </a:rPr>
              <a:t>if ... else</a:t>
            </a:r>
            <a:r>
              <a:rPr/>
              <a:t>를 작성할 수 있습니다.</a:t>
            </a:r>
          </a:p>
          <a:p>
            <a:pPr lvl="0"/>
            <a:r>
              <a:rPr/>
              <a:t>숫자형·문자형·논리형 벡터를 만들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코드를 여러 번 작성하면 불편하다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값이 많아지면 코드가 길어집니다.</a:t>
            </a:r>
          </a:p>
          <a:p>
            <a:pPr lvl="0"/>
            <a:r>
              <a:rPr/>
              <a:t>계산 방법을 바꾸려면 모든 줄을 수정해야 합니다.</a:t>
            </a:r>
          </a:p>
          <a:p>
            <a:pPr lvl="0"/>
            <a:r>
              <a:rPr/>
              <a:t>반복문은 같은 작업을 여러 값에 순서대로 적용합니다.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for</a:t>
            </a:r>
            <a:r>
              <a:rPr/>
              <a:t> 반복문의 기본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(value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values)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value를 사용하는 코드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>
                <a:latin typeface="Courier"/>
              </a:rPr>
              <a:t>values</a:t>
            </a:r>
            <a:r>
              <a:rPr/>
              <a:t>: 순서대로 처리할 값들</a:t>
            </a:r>
          </a:p>
          <a:p>
            <a:pPr lvl="0"/>
            <a:r>
              <a:rPr>
                <a:latin typeface="Courier"/>
              </a:rPr>
              <a:t>value</a:t>
            </a:r>
            <a:r>
              <a:rPr/>
              <a:t>: 현재 처리 중인 값</a:t>
            </a:r>
          </a:p>
          <a:p>
            <a:pPr lvl="0"/>
            <a:r>
              <a:rPr>
                <a:latin typeface="Courier"/>
              </a:rPr>
              <a:t>{ }</a:t>
            </a:r>
            <a:r>
              <a:rPr/>
              <a:t>: 매번 반복해서 실행할 코드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가장 간단한 반복문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cell_counts)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벡터의 첫 번째 원소부터 마지막 원소까지 하나씩 꺼내 실행합니다.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반복문의 실행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cell_count &lt;- 1200  →  print(1200)
cell_count &lt;- 1350  →  print(1350)
cell_count &lt;- 980   →  print(980)
반복 종료</a:t>
            </a:r>
          </a:p>
          <a:p>
            <a:pPr lvl="0" indent="0" marL="0">
              <a:buNone/>
            </a:pPr>
            <a:r>
              <a:rPr/>
              <a:t>한 번의 실행이 끝나면 다음 원소로 이동합니다.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 변수의 이름은 의미 있게 작성한다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(sample_name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sample_names)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(sample_name)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i</a:t>
            </a:r>
            <a:r>
              <a:rPr/>
              <a:t>처럼 짧은 이름보다 현재 값의 의미가 드러나는 이름이 입문자에게 이해하기 쉽습니다.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 안에서 계산할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cell_counts)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cell_count_k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(cell_count_k)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각 원소에 같은 계산이 순서대로 적용됩니다.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출력과 저장은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cell_counts)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cell_count_k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(cell_count_k)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cell_count_k</a:t>
            </a:r>
          </a:p>
          <a:p>
            <a:pPr lvl="0"/>
            <a:r>
              <a:rPr>
                <a:latin typeface="Courier"/>
              </a:rPr>
              <a:t>print()</a:t>
            </a:r>
            <a:r>
              <a:rPr/>
              <a:t>는 실행 중 값을 화면에 보여 줍니다.</a:t>
            </a:r>
          </a:p>
          <a:p>
            <a:pPr lvl="0"/>
            <a:r>
              <a:rPr/>
              <a:t>반복이 끝난 뒤 </a:t>
            </a:r>
            <a:r>
              <a:rPr>
                <a:latin typeface="Courier"/>
              </a:rPr>
              <a:t>cell_count_k</a:t>
            </a:r>
            <a:r>
              <a:rPr/>
              <a:t>에는 마지막 계산 결과만 남습니다.</a:t>
            </a:r>
          </a:p>
          <a:p>
            <a:pPr lvl="0"/>
            <a:r>
              <a:rPr/>
              <a:t>모든 결과가 필요하면 결과 벡터를 준비해야 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결과 벡터를 미리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cell_count_k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cell_count_k</a:t>
            </a:r>
          </a:p>
          <a:p>
            <a:pPr lvl="0"/>
            <a:r>
              <a:rPr>
                <a:latin typeface="Courier"/>
              </a:rPr>
              <a:t>numeric(n)</a:t>
            </a:r>
            <a:r>
              <a:rPr/>
              <a:t>은 길이 </a:t>
            </a:r>
            <a:r>
              <a:rPr>
                <a:latin typeface="Courier"/>
              </a:rPr>
              <a:t>n</a:t>
            </a:r>
            <a:r>
              <a:rPr/>
              <a:t>인 숫자형 벡터를 만듭니다.</a:t>
            </a:r>
          </a:p>
          <a:p>
            <a:pPr lvl="0"/>
            <a:r>
              <a:rPr/>
              <a:t>처음에는 모든 값이 0입니다.</a:t>
            </a:r>
          </a:p>
          <a:p>
            <a:pPr lvl="0"/>
            <a:r>
              <a:rPr/>
              <a:t>필요한 크기를 먼저 만드는 것을 </a:t>
            </a:r>
            <a:r>
              <a:rPr b="1"/>
              <a:t>사전 할당</a:t>
            </a:r>
            <a:r>
              <a:rPr/>
              <a:t>이라고 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위치 번호를 반복한다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seq_along()</a:t>
            </a:r>
            <a:r>
              <a:rPr/>
              <a:t>은 벡터 길이에 맞는 안전한 위치 번호를 만듭니다.</a:t>
            </a:r>
          </a:p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(index)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위치에 결과를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cell_count_k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cell_count_k[index] &lt;- cell_counts[index]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cell_count_k</a:t>
            </a:r>
          </a:p>
          <a:p>
            <a:pPr lvl="0" indent="0" marL="0">
              <a:buNone/>
            </a:pPr>
            <a:r>
              <a:rPr/>
              <a:t>현재 입력 위치와 같은 결과 위치에 값을 저장합니다.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왜 </a:t>
            </a:r>
            <a:r>
              <a:rPr>
                <a:latin typeface="Courier"/>
              </a:rPr>
              <a:t>1:length(x)</a:t>
            </a:r>
            <a:r>
              <a:rPr/>
              <a:t>보다 </a:t>
            </a:r>
            <a:r>
              <a:rPr>
                <a:latin typeface="Courier"/>
              </a:rPr>
              <a:t>seq_along(x)</a:t>
            </a:r>
            <a:r>
              <a:rPr/>
              <a:t>를 사용하는가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/>
            <a:r>
              <a:rPr/>
              <a:t>빈 벡터에서 </a:t>
            </a:r>
            <a:r>
              <a:rPr>
                <a:latin typeface="Courier"/>
              </a:rPr>
              <a:t>1:length(x)</a:t>
            </a:r>
            <a:r>
              <a:rPr/>
              <a:t>는 의도하지 않은 </a:t>
            </a:r>
            <a:r>
              <a:rPr>
                <a:latin typeface="Courier"/>
              </a:rPr>
              <a:t>1, 0</a:t>
            </a:r>
            <a:r>
              <a:rPr/>
              <a:t>을 만듭니다.</a:t>
            </a:r>
          </a:p>
          <a:p>
            <a:pPr lvl="0"/>
            <a:r>
              <a:rPr>
                <a:latin typeface="Courier"/>
              </a:rPr>
              <a:t>seq_along(x)</a:t>
            </a:r>
            <a:r>
              <a:rPr/>
              <a:t>은 빈 벡터에 대해 빈 위치 벡터를 만듭니다.</a:t>
            </a:r>
          </a:p>
          <a:p>
            <a:pPr lvl="0"/>
            <a:r>
              <a:rPr/>
              <a:t>위치 반복에는 </a:t>
            </a:r>
            <a:r>
              <a:rPr>
                <a:latin typeface="Courier"/>
              </a:rPr>
              <a:t>seq_along()</a:t>
            </a:r>
            <a:r>
              <a:rPr/>
              <a:t>을 기본으로 사용합니다.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자료형에 맞는 결과 벡터를 준비한다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numeric_result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character_result &lt;-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logical_result &lt;- </a:t>
            </a:r>
            <a:r>
              <a:rPr>
                <a:solidFill>
                  <a:srgbClr val="4758AB"/>
                </a:solidFill>
                <a:latin typeface="Courier"/>
              </a:rPr>
              <a:t>logical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초기값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용도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numeric()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숫자형 결과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character()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""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문자형 결과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logical()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논리형 결과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 안에서 조건을 사용할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qc_labels &lt;-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(cell_counts[index]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qc_labels[index] &lt;-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qc_labels[index] &lt;-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qc_labels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두 벡터의 같은 위치를 함께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mito_percent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9.4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4758AB"/>
                </a:solidFill>
                <a:latin typeface="Courier"/>
              </a:rPr>
              <a:t>logical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passed_qc[index]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cell_counts[index]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mito_percent[index]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</a:p>
          <a:p>
            <a:pPr lvl="0" indent="0" marL="0">
              <a:buNone/>
            </a:pPr>
            <a:r>
              <a:rPr/>
              <a:t>한 번에 확인하는 값은 각각 길이 1이므로 </a:t>
            </a:r>
            <a:r>
              <a:rPr>
                <a:latin typeface="Courier"/>
              </a:rPr>
              <a:t>&amp;&amp;</a:t>
            </a:r>
            <a:r>
              <a:rPr/>
              <a:t>를 사용할 수 있습니다.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반복문으로 데이터 프레임의 행을 처리한다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metadata_qc_labels &lt;-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(sample_metadata))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(row_index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seq_len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(sample_metadata)))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passed_qc[row_index])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metadata_qc_labels[row_index] &lt;-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metadata_qc_labels[row_index] &lt;-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metadata_qc_labels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seq_len()</a:t>
            </a:r>
            <a:r>
              <a:rPr/>
              <a:t>은 원하는 길이의 위치를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seq_len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seq_len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(sample_metadata))</a:t>
            </a:r>
          </a:p>
          <a:p>
            <a:pPr lvl="0"/>
            <a:r>
              <a:rPr>
                <a:latin typeface="Courier"/>
              </a:rPr>
              <a:t>seq_along(x)</a:t>
            </a:r>
            <a:r>
              <a:rPr/>
              <a:t>은 객체의 원소 위치를 반복할 때 사용합니다.</a:t>
            </a:r>
          </a:p>
          <a:p>
            <a:pPr lvl="0"/>
            <a:r>
              <a:rPr>
                <a:latin typeface="Courier"/>
              </a:rPr>
              <a:t>seq_len(n)</a:t>
            </a:r>
            <a:r>
              <a:rPr/>
              <a:t>은 행 수처럼 길이가 숫자로 주어질 때 사용합니다.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결과를 데이터 프레임에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qc_label_loop &lt;- metadata_qc_labels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결과 벡터의 길이는 데이터 프레임의 행 수와 같아야 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실행 과정을 확인하며 오류를 찾는다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(index)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(cell_counts[index])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/>
              <a:t>현재 위치와 값을 출력하면 반복 흐름을 확인할 수 있습니다.</a:t>
            </a:r>
          </a:p>
          <a:p>
            <a:pPr lvl="0"/>
            <a:r>
              <a:rPr/>
              <a:t>확인이 끝나면 불필요한 </a:t>
            </a:r>
            <a:r>
              <a:rPr>
                <a:latin typeface="Courier"/>
              </a:rPr>
              <a:t>print()</a:t>
            </a:r>
            <a:r>
              <a:rPr/>
              <a:t>는 제거합니다.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결과를 저장하지 않는다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마지막 결과만 남는 코드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cell_counts)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 &lt;- 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result</a:t>
            </a:r>
          </a:p>
          <a:p>
            <a:pPr lvl="0" indent="0" marL="0">
              <a:buNone/>
            </a:pPr>
            <a:r>
              <a:rPr/>
              <a:t>모든 결과가 필요하면 결과 벡터와 위치 번호를 사용합니다.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결과 위치를 빠뜨린다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result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result[index] &lt;- cell_counts[index]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왼쪽의 </a:t>
            </a:r>
            <a:r>
              <a:rPr>
                <a:latin typeface="Courier"/>
              </a:rPr>
              <a:t>result[index]</a:t>
            </a:r>
            <a:r>
              <a:rPr/>
              <a:t>가 현재 결과를 저장할 위치입니다.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입력과 결과 길이가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(result)</a:t>
            </a:r>
          </a:p>
          <a:p>
            <a:pPr lvl="0"/>
            <a:r>
              <a:rPr/>
              <a:t>반복 전후에 길이를 비교합니다.</a:t>
            </a:r>
          </a:p>
          <a:p>
            <a:pPr lvl="0"/>
            <a:r>
              <a:rPr/>
              <a:t>데이터 프레임에 열로 추가할 때는 특히 길이가 같아야 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벡터화 연산은 반복을 내부에서 처리한다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cell_count_k &lt;- cell_counts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cell_count_k</a:t>
            </a:r>
          </a:p>
          <a:p>
            <a:pPr lvl="0" indent="0" marL="0">
              <a:buNone/>
            </a:pPr>
            <a:r>
              <a:rPr/>
              <a:t>R은 벡터의 모든 원소에 나눗셈을 적용합니다.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산술 반복문을 벡터화한다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반복문:</a:t>
            </a:r>
          </a:p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result[index] &lt;- cell_counts[index]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벡터화 연산: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result_vectorized &lt;- cell_counts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 연산도 벡터화되어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passed_qc_vectorized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passed_qc_vectorized</a:t>
            </a:r>
          </a:p>
          <a:p>
            <a:pPr lvl="0" indent="0" marL="0">
              <a:buNone/>
            </a:pPr>
            <a:r>
              <a:rPr/>
              <a:t>각 원소에 같은 비교가 적용됩니다.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원소별 분기는 </a:t>
            </a:r>
            <a:r>
              <a:rPr>
                <a:latin typeface="Courier"/>
              </a:rPr>
              <a:t>ifelse()</a:t>
            </a:r>
            <a:r>
              <a:rPr/>
              <a:t>로 벡터화한다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qc_labels_vectorized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passed_qc_vectorized,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qc_labels_vectorized</a:t>
            </a:r>
          </a:p>
          <a:p>
            <a:pPr lvl="0" indent="0" marL="0">
              <a:buNone/>
            </a:pPr>
            <a:r>
              <a:rPr/>
              <a:t>반복문 안의 </a:t>
            </a:r>
            <a:r>
              <a:rPr>
                <a:latin typeface="Courier"/>
              </a:rPr>
              <a:t>if ... else</a:t>
            </a:r>
            <a:r>
              <a:rPr/>
              <a:t>를 간단하게 표현할 수 있습니다.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요약 함수도 반복을 대신한다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합계나 평균을 직접 반복하여 계산하기보다 준비된 요약 함수를 사용합니다.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반복문과 벡터화 결과를 비교한다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(result, result_vectorized)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(qc_labels, qc_labels_vectorized)</a:t>
            </a:r>
          </a:p>
          <a:p>
            <a:pPr lvl="0" indent="0" marL="0">
              <a:buNone/>
            </a:pPr>
            <a:r>
              <a:rPr/>
              <a:t>코드를 바꾼 뒤 결과가 같은지 확인하면 실수를 줄일 수 있습니다.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벡터화 연산을 우선 고려한다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벡터화 연산이 적합한 경우:</a:t>
            </a:r>
          </a:p>
          <a:p>
            <a:pPr lvl="0"/>
            <a:r>
              <a:rPr/>
              <a:t>모든 원소에 같은 산술 계산을 적용할 때</a:t>
            </a:r>
          </a:p>
          <a:p>
            <a:pPr lvl="0"/>
            <a:r>
              <a:rPr/>
              <a:t>각 원소를 같은 기준과 비교할 때</a:t>
            </a:r>
          </a:p>
          <a:p>
            <a:pPr lvl="0"/>
            <a:r>
              <a:rPr>
                <a:latin typeface="Courier"/>
              </a:rPr>
              <a:t>sum()</a:t>
            </a:r>
            <a:r>
              <a:rPr/>
              <a:t>, </a:t>
            </a:r>
            <a:r>
              <a:rPr>
                <a:latin typeface="Courier"/>
              </a:rPr>
              <a:t>mean()</a:t>
            </a:r>
            <a:r>
              <a:rPr/>
              <a:t>처럼 목적에 맞는 함수가 있을 때</a:t>
            </a:r>
          </a:p>
          <a:p>
            <a:pPr lvl="0" indent="0" marL="0">
              <a:buNone/>
            </a:pPr>
            <a:r>
              <a:rPr/>
              <a:t>코드가 짧고 계산 의도가 잘 드러납니다.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반복문이 더 자연스러운 경우도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반복문이 적합한 경우:</a:t>
            </a:r>
          </a:p>
          <a:p>
            <a:pPr lvl="0"/>
            <a:r>
              <a:rPr/>
              <a:t>각 단계에서 여러 줄의 작업을 순서대로 수행할 때</a:t>
            </a:r>
          </a:p>
          <a:p>
            <a:pPr lvl="0"/>
            <a:r>
              <a:rPr/>
              <a:t>현재 결과에 따라 실행할 작업이 달라질 때</a:t>
            </a:r>
          </a:p>
          <a:p>
            <a:pPr lvl="0"/>
            <a:r>
              <a:rPr/>
              <a:t>반복 과정을 출력하며 확인해야 할 때</a:t>
            </a:r>
          </a:p>
          <a:p>
            <a:pPr lvl="0"/>
            <a:r>
              <a:rPr/>
              <a:t>간단한 벡터화 표현이 없는 작업일 때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짧은 코드보다 이해하기 쉬운 코드가 우선이다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</a:p>
          <a:p>
            <a:pPr lvl="0"/>
            <a:r>
              <a:rPr/>
              <a:t>벡터화한다고 해서 한 줄에 모든 내용을 넣을 필요는 없습니다.</a:t>
            </a:r>
          </a:p>
          <a:p>
            <a:pPr lvl="0"/>
            <a:r>
              <a:rPr/>
              <a:t>계산 단계를 의미 있는 변수에 나누어 저장할 수 있습니다.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값과 위치 반복하기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cell_counts)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(cell_counts[index])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두 반복문의 결과와 반복 변수의 의미를 비교합니다.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반복 결과 저장하기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cell_count_k &lt;-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cell_count_k[index] &lt;- cell_counts[index]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cell_count_k</a:t>
            </a:r>
          </a:p>
          <a:p>
            <a:pPr lvl="0" indent="0" marL="0">
              <a:buNone/>
            </a:pPr>
            <a:r>
              <a:rPr/>
              <a:t>결과 벡터의 길이와 값을 확인합니다.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조건별 결과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qc_labels &lt;-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(index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seq_along</a:t>
            </a:r>
            <a:r>
              <a:rPr>
                <a:solidFill>
                  <a:srgbClr val="003B4F"/>
                </a:solidFill>
                <a:latin typeface="Courier"/>
              </a:rPr>
              <a:t>(cell_counts))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(cell_counts[index]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qc_labels[index] &lt;-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qc_labels[index] &lt;-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각 위치에 올바른 레이블이 저장됐는지 확인합니다.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벡터화하고 결과 비교하기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cell_count_k_vectorized &lt;- cell_counts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qc_labels_vectorized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(cell_count_k, cell_count_k_vectorized)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identical</a:t>
            </a:r>
            <a:r>
              <a:rPr>
                <a:solidFill>
                  <a:srgbClr val="003B4F"/>
                </a:solidFill>
                <a:latin typeface="Courier"/>
              </a:rPr>
              <a:t>(qc_labels, qc_labels_vectorized)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for</a:t>
            </a:r>
            <a:r>
              <a:rPr/>
              <a:t>는 여러 값을 하나씩 꺼내 같은 코드 블록을 실행합니다.</a:t>
            </a:r>
          </a:p>
          <a:p>
            <a:pPr lvl="0"/>
            <a:r>
              <a:rPr/>
              <a:t>모든 결과를 보존하려면 결과 벡터를 사전 할당하고 위치별로 저장합니다.</a:t>
            </a:r>
          </a:p>
          <a:p>
            <a:pPr lvl="0"/>
            <a:r>
              <a:rPr/>
              <a:t>위치 반복에는 </a:t>
            </a:r>
            <a:r>
              <a:rPr>
                <a:latin typeface="Courier"/>
              </a:rPr>
              <a:t>seq_along()</a:t>
            </a:r>
            <a:r>
              <a:rPr/>
              <a:t> 또는 </a:t>
            </a:r>
            <a:r>
              <a:rPr>
                <a:latin typeface="Courier"/>
              </a:rPr>
              <a:t>seq_len()</a:t>
            </a:r>
            <a:r>
              <a:rPr/>
              <a:t>을 사용합니다.</a:t>
            </a:r>
          </a:p>
          <a:p>
            <a:pPr lvl="0"/>
            <a:r>
              <a:rPr/>
              <a:t>산술·비교·요약은 벡터화 연산과 기존 함수를 우선 고려합니다.</a:t>
            </a:r>
          </a:p>
          <a:p>
            <a:pPr lvl="0"/>
            <a:r>
              <a:rPr/>
              <a:t>코드 목적과 실행 과정에 따라 반복문이 더 이해하기 쉬울 수도 있습니다.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반복문이 끝난 뒤 마지막 결과만 남는 이유는 무엇입니까?</a:t>
            </a:r>
          </a:p>
          <a:p>
            <a:pPr lvl="0" indent="-457200" marL="457200">
              <a:buAutoNum type="arabicPeriod"/>
            </a:pPr>
            <a:r>
              <a:rPr/>
              <a:t>사전 할당은 무엇이며 왜 사용합니까?</a:t>
            </a:r>
          </a:p>
          <a:p>
            <a:pPr lvl="0" indent="-457200" marL="457200">
              <a:buAutoNum type="arabicPeriod"/>
            </a:pPr>
            <a:r>
              <a:rPr/>
              <a:t>위치 반복에 </a:t>
            </a:r>
            <a:r>
              <a:rPr>
                <a:latin typeface="Courier"/>
              </a:rPr>
              <a:t>seq_along()</a:t>
            </a:r>
            <a:r>
              <a:rPr/>
              <a:t>을 사용하는 이유는 무엇입니까?</a:t>
            </a:r>
          </a:p>
          <a:p>
            <a:pPr lvl="0" indent="-457200" marL="457200">
              <a:buAutoNum type="arabicPeriod"/>
            </a:pPr>
            <a:r>
              <a:rPr/>
              <a:t>어떤 작업에서 벡터화 연산을 우선 고려합니까?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반복되는 코드를 하나의 함수로 만들고 재사용하기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8차시: 반복 처리와 벡터화 연산</dc:title>
  <dc:creator/>
  <cp:keywords/>
  <dcterms:created xsi:type="dcterms:W3CDTF">2026-07-12T11:15:59Z</dcterms:created>
  <dcterms:modified xsi:type="dcterms:W3CDTF">2026-07-12T11:15:59Z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