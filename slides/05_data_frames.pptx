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5" Type="http://schemas.openxmlformats.org/officeDocument/2006/relationships/tableStyles" Target="tableStyles.xml" /><Relationship Id="rId44" Type="http://schemas.openxmlformats.org/officeDocument/2006/relationships/theme" Target="theme/theme1.xml" /><Relationship Id="rId43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5EA77F-A944-4F90-A580-BFB1EBDD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247731-8C16-48CE-83E8-82961F5A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EC76E-53A1-48FD-AAA5-91D55E1A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F5A436-622D-4609-9CAD-93F62FE9C071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03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2FCBBD-DFA9-4E92-A913-26CF9C16EE1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11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51DC66-B343-4339-8DFE-F337361B7142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24DEFA-F193-42BA-A7DC-72FAB0CB111A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18FC79-1AA4-44C2-AB13-4EE8FD5EB7E8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83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65F950-2413-4CE2-8BD0-18A4BBCD72E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C3D350-ADF5-46FD-87CE-C07683F6982B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862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0C25F-30DA-4EDD-8504-44DA909B4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E1EED7-4C61-4A08-AF5B-A390C60A0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6A1FF6-51FE-4685-BA34-E0F89D45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B3851C-0BE4-4E91-95F4-2EC266D69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3CBF9E-951B-4FF6-85E6-6601F238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492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8392-3978-4394-BAB4-2437C15AD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74FF69-769F-4677-B82A-E232B25BA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2B5173-A205-47A2-953F-A236FB1D4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D21268-4ABF-4DE0-998A-28F7BFCD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EFEE9E-EDCD-4886-92ED-3796485C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E14DB4-8F62-4CD7-8DD2-AD422C0C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B169FF-FAD7-46E0-9D59-C9B5BEB076DC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90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9F672-094E-482F-8FE2-0C0D8F2E0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AF80BD-BF78-49AF-BBBA-1A773DA2C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8D6527-B034-41A0-9FC9-C530962C8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5785AA-E40F-4E95-B834-2D7649E02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A75630-B532-4D2B-BA6E-233076F4A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05AF02-6B25-4BBC-9A62-947D9883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29AF57-1554-4883-A5C0-D2E35605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02C77D-EDE4-4302-857A-97BE6DAD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813AE4-CA38-49CC-83A5-DA570C2D152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571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C5B61-FD8F-4A03-8446-AFB1FC117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17F6E7-F469-4E45-A7CA-18C4220B7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81412A-6E99-4D2F-8564-CCE9309E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B49B12-B58B-42B1-9FC8-0F11E70E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9F98D1-EC0F-4996-8D0E-19D80403D7F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93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3DAFDE-3EF4-4BC2-8C6E-53A0DCBB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806864-590A-497A-9E3B-31220A83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AE52D8-EF8D-4B38-BAE5-100369F3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789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6CAC9-BDCF-454F-B4EB-26821C0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F85D79-8D84-4463-A554-36DA89022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32173-BE5A-4386-B8FC-0DD3565F6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D7BBE8-F04D-4F20-A998-2847A7EC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091599-E0C3-4951-800C-0FA8BF5C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D06458-41C2-4B2E-9AF2-A62CE366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9F72F4-84F2-4B08-8B7A-396EE76DDF2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78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8A6E4-6940-49AF-8B5F-9B16DB00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AFC852-B328-4179-BC85-EB34AC8CD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BD367B-5A0C-4ADF-98EF-314F244CC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903147-4754-4023-8B77-20EB33E5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DDB5D-EDEB-4E99-BA69-F1F76F275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872CF2-966E-422A-927F-3BD6A6E5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E2E2F7-28CA-4288-94F5-8E25DCD2A45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64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E92E6-4E61-4E2B-9F4F-D23641A2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576B3A-9062-444C-9C47-61FA4351C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1A3954-5D36-48F6-87B1-16A84AB4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A0FE3E-5C3F-4A6C-952A-7C8CB744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068D49-B037-4EA4-BE8F-2516D300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064922-4160-4D2C-A562-270D09593F3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581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94EABC-274E-4BAD-AB22-188F885A3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7306ED-34B5-4464-AFBE-9E25FC9A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C654F-F2FA-42D5-8AC8-4073F8FB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31A3EE-B6E8-4AF1-9041-45D44926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645F18-B2AB-45F4-8642-885F2B8A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5F32C9-BBE2-4217-A3E2-DE5FC68F326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58779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61F8DA-C043-4CD7-86F2-E1A0EF4CB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14F0DF-8367-4CE4-BFB7-B09F18D1638C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183F21-A1A8-463E-86D3-0CFB7A05EF38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2696ECB5-D1DE-4FA4-9CD7-1650D2029999}" type="datetimeFigureOut">
              <a:rPr altLang="ko-KR" lang="en-US" smtClean="0">
                <a:ea charset="0" panose="02000503000000020004" pitchFamily="2" typeface="Inter"/>
              </a:rPr>
              <a:pPr/>
              <a:t>2026-07-12</a:t>
            </a:fld>
            <a:endParaRPr altLang="ko-KR" lang="en-US">
              <a:ea charset="0" panose="02000503000000020004" pitchFamily="2" typeface="Inter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0C5B5C-65C9-4D66-BC46-FDE4016F57B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2730EB-AE08-4C4E-A274-945B51E99D4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812DBD89-BD24-4FCE-906C-9138E5983130}" type="slidenum">
              <a:rPr altLang="ko-KR" lang="en-US" smtClean="0">
                <a:ea charset="0" panose="02000503000000020004" pitchFamily="2" typeface="Inter"/>
              </a:rPr>
              <a:pPr/>
              <a:t>‹#›</a:t>
            </a:fld>
            <a:endParaRPr altLang="ko-KR" lang="en-US">
              <a:ea charset="0" panose="02000503000000020004" pitchFamily="2"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39533195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5차시: 데이터 프레임 다루기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 기초 프로그래밍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여러 자료형으로 구성된 데이터 프레임을 만들 수 있다.</a:t>
            </a:r>
          </a:p>
          <a:p>
            <a:pPr lvl="0" indent="-457200" marL="457200">
              <a:buAutoNum type="arabicPeriod"/>
            </a:pPr>
            <a:r>
              <a:rPr/>
              <a:t>데이터 프레임의 구조를 확인하고 행과 열을 선택할 수 있다.</a:t>
            </a:r>
          </a:p>
          <a:p>
            <a:pPr lvl="0" indent="-457200" marL="457200">
              <a:buAutoNum type="arabicPeriod"/>
            </a:pPr>
            <a:r>
              <a:rPr/>
              <a:t>새로운 열을 추가하고 기존 값을 수정할 수 있다.</a:t>
            </a:r>
          </a:p>
          <a:p>
            <a:pPr lvl="0" indent="-457200" marL="457200">
              <a:buAutoNum type="arabicPeriod"/>
            </a:pPr>
            <a:r>
              <a:rPr/>
              <a:t>결측값이 있는 위치와 개수를 확인할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선수 지식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벡터를 만들고 원소를 선택할 수 있습니다.</a:t>
            </a:r>
          </a:p>
          <a:p>
            <a:pPr lvl="0"/>
            <a:r>
              <a:rPr/>
              <a:t>행렬에서 </a:t>
            </a:r>
            <a:r>
              <a:rPr>
                <a:latin typeface="Courier"/>
              </a:rPr>
              <a:t>[행, 열]</a:t>
            </a:r>
            <a:r>
              <a:rPr/>
              <a:t>로 값을 선택할 수 있습니다.</a:t>
            </a:r>
          </a:p>
          <a:p>
            <a:pPr lvl="0"/>
            <a:r>
              <a:rPr/>
              <a:t>범주형 값을 팩터로 표현할 수 있습니다.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여러 벡터로 샘플 정보를 관리할 때의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sample_names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"control_2"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"treated_1"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conditions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/>
              <a:t>세 벡터의 같은 위치가 같은 샘플을 나타냅니다.</a:t>
            </a:r>
          </a:p>
          <a:p>
            <a:pPr lvl="0"/>
            <a:r>
              <a:rPr/>
              <a:t>벡터가 많아지면 서로의 순서와 길이를 맞추기 어렵습니다.</a:t>
            </a:r>
          </a:p>
          <a:p>
            <a:pPr lvl="0"/>
            <a:r>
              <a:rPr/>
              <a:t>관련된 벡터를 하나의 표로 묶으면 관리하기 쉽습니다.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 프레임은 행과 열로 이루어진 표다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cell_count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passed_qc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control_1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control_2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treated_1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treated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FALSE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한 행은 하나의 관측 대상, 여기서는 샘플 하나를 나타냅니다.</a:t>
            </a:r>
          </a:p>
          <a:p>
            <a:pPr lvl="0"/>
            <a:r>
              <a:rPr/>
              <a:t>한 열은 하나의 변수, 즉 샘플의 한 가지 특성을 나타냅니다.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 프레임은 열마다 자료형이 달라도 된다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자료형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sample_name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문자형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condition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문자형 또는 팩터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cell_count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숫자형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passed_qc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논리형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행렬은 모든 원소의 자료형이 같지만, 데이터 프레임은 열마다 다른 자료형을 가질 수 있습니다.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data.frame()</a:t>
            </a:r>
            <a:r>
              <a:rPr/>
              <a:t>으로 데이터 프레임을 만든다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sample_info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sample_name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"control_2"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"treated_1"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condition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cell_count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passed_qc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sample_info</a:t>
            </a:r>
          </a:p>
          <a:p>
            <a:pPr lvl="0" indent="0" marL="0">
              <a:buNone/>
            </a:pPr>
            <a:r>
              <a:rPr/>
              <a:t>각 인자는 데이터 프레임의 한 열이 됩니다.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모든 열의 길이가 같아야 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sample_names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"control_2"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"treated_1"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cell_counts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(sample_names)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(cell_counts)</a:t>
            </a:r>
          </a:p>
          <a:p>
            <a:pPr lvl="0"/>
            <a:r>
              <a:rPr/>
              <a:t>한 행에 각 열의 값이 하나씩 필요합니다.</a:t>
            </a:r>
          </a:p>
          <a:p>
            <a:pPr lvl="0"/>
            <a:r>
              <a:rPr/>
              <a:t>길이가 맞지 않으면 데이터 프레임을 만들 때 오류가 발생할 수 있습니다.</a:t>
            </a:r>
          </a:p>
          <a:p>
            <a:pPr lvl="0"/>
            <a:r>
              <a:rPr/>
              <a:t>생성 전에 각 벡터의 길이를 확인합니다.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 프레임을 출력해 전체 모습을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sample_info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(sample_info)</a:t>
            </a:r>
          </a:p>
          <a:p>
            <a:pPr lvl="0"/>
            <a:r>
              <a:rPr/>
              <a:t>작은 데이터 프레임은 전체를 출력해 확인할 수 있습니다.</a:t>
            </a:r>
          </a:p>
          <a:p>
            <a:pPr lvl="0"/>
            <a:r>
              <a:rPr/>
              <a:t>데이터가 크면 일부와 구조를 먼저 확인하는 편이 좋습니다.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head()</a:t>
            </a:r>
            <a:r>
              <a:rPr/>
              <a:t>와 </a:t>
            </a:r>
            <a:r>
              <a:rPr>
                <a:latin typeface="Courier"/>
              </a:rPr>
              <a:t>tail()</a:t>
            </a:r>
            <a:r>
              <a:rPr/>
              <a:t>로 일부 행을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(sample_info)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tail</a:t>
            </a:r>
            <a:r>
              <a:rPr>
                <a:solidFill>
                  <a:srgbClr val="003B4F"/>
                </a:solidFill>
                <a:latin typeface="Courier"/>
              </a:rPr>
              <a:t>(sample_info)</a:t>
            </a:r>
          </a:p>
          <a:p>
            <a:pPr lvl="0"/>
            <a:r>
              <a:rPr>
                <a:latin typeface="Courier"/>
              </a:rPr>
              <a:t>head()</a:t>
            </a:r>
            <a:r>
              <a:rPr/>
              <a:t>는 처음 6개 행을 보여 줍니다.</a:t>
            </a:r>
          </a:p>
          <a:p>
            <a:pPr lvl="0"/>
            <a:r>
              <a:rPr>
                <a:latin typeface="Courier"/>
              </a:rPr>
              <a:t>tail()</a:t>
            </a:r>
            <a:r>
              <a:rPr/>
              <a:t>은 마지막 6개 행을 보여 줍니다.</a:t>
            </a:r>
          </a:p>
          <a:p>
            <a:pPr lvl="0"/>
            <a:r>
              <a:rPr/>
              <a:t>두 번째 인자로 확인할 행의 수를 지정할 수 있습니다.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(sample_info,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 프레임의 크기를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(sample_info)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(sample_info)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ncol</a:t>
            </a:r>
            <a:r>
              <a:rPr>
                <a:solidFill>
                  <a:srgbClr val="003B4F"/>
                </a:solidFill>
                <a:latin typeface="Courier"/>
              </a:rPr>
              <a:t>(sample_info)</a:t>
            </a:r>
          </a:p>
          <a:p>
            <a:pPr lvl="0"/>
            <a:r>
              <a:rPr>
                <a:latin typeface="Courier"/>
              </a:rPr>
              <a:t>dim()</a:t>
            </a:r>
            <a:r>
              <a:rPr/>
              <a:t>은 행 수와 열 수를 차례로 반환합니다.</a:t>
            </a:r>
          </a:p>
          <a:p>
            <a:pPr lvl="0"/>
            <a:r>
              <a:rPr>
                <a:latin typeface="Courier"/>
              </a:rPr>
              <a:t>nrow()</a:t>
            </a:r>
            <a:r>
              <a:rPr/>
              <a:t>는 행 수, </a:t>
            </a:r>
            <a:r>
              <a:rPr>
                <a:latin typeface="Courier"/>
              </a:rPr>
              <a:t>ncol()</a:t>
            </a:r>
            <a:r>
              <a:rPr/>
              <a:t>은 열 수를 반환합니다.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열 이름을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(sample_info)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colnames</a:t>
            </a:r>
            <a:r>
              <a:rPr>
                <a:solidFill>
                  <a:srgbClr val="003B4F"/>
                </a:solidFill>
                <a:latin typeface="Courier"/>
              </a:rPr>
              <a:t>(sample_info)</a:t>
            </a:r>
          </a:p>
          <a:p>
            <a:pPr lvl="0"/>
            <a:r>
              <a:rPr/>
              <a:t>두 함수 모두 데이터 프레임의 열 이름을 보여 줍니다.</a:t>
            </a:r>
          </a:p>
          <a:p>
            <a:pPr lvl="0"/>
            <a:r>
              <a:rPr/>
              <a:t>정확한 열 이름을 확인하면 철자 오류를 줄일 수 있습니다.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str()</a:t>
            </a:r>
            <a:r>
              <a:rPr/>
              <a:t>로 구조를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(sample_info)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str()</a:t>
            </a:r>
            <a:r>
              <a:rPr/>
              <a:t>는 다음 정보를 간결하게 보여 줍니다.</a:t>
            </a:r>
          </a:p>
          <a:p>
            <a:pPr lvl="0"/>
            <a:r>
              <a:rPr/>
              <a:t>데이터 프레임의 행과 열 개수</a:t>
            </a:r>
          </a:p>
          <a:p>
            <a:pPr lvl="0"/>
            <a:r>
              <a:rPr/>
              <a:t>각 열의 이름과 자료형</a:t>
            </a:r>
          </a:p>
          <a:p>
            <a:pPr lvl="0"/>
            <a:r>
              <a:rPr/>
              <a:t>각 열에 저장된 값의 일부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summary()</a:t>
            </a:r>
            <a:r>
              <a:rPr/>
              <a:t>로 열별 요약을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(sample_info)</a:t>
            </a:r>
          </a:p>
          <a:p>
            <a:pPr lvl="0"/>
            <a:r>
              <a:rPr/>
              <a:t>숫자형 열은 최솟값, 평균, 중앙값 등을 보여 줍니다.</a:t>
            </a:r>
          </a:p>
          <a:p>
            <a:pPr lvl="0"/>
            <a:r>
              <a:rPr/>
              <a:t>문자형과 논리형 열은 자료형에 맞는 정보를 보여 줍니다.</a:t>
            </a:r>
          </a:p>
          <a:p>
            <a:pPr lvl="0"/>
            <a:r>
              <a:rPr/>
              <a:t>분석을 시작할 때 데이터의 전체적인 모습을 파악하는 데 유용합니다.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$</a:t>
            </a:r>
            <a:r>
              <a:rPr/>
              <a:t>로 한 열을 선택한다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sample_info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sample_info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</a:t>
            </a:r>
          </a:p>
          <a:p>
            <a:pPr lvl="0"/>
            <a:r>
              <a:rPr>
                <a:latin typeface="Courier"/>
              </a:rPr>
              <a:t>$</a:t>
            </a:r>
            <a:r>
              <a:rPr/>
              <a:t> 뒤에 열 이름을 작성합니다.</a:t>
            </a:r>
          </a:p>
          <a:p>
            <a:pPr lvl="0"/>
            <a:r>
              <a:rPr/>
              <a:t>결과는 해당 열의 벡터입니다.</a:t>
            </a:r>
          </a:p>
          <a:p>
            <a:pPr lvl="0"/>
            <a:r>
              <a:rPr/>
              <a:t>열 이름을 직접 알고 있을 때 읽기 쉬운 방법입니다.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[[ ]]</a:t>
            </a:r>
            <a:r>
              <a:rPr/>
              <a:t>로 한 열을 선택한다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sample_info[[</a:t>
            </a:r>
            <a:r>
              <a:rPr>
                <a:solidFill>
                  <a:srgbClr val="20794D"/>
                </a:solidFill>
                <a:latin typeface="Courier"/>
              </a:rPr>
              <a:t>"cell_count"</a:t>
            </a:r>
            <a:r>
              <a:rPr>
                <a:solidFill>
                  <a:srgbClr val="003B4F"/>
                </a:solidFill>
                <a:latin typeface="Courier"/>
              </a:rPr>
              <a:t>]]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column_name &lt;- </a:t>
            </a:r>
            <a:r>
              <a:rPr>
                <a:solidFill>
                  <a:srgbClr val="20794D"/>
                </a:solidFill>
                <a:latin typeface="Courier"/>
              </a:rPr>
              <a:t>"cell_count"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sample_info[[column_name]]</a:t>
            </a:r>
          </a:p>
          <a:p>
            <a:pPr lvl="0"/>
            <a:r>
              <a:rPr>
                <a:latin typeface="Courier"/>
              </a:rPr>
              <a:t>[[ ]]</a:t>
            </a:r>
            <a:r>
              <a:rPr/>
              <a:t>의 결과도 한 열의 벡터입니다.</a:t>
            </a:r>
          </a:p>
          <a:p>
            <a:pPr lvl="0"/>
            <a:r>
              <a:rPr/>
              <a:t>열 이름을 변수에 저장해 선택할 때 유용합니다.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[행, 열]</a:t>
            </a:r>
            <a:r>
              <a:rPr/>
              <a:t>로 위치를 지정한다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sample_info[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sample_info[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sample_info[,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/>
            <a:r>
              <a:rPr/>
              <a:t>쉼표 앞은 행, 뒤는 열입니다.</a:t>
            </a:r>
          </a:p>
          <a:p>
            <a:pPr lvl="0"/>
            <a:r>
              <a:rPr/>
              <a:t>자리를 비워 두면 모든 행 또는 모든 열을 뜻합니다.</a:t>
            </a:r>
          </a:p>
          <a:p>
            <a:pPr lvl="0"/>
            <a:r>
              <a:rPr>
                <a:latin typeface="Courier"/>
              </a:rPr>
              <a:t>sample_info[1, ]</a:t>
            </a:r>
            <a:r>
              <a:rPr/>
              <a:t>은 첫 번째 행의 모든 열을 선택합니다.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여러 행을 선택한다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sample_info[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sample_info[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]</a:t>
            </a:r>
          </a:p>
          <a:p>
            <a:pPr lvl="0" indent="0" marL="0">
              <a:buNone/>
            </a:pPr>
            <a:r>
              <a:rPr/>
              <a:t>벡터 인덱싱과 마찬가지로 선택할 행 번호를 벡터로 전달할 수 있습니다.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열 이름으로 여러 열을 선택한다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sample_info[,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"sample_name"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"cell_count"</a:t>
            </a:r>
            <a:r>
              <a:rPr>
                <a:solidFill>
                  <a:srgbClr val="003B4F"/>
                </a:solidFill>
                <a:latin typeface="Courier"/>
              </a:rPr>
              <a:t>)]</a:t>
            </a:r>
          </a:p>
          <a:p>
            <a:pPr lvl="0" indent="0" marL="0">
              <a:buNone/>
            </a:pPr>
            <a:r>
              <a:rPr/>
              <a:t>선택 결과가 여러 열이면 데이터 프레임 형태가 유지됩니다.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한 열 선택 결과의 차이를 관찰한다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sample_info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sample_info[, </a:t>
            </a:r>
            <a:r>
              <a:rPr>
                <a:solidFill>
                  <a:srgbClr val="20794D"/>
                </a:solidFill>
                <a:latin typeface="Courier"/>
              </a:rPr>
              <a:t>"cell_count"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sample_info[, </a:t>
            </a:r>
            <a:r>
              <a:rPr>
                <a:solidFill>
                  <a:srgbClr val="20794D"/>
                </a:solidFill>
                <a:latin typeface="Courier"/>
              </a:rPr>
              <a:t>"cell_count"</a:t>
            </a:r>
            <a:r>
              <a:rPr>
                <a:solidFill>
                  <a:srgbClr val="003B4F"/>
                </a:solidFill>
                <a:latin typeface="Courier"/>
              </a:rPr>
              <a:t>, drop =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/>
            <a:r>
              <a:rPr/>
              <a:t>앞의 두 결과는 보통 벡터입니다.</a:t>
            </a:r>
          </a:p>
          <a:p>
            <a:pPr lvl="0"/>
            <a:r>
              <a:rPr>
                <a:latin typeface="Courier"/>
              </a:rPr>
              <a:t>drop = FALSE</a:t>
            </a:r>
            <a:r>
              <a:rPr/>
              <a:t>를 사용하면 한 열이어도 데이터 프레임을 유지합니다.</a:t>
            </a:r>
          </a:p>
          <a:p>
            <a:pPr lvl="0"/>
            <a:r>
              <a:rPr/>
              <a:t>현재 필요한 결과 형태가 벡터인지 표인지 생각하고 선택합니다.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논리형 벡터로 행을 선택할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sample_info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passed_qc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sample_info[sample_info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passed_qc, ]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passed_qc</a:t>
            </a:r>
            <a:r>
              <a:rPr/>
              <a:t>가 </a:t>
            </a:r>
            <a:r>
              <a:rPr>
                <a:latin typeface="Courier"/>
              </a:rPr>
              <a:t>TRUE</a:t>
            </a:r>
            <a:r>
              <a:rPr/>
              <a:t>인 행만 선택됩니다.</a:t>
            </a:r>
          </a:p>
          <a:p>
            <a:pPr lvl="0" indent="0" marL="1270000">
              <a:buNone/>
            </a:pPr>
            <a:r>
              <a:rPr sz="2000"/>
              <a:t>여러 조건을 결합하는 자세한 방법은 7차시에서 학습합니다.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비교 결과로 행을 선택할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enough_cells &lt;- sample_info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enough_cells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sample_info[enough_cells, ]</a:t>
            </a:r>
          </a:p>
          <a:p>
            <a:pPr lvl="0" indent="-457200" marL="457200">
              <a:buAutoNum type="arabicPeriod"/>
            </a:pPr>
            <a:r>
              <a:rPr/>
              <a:t>열을 벡터로 선택합니다.</a:t>
            </a:r>
          </a:p>
          <a:p>
            <a:pPr lvl="0" indent="-457200" marL="457200">
              <a:buAutoNum type="arabicPeriod"/>
            </a:pPr>
            <a:r>
              <a:rPr/>
              <a:t>각 원소를 기준과 비교합니다.</a:t>
            </a:r>
          </a:p>
          <a:p>
            <a:pPr lvl="0" indent="-457200" marL="457200">
              <a:buAutoNum type="arabicPeriod"/>
            </a:pPr>
            <a:r>
              <a:rPr/>
              <a:t>결과가 </a:t>
            </a:r>
            <a:r>
              <a:rPr>
                <a:latin typeface="Courier"/>
              </a:rPr>
              <a:t>TRUE</a:t>
            </a:r>
            <a:r>
              <a:rPr/>
              <a:t>인 행을 선택합니다.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$</a:t>
            </a:r>
            <a:r>
              <a:rPr/>
              <a:t>로 새로운 열을 추가한다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sample_info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cell_count_k &lt;- sample_info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sample_info</a:t>
            </a:r>
          </a:p>
          <a:p>
            <a:pPr lvl="0"/>
            <a:r>
              <a:rPr/>
              <a:t>존재하지 않는 열 이름에 값을 저장하면 새 열이 만들어집니다.</a:t>
            </a:r>
          </a:p>
          <a:p>
            <a:pPr lvl="0"/>
            <a:r>
              <a:rPr/>
              <a:t>새 열의 값 개수는 데이터 프레임의 행 수와 맞아야 합니다.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기존 열 전체를 수정한다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sample_info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 &lt;-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(sample_info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condition)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str</a:t>
            </a:r>
            <a:r>
              <a:rPr>
                <a:solidFill>
                  <a:srgbClr val="003B4F"/>
                </a:solidFill>
                <a:latin typeface="Courier"/>
              </a:rPr>
              <a:t>(sample_info)</a:t>
            </a:r>
          </a:p>
          <a:p>
            <a:pPr lvl="0" indent="0" marL="0">
              <a:buNone/>
            </a:pPr>
            <a:r>
              <a:rPr/>
              <a:t>같은 열 이름에 새 값을 저장하면 기존 열이 바뀝니다.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특정 위치의 값을 수정한다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sample_info[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"cell_count"</a:t>
            </a:r>
            <a:r>
              <a:rPr>
                <a:solidFill>
                  <a:srgbClr val="003B4F"/>
                </a:solidFill>
                <a:latin typeface="Courier"/>
              </a:rPr>
              <a:t>] &lt;- </a:t>
            </a:r>
            <a:r>
              <a:rPr>
                <a:solidFill>
                  <a:srgbClr val="AD0000"/>
                </a:solidFill>
                <a:latin typeface="Courier"/>
              </a:rPr>
              <a:t>1050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sample_info</a:t>
            </a:r>
          </a:p>
          <a:p>
            <a:pPr lvl="0"/>
            <a:r>
              <a:rPr/>
              <a:t>세 번째 행의 </a:t>
            </a:r>
            <a:r>
              <a:rPr>
                <a:latin typeface="Courier"/>
              </a:rPr>
              <a:t>cell_count</a:t>
            </a:r>
            <a:r>
              <a:rPr/>
              <a:t> 값만 변경합니다.</a:t>
            </a:r>
          </a:p>
          <a:p>
            <a:pPr lvl="0"/>
            <a:r>
              <a:rPr/>
              <a:t>수정 전에는 선택한 행과 열이 맞는지 먼저 확인합니다.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sample_info[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"cell_count"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조건에 맞는 값을 수정한다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failed_rows &lt;- 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003B4F"/>
                </a:solidFill>
                <a:latin typeface="Courier"/>
              </a:rPr>
              <a:t>sample_info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passed_qc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sample_info[failed_rows, </a:t>
            </a:r>
            <a:r>
              <a:rPr>
                <a:solidFill>
                  <a:srgbClr val="20794D"/>
                </a:solidFill>
                <a:latin typeface="Courier"/>
              </a:rPr>
              <a:t>"cell_count"</a:t>
            </a:r>
            <a:r>
              <a:rPr>
                <a:solidFill>
                  <a:srgbClr val="003B4F"/>
                </a:solidFill>
                <a:latin typeface="Courier"/>
              </a:rPr>
              <a:t>] &lt;-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sample_info</a:t>
            </a:r>
          </a:p>
          <a:p>
            <a:pPr lvl="0"/>
            <a:r>
              <a:rPr>
                <a:latin typeface="Courier"/>
              </a:rPr>
              <a:t>!</a:t>
            </a:r>
            <a:r>
              <a:rPr/>
              <a:t>는 논리값을 반대로 바꿉니다.</a:t>
            </a:r>
          </a:p>
          <a:p>
            <a:pPr lvl="0"/>
            <a:r>
              <a:rPr/>
              <a:t>QC를 통과하지 못한 행의 세포 수를 결측값으로 변경했습니다.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is.na()</a:t>
            </a:r>
            <a:r>
              <a:rPr/>
              <a:t>로 결측값을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(sample_info)</a:t>
            </a:r>
          </a:p>
          <a:p>
            <a:pPr lvl="0" indent="0" marL="0">
              <a:buNone/>
            </a:pPr>
            <a:r>
              <a:rPr/>
              <a:t>각 셀이 결측값인지 같은 크기의 논리형 결과로 보여 줍니다.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열별 결측값 개수를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(sample_info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cell_count))</a:t>
            </a:r>
          </a:p>
          <a:p>
            <a:pPr lvl="0"/>
            <a:r>
              <a:rPr>
                <a:latin typeface="Courier"/>
              </a:rPr>
              <a:t>is.na()</a:t>
            </a:r>
            <a:r>
              <a:rPr/>
              <a:t>는 결측값 위치에 </a:t>
            </a:r>
            <a:r>
              <a:rPr>
                <a:latin typeface="Courier"/>
              </a:rPr>
              <a:t>TRUE</a:t>
            </a:r>
            <a:r>
              <a:rPr/>
              <a:t>를 반환합니다.</a:t>
            </a:r>
          </a:p>
          <a:p>
            <a:pPr lvl="0"/>
            <a:r>
              <a:rPr>
                <a:latin typeface="Courier"/>
              </a:rPr>
              <a:t>sum()</a:t>
            </a:r>
            <a:r>
              <a:rPr/>
              <a:t>은 </a:t>
            </a:r>
            <a:r>
              <a:rPr>
                <a:latin typeface="Courier"/>
              </a:rPr>
              <a:t>TRUE</a:t>
            </a:r>
            <a:r>
              <a:rPr/>
              <a:t>의 개수를 세어 결측값 개수를 계산합니다.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complete.cases()</a:t>
            </a:r>
            <a:r>
              <a:rPr/>
              <a:t>로 완전한 행을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complete.cases</a:t>
            </a:r>
            <a:r>
              <a:rPr>
                <a:solidFill>
                  <a:srgbClr val="003B4F"/>
                </a:solidFill>
                <a:latin typeface="Courier"/>
              </a:rPr>
              <a:t>(sample_info)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sample_info[</a:t>
            </a:r>
            <a:r>
              <a:rPr>
                <a:solidFill>
                  <a:srgbClr val="4758AB"/>
                </a:solidFill>
                <a:latin typeface="Courier"/>
              </a:rPr>
              <a:t>complete.cases</a:t>
            </a:r>
            <a:r>
              <a:rPr>
                <a:solidFill>
                  <a:srgbClr val="003B4F"/>
                </a:solidFill>
                <a:latin typeface="Courier"/>
              </a:rPr>
              <a:t>(sample_info), ]</a:t>
            </a:r>
          </a:p>
          <a:p>
            <a:pPr lvl="0"/>
            <a:r>
              <a:rPr/>
              <a:t>모든 열에 값이 있는 행은 </a:t>
            </a:r>
            <a:r>
              <a:rPr>
                <a:latin typeface="Courier"/>
              </a:rPr>
              <a:t>TRUE</a:t>
            </a:r>
            <a:r>
              <a:rPr/>
              <a:t>입니다.</a:t>
            </a:r>
          </a:p>
          <a:p>
            <a:pPr lvl="0"/>
            <a:r>
              <a:rPr/>
              <a:t>결측값이 하나라도 있는 행은 </a:t>
            </a:r>
            <a:r>
              <a:rPr>
                <a:latin typeface="Courier"/>
              </a:rPr>
              <a:t>FALSE</a:t>
            </a:r>
            <a:r>
              <a:rPr/>
              <a:t>입니다.</a:t>
            </a:r>
          </a:p>
          <a:p>
            <a:pPr lvl="0"/>
            <a:r>
              <a:rPr/>
              <a:t>행을 제외하기 전에는 결측 이유와 분석 목적을 먼저 확인합니다.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1: 열 이름의 철자가 다르다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(sample_info)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sample_info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sample_info$cell_counts</a:t>
            </a:r>
          </a:p>
          <a:p>
            <a:pPr lvl="0" indent="0" marL="0">
              <a:buNone/>
            </a:pPr>
            <a:r>
              <a:rPr/>
              <a:t>원하는 결과가 나오지 않으면 </a:t>
            </a:r>
            <a:r>
              <a:rPr>
                <a:latin typeface="Courier"/>
              </a:rPr>
              <a:t>names()</a:t>
            </a:r>
            <a:r>
              <a:rPr/>
              <a:t>로 실제 열 이름을 확인합니다.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2: 행과 열의 순서를 바꾼다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sample_info[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/>
            <a:r>
              <a:rPr/>
              <a:t>쉼표 앞은 행, 뒤는 열입니다.</a:t>
            </a:r>
          </a:p>
          <a:p>
            <a:pPr lvl="0"/>
            <a:r>
              <a:rPr/>
              <a:t>코드를 실행하기 전에 </a:t>
            </a:r>
            <a:r>
              <a:rPr>
                <a:latin typeface="Courier"/>
              </a:rPr>
              <a:t>[행, 열]</a:t>
            </a:r>
            <a:r>
              <a:rPr/>
              <a:t>이라고 읽어 봅니다.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3: 원본을 바로 덮어쓴다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sample_info_qc &lt;- sample_info[</a:t>
            </a:r>
            <a:r>
              <a:rPr>
                <a:solidFill>
                  <a:srgbClr val="4758AB"/>
                </a:solidFill>
                <a:latin typeface="Courier"/>
              </a:rPr>
              <a:t>complete.cases</a:t>
            </a:r>
            <a:r>
              <a:rPr>
                <a:solidFill>
                  <a:srgbClr val="003B4F"/>
                </a:solidFill>
                <a:latin typeface="Courier"/>
              </a:rPr>
              <a:t>(sample_info), ]</a:t>
            </a:r>
          </a:p>
          <a:p>
            <a:pPr lvl="0"/>
            <a:r>
              <a:rPr/>
              <a:t>학습 중에는 수정 결과를 새 이름에 저장하면 비교하기 쉽습니다.</a:t>
            </a:r>
          </a:p>
          <a:p>
            <a:pPr lvl="0"/>
            <a:r>
              <a:rPr/>
              <a:t>원본을 바꾸기 전에는 변경할 위치와 결과를 먼저 확인합니다.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1: 샘플 표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sample_info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sample_name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"control_1"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"control_2"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"treated_1"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"treated_2"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condition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cell_count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1200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1350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980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1420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passed_qc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str()</a:t>
            </a:r>
            <a:r>
              <a:rPr/>
              <a:t>, </a:t>
            </a:r>
            <a:r>
              <a:rPr>
                <a:latin typeface="Courier"/>
              </a:rPr>
              <a:t>dim()</a:t>
            </a:r>
            <a:r>
              <a:rPr/>
              <a:t>, </a:t>
            </a:r>
            <a:r>
              <a:rPr>
                <a:latin typeface="Courier"/>
              </a:rPr>
              <a:t>names()</a:t>
            </a:r>
            <a:r>
              <a:rPr/>
              <a:t>로 구조를 확인합니다.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2: 행과 열 선택하기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sample_info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sample_info[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sample_info[,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"sample_name"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"passed_qc"</a:t>
            </a:r>
            <a:r>
              <a:rPr>
                <a:solidFill>
                  <a:srgbClr val="003B4F"/>
                </a:solidFill>
                <a:latin typeface="Courier"/>
              </a:rPr>
              <a:t>)]</a:t>
            </a:r>
          </a:p>
          <a:p>
            <a:pPr lvl="0" indent="0" marL="0">
              <a:buNone/>
            </a:pPr>
            <a:r>
              <a:rPr/>
              <a:t>각 결과가 벡터인지 데이터 프레임인지 확인합니다.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3: 열 추가하고 값 수정하기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sample_info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cell_count_k &lt;- sample_info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cell_count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sample_info[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"cell_count"</a:t>
            </a:r>
            <a:r>
              <a:rPr>
                <a:solidFill>
                  <a:srgbClr val="003B4F"/>
                </a:solidFill>
                <a:latin typeface="Courier"/>
              </a:rPr>
              <a:t>] &lt;- </a:t>
            </a:r>
            <a:r>
              <a:rPr>
                <a:solidFill>
                  <a:srgbClr val="AD0000"/>
                </a:solidFill>
                <a:latin typeface="Courier"/>
              </a:rPr>
              <a:t>1050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sample_info</a:t>
            </a:r>
          </a:p>
          <a:p>
            <a:pPr lvl="0" indent="0" marL="0">
              <a:buNone/>
            </a:pPr>
            <a:r>
              <a:rPr/>
              <a:t>새 열과 수정된 값이 예상한 위치에 있는지 확인합니다.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4: 결측값 점검하기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sample_info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doublet_rate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2.8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(sample_info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doublet_rate)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(sample_info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doublet_rate))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complete.cases</a:t>
            </a:r>
            <a:r>
              <a:rPr>
                <a:solidFill>
                  <a:srgbClr val="003B4F"/>
                </a:solidFill>
                <a:latin typeface="Courier"/>
              </a:rPr>
              <a:t>(sample_info)</a:t>
            </a:r>
          </a:p>
          <a:p>
            <a:pPr lvl="0" indent="0" marL="0">
              <a:buNone/>
            </a:pPr>
            <a:r>
              <a:rPr/>
              <a:t>어떤 샘플에 결측값이 있는지 선택해 봅니다.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 배운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데이터 프레임은 행마다 관측 대상, 열마다 변수를 저장합니다.</a:t>
            </a:r>
          </a:p>
          <a:p>
            <a:pPr lvl="0"/>
            <a:r>
              <a:rPr>
                <a:latin typeface="Courier"/>
              </a:rPr>
              <a:t>str()</a:t>
            </a:r>
            <a:r>
              <a:rPr/>
              <a:t>, </a:t>
            </a:r>
            <a:r>
              <a:rPr>
                <a:latin typeface="Courier"/>
              </a:rPr>
              <a:t>dim()</a:t>
            </a:r>
            <a:r>
              <a:rPr/>
              <a:t>, </a:t>
            </a:r>
            <a:r>
              <a:rPr>
                <a:latin typeface="Courier"/>
              </a:rPr>
              <a:t>names()</a:t>
            </a:r>
            <a:r>
              <a:rPr/>
              <a:t> 등으로 구조를 확인합니다.</a:t>
            </a:r>
          </a:p>
          <a:p>
            <a:pPr lvl="0"/>
            <a:r>
              <a:rPr>
                <a:latin typeface="Courier"/>
              </a:rPr>
              <a:t>$</a:t>
            </a:r>
            <a:r>
              <a:rPr/>
              <a:t>, </a:t>
            </a:r>
            <a:r>
              <a:rPr>
                <a:latin typeface="Courier"/>
              </a:rPr>
              <a:t>[[ ]]</a:t>
            </a:r>
            <a:r>
              <a:rPr/>
              <a:t>, </a:t>
            </a:r>
            <a:r>
              <a:rPr>
                <a:latin typeface="Courier"/>
              </a:rPr>
              <a:t>[행, 열]</a:t>
            </a:r>
            <a:r>
              <a:rPr/>
              <a:t>을 사용해 필요한 부분을 선택합니다.</a:t>
            </a:r>
          </a:p>
          <a:p>
            <a:pPr lvl="0"/>
            <a:r>
              <a:rPr>
                <a:latin typeface="Courier"/>
              </a:rPr>
              <a:t>$</a:t>
            </a:r>
            <a:r>
              <a:rPr/>
              <a:t> 또는 </a:t>
            </a:r>
            <a:r>
              <a:rPr>
                <a:latin typeface="Courier"/>
              </a:rPr>
              <a:t>[행, 열]</a:t>
            </a:r>
            <a:r>
              <a:rPr/>
              <a:t>을 사용해 열을 추가하고 값을 수정합니다.</a:t>
            </a:r>
          </a:p>
          <a:p>
            <a:pPr lvl="0"/>
            <a:r>
              <a:rPr>
                <a:latin typeface="Courier"/>
              </a:rPr>
              <a:t>is.na()</a:t>
            </a:r>
            <a:r>
              <a:rPr/>
              <a:t>와 </a:t>
            </a:r>
            <a:r>
              <a:rPr>
                <a:latin typeface="Courier"/>
              </a:rPr>
              <a:t>complete.cases()</a:t>
            </a:r>
            <a:r>
              <a:rPr/>
              <a:t>로 결측값을 점검합니다.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점검과 다음 차시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데이터 프레임과 행렬의 자료형에는 어떤 차이가 있습니까?</a:t>
            </a:r>
          </a:p>
          <a:p>
            <a:pPr lvl="0" indent="-457200" marL="457200">
              <a:buAutoNum type="arabicPeriod"/>
            </a:pPr>
            <a:r>
              <a:rPr/>
              <a:t>첫 번째 행의 모든 열을 선택하려면 어떻게 작성합니까?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sample_info$cell_count</a:t>
            </a:r>
            <a:r>
              <a:rPr/>
              <a:t>의 결과는 어떤 형태입니까?</a:t>
            </a:r>
          </a:p>
          <a:p>
            <a:pPr lvl="0" indent="-457200" marL="457200">
              <a:buAutoNum type="arabicPeriod"/>
            </a:pPr>
            <a:r>
              <a:rPr/>
              <a:t>열별 결측값 개수는 어떻게 계산합니까?</a:t>
            </a:r>
          </a:p>
          <a:p>
            <a:pPr lvl="0" indent="0" marL="0">
              <a:buNone/>
            </a:pPr>
            <a:r>
              <a:rPr b="1"/>
              <a:t>다음 차시:</a:t>
            </a:r>
            <a:r>
              <a:rPr/>
              <a:t> CSV 파일을 데이터 프레임으로 불러오고 분석 결과 저장하기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</vt:lpstr>
      <vt:lpstr>맑은 고딕</vt:lpstr>
      <vt:lpstr>Arial</vt:lpstr>
      <vt:lpstr>Inter</vt:lpstr>
      <vt:lpstr>JetBrains Mono</vt:lpstr>
      <vt:lpstr>Office 테마</vt:lpstr>
      <vt:lpstr>R Programming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5차시: 데이터 프레임 다루기</dc:title>
  <dc:creator/>
  <cp:keywords/>
  <dcterms:created xsi:type="dcterms:W3CDTF">2026-07-12T11:15:55Z</dcterms:created>
  <dcterms:modified xsi:type="dcterms:W3CDTF">2026-07-12T11:15:55Z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R 기초 프로그래밍</vt:lpwstr>
  </property>
  <property fmtid="{D5CDD505-2E9C-101B-9397-08002B2CF9AE}" pid="9" name="toc-title">
    <vt:lpwstr>목차</vt:lpwstr>
  </property>
</Properties>
</file>