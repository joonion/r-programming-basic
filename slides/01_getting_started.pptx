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92000" cy="6858000"/>
  <p:notesSz cx="6858000" cy="9144000"/>
  <p:defaultTextStyle>
    <a:defPPr>
      <a:defRPr lang="ko-KR"/>
    </a:defPPr>
    <a:lvl1pPr algn="l" defTabSz="914400" eaLnBrk="1" hangingPunct="1" latinLnBrk="1" marL="0" rtl="0">
      <a:defRPr altLang="en-US" b="1" kern="1200" lang="ko-KR" sz="3000">
        <a:solidFill>
          <a:srgbClr val="172033"/>
        </a:solidFill>
        <a:latin charset="-127" panose="02000503000000020004" pitchFamily="50" typeface="Pretendard"/>
        <a:ea charset="-127" panose="02000503000000020004" pitchFamily="50" typeface="Pretendard"/>
        <a:cs typeface="+mn-cs"/>
      </a:defRPr>
    </a:lvl1pPr>
    <a:lvl2pPr algn="l" defTabSz="914400" eaLnBrk="1" hangingPunct="1" latinLnBrk="1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1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1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1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1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1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1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1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howGuides="1" snapToGrid="0">
      <p:cViewPr varScale="1">
        <p:scale>
          <a:sx d="100" n="113"/>
          <a:sy d="100" n="113"/>
        </p:scale>
        <p:origin x="312" y="108"/>
      </p:cViewPr>
      <p:guideLst>
        <p:guide orient="horz" pos="2160"/>
        <p:guide pos="3840"/>
      </p:guideLst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Relationship Id="rId27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DC4F62-B626-4C1A-9258-8B7A85121C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36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53DA06A-F964-4BA7-B1A0-476AFBA404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 b="0">
                <a:solidFill>
                  <a:srgbClr val="0F766E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75EA77F-A944-4F90-A580-BFB1EBDD9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247731-8C16-48CE-83E8-82961F5A4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73EC76E-53A1-48FD-AAA5-91D55E1A2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0F5A436-622D-4609-9CAD-93F62FE9C071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90350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B2FCBBD-DFA9-4E92-A913-26CF9C16EE1F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7119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Exercise">
    <p:bg>
      <p:bgPr>
        <a:solidFill>
          <a:srgbClr val="1720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 b="1">
                <a:solidFill>
                  <a:srgbClr val="FFFFFF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B51DC66-B343-4339-8DFE-F337361B7142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F766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624DEFA-F193-42BA-A7DC-72FAB0CB111A}"/>
              </a:ext>
            </a:extLst>
          </p:cNvPr>
          <p:cNvSpPr/>
          <p:nvPr userDrawn="1"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18FC79-1AA4-44C2-AB13-4EE8FD5EB7E8}"/>
              </a:ext>
            </a:extLst>
          </p:cNvPr>
          <p:cNvSpPr txBox="1"/>
          <p:nvPr userDrawn="1"/>
        </p:nvSpPr>
        <p:spPr>
          <a:xfrm>
            <a:off x="508000" y="990600"/>
            <a:ext cx="2286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1100" b="1">
                <a:solidFill>
                  <a:srgbClr val="0F766E"/>
                </a:solidFill>
                <a:latin typeface="Inter" panose="02000503000000020004" pitchFamily="2" charset="0"/>
                <a:ea typeface="Inter" panose="02000503000000020004" pitchFamily="2" charset="0"/>
              </a:rPr>
              <a:t>PRACTICE</a:t>
            </a:r>
            <a:endParaRPr lang="ko-KR" altLang="en-US" sz="1100" b="1">
              <a:solidFill>
                <a:srgbClr val="0F766E"/>
              </a:solidFill>
              <a:latin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98304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de / Demonstra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F65F950-2413-4CE2-8BD0-18A4BBCD72EB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8C3D350-ADF5-46FD-87CE-C07683F6982B}"/>
              </a:ext>
            </a:extLst>
          </p:cNvPr>
          <p:cNvSpPr/>
          <p:nvPr userDrawn="1"/>
        </p:nvSpPr>
        <p:spPr>
          <a:xfrm>
            <a:off x="457200" y="1422400"/>
            <a:ext cx="11277600" cy="457200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0862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0C25F-30DA-4EDD-8504-44DA909B4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8E1EED7-4C61-4A08-AF5B-A390C60A00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6A1FF6-51FE-4685-BA34-E0F89D4546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2B3851C-0BE4-4E91-95F4-2EC266D694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43CBF9E-951B-4FF6-85E6-6601F2386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54922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CE8392-3978-4394-BAB4-2437C15AD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374FF69-769F-4677-B82A-E232B25BA9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52B5173-A205-47A2-953F-A236FB1D43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DD21268-4ABF-4DE0-998A-28F7BFCD2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BEFEE9E-EDCD-4886-92ED-3796485C88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BE14DB4-8F62-4CD7-8DD2-AD422C0CF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8B169FF-FAD7-46E0-9D59-C9B5BEB076DC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69090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F9F672-094E-482F-8FE2-0C0D8F2E0E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0AF80BD-BF78-49AF-BBBA-1A773DA2CE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98D6527-B034-41A0-9FC9-C530962C8B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E5785AA-E40F-4E95-B834-2D7649E02A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DA75630-B532-4D2B-BA6E-233076F4AD2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005AF02-6B25-4BBC-9A62-947D988356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A29AF57-1554-4883-A5C0-D2E356058D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F02C77D-EDE4-4302-857A-97BE6DADBF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2813AE4-CA38-49CC-83A5-DA570C2D152E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45710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AC5B61-FD8F-4A03-8446-AFB1FC117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317F6E7-F469-4E45-A7CA-18C4220B7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081412A-6E99-4D2F-8564-CCE9309E2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7B49B12-B58B-42B1-9FC8-0F11E70ED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C9F98D1-EC0F-4996-8D0E-19D80403D7FB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59383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B3DAFDE-3EF4-4BC2-8C6E-53A0DCBB0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E806864-590A-497A-9E3B-31220A838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AE52D8-EF8D-4B38-BAE5-100369F3A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57893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96CAC9-BDCF-454F-B4EB-26821C0AC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7F85D79-8D84-4463-A554-36DA89022A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4A32173-BE5A-4386-B8FC-0DD3565F6F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5D7BBE8-F04D-4F20-A998-2847A7EC3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1091599-E0C3-4951-800C-0FA8BF5CD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9D06458-41C2-4B2E-9AF2-A62CE3660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39F72F4-84F2-4B08-8B7A-396EE76DDF26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97828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F8A6E4-6940-49AF-8B5F-9B16DB004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5AFC852-B328-4179-BC85-EB34AC8CD4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DBD367B-5A0C-4ADF-98EF-314F244CCF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903147-4754-4023-8B77-20EB33E5B4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3ADDB5D-EDEB-4E99-BA69-F1F76F2751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3872CF2-966E-422A-927F-3BD6A6E59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7E2E2F7-28CA-4288-94F5-8E25DCD2A45E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5647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CE92E6-4E61-4E2B-9F4F-D23641A2E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E576B3A-9062-444C-9C47-61FA4351C0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1A3954-5D36-48F6-87B1-16A84AB442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A0FE3E-5C3F-4A6C-952A-7C8CB744F7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068D49-B037-4EA4-BE8F-2516D3000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5064922-4160-4D2C-A562-270D09593F37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05819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C94EABC-274E-4BAD-AB22-188F885A3B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47306ED-34B5-4464-AFBE-9E25FC9A04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C0C654F-F2FA-42D5-8AC8-4073F8FBA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531A3EE-B6E8-4AF1-9041-45D44926D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3645F18-B2AB-45F4-8642-885F2B8AB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B5F32C9-BBE2-4217-A3E2-DE5FC68F3267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758779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461F8DA-C043-4CD7-86F2-E1A0EF4CB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altLang="en-US" lang="ko-KR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B14F0DF-8367-4CE4-BFB7-B09F18D1638C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en-US" lang="ko-KR"/>
              <a:t>마스터 텍스트 스타일을 편집하려면 클릭</a:t>
            </a:r>
          </a:p>
          <a:p>
            <a:pPr lvl="1"/>
            <a:r>
              <a:rPr altLang="en-US" lang="ko-KR"/>
              <a:t>두 번째 수준</a:t>
            </a:r>
          </a:p>
          <a:p>
            <a:pPr lvl="2"/>
            <a:r>
              <a:rPr altLang="en-US" lang="ko-KR"/>
              <a:t>세 번째 수준</a:t>
            </a:r>
          </a:p>
          <a:p>
            <a:pPr lvl="3"/>
            <a:r>
              <a:rPr altLang="en-US" lang="ko-KR"/>
              <a:t>네 번째 수준</a:t>
            </a:r>
          </a:p>
          <a:p>
            <a:pPr lvl="4"/>
            <a:r>
              <a:rPr altLang="en-US" lang="ko-KR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183F21-A1A8-463E-86D3-0CFB7A05EF38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fld id="{2696ECB5-D1DE-4FA4-9CD7-1650D2029999}" type="datetimeFigureOut">
              <a:rPr altLang="ko-KR" lang="en-US" smtClean="0">
                <a:ea charset="0" panose="02000503000000020004" pitchFamily="2" typeface="Inter"/>
              </a:rPr>
              <a:pPr/>
              <a:t>2026-07-12</a:t>
            </a:fld>
            <a:endParaRPr altLang="ko-KR" lang="en-US">
              <a:ea charset="0" panose="02000503000000020004" pitchFamily="2" typeface="Inter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0C5B5C-65C9-4D66-BC46-FDE4016F57BF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endParaRPr altLang="en-US" 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52730EB-AE08-4C4E-A274-945B51E99D4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fld id="{812DBD89-BD24-4FCE-906C-9138E5983130}" type="slidenum">
              <a:rPr altLang="ko-KR" lang="en-US" smtClean="0">
                <a:ea charset="0" panose="02000503000000020004" pitchFamily="2" typeface="Inter"/>
              </a:rPr>
              <a:pPr/>
              <a:t>‹#›</a:t>
            </a:fld>
            <a:endParaRPr altLang="ko-KR" lang="en-US">
              <a:ea charset="0" panose="02000503000000020004" pitchFamily="2"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395331952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61" r:id="rId3"/>
    <p:sldLayoutId id="214748366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</p:sldLayoutIdLst>
  <p:txStyles>
    <p:titleStyle>
      <a:lvl1pPr algn="l" defTabSz="914400" eaLnBrk="1" hangingPunct="1" latinLnBrk="1" rtl="0">
        <a:lnSpc>
          <a:spcPct val="108000"/>
        </a:lnSpc>
        <a:spcBef>
          <a:spcPct val="0"/>
        </a:spcBef>
        <a:spcAft>
          <a:spcPts val="700"/>
        </a:spcAft>
        <a:buNone/>
        <a:defRPr b="0" kern="1200" sz="20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j-cs"/>
        </a:defRPr>
      </a:lvl1pPr>
    </p:titleStyle>
    <p:bodyStyle>
      <a:lvl1pPr algn="l" defTabSz="914400" eaLnBrk="1" hangingPunct="1" indent="-228600" latinLnBrk="1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1pPr>
      <a:lvl2pPr algn="l" defTabSz="914400" eaLnBrk="1" hangingPunct="1" indent="-228600" latinLnBrk="1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2pPr>
      <a:lvl3pPr algn="l" defTabSz="914400" eaLnBrk="1" hangingPunct="1" indent="-228600" latinLnBrk="1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3pPr>
      <a:lvl4pPr algn="l" defTabSz="914400" eaLnBrk="1" hangingPunct="1" indent="-228600" latinLnBrk="1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4pPr>
      <a:lvl5pPr algn="l" defTabSz="914400" eaLnBrk="1" hangingPunct="1" indent="-228600" latinLnBrk="1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5pPr>
      <a:lvl6pPr algn="l" defTabSz="914400" eaLnBrk="1" hangingPunct="1" indent="-228600" latinLnBrk="1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1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1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1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algn="l" defTabSz="914400" eaLnBrk="1" hangingPunct="1" latinLnBrk="1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1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1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1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1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1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1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1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1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DC4F62-B626-4C1A-9258-8B7A85121C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1차시: R과 RStudio 시작하기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53DA06A-F964-4BA7-B1A0-476AFBA404D1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기초 프로그래밍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오늘의 학습 목표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R과 RStudio의 역할을 구분할 수 있다.</a:t>
            </a:r>
          </a:p>
          <a:p>
            <a:pPr lvl="0" indent="-457200" marL="457200">
              <a:buAutoNum type="arabicPeriod"/>
            </a:pPr>
            <a:r>
              <a:rPr/>
              <a:t>콘솔과 스크립트에서 R 코드를 실행할 수 있다.</a:t>
            </a:r>
          </a:p>
          <a:p>
            <a:pPr lvl="0" indent="-457200" marL="457200">
              <a:buAutoNum type="arabicPeriod"/>
            </a:pPr>
            <a:r>
              <a:rPr/>
              <a:t>오류 메시지를 읽고 간단한 실행 오류를 수정할 수 있다.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전사체 분석에서 R이 필요한 이유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많은 생명과학 분석 도구가 R로 제공됩니다.</a:t>
            </a:r>
          </a:p>
          <a:p>
            <a:pPr lvl="0"/>
            <a:r>
              <a:rPr/>
              <a:t>계산, 데이터 처리, 시각화를 한 환경에서 수행할 수 있습니다.</a:t>
            </a:r>
          </a:p>
          <a:p>
            <a:pPr lvl="0"/>
            <a:r>
              <a:rPr/>
              <a:t>R 기초는 Seurat를 이해하고 사용하는 출발점입니다.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R은 프로그래밍 언어다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R은 데이터를 계산하고 분석하기 위한 프로그래밍 언어입니다.</a:t>
            </a:r>
          </a:p>
          <a:p>
            <a:pPr lvl="0"/>
            <a:r>
              <a:rPr/>
              <a:t>코드를 작성하면 같은 분석을 정확하게 반복할 수 있습니다.</a:t>
            </a:r>
          </a:p>
          <a:p>
            <a:pPr lvl="0"/>
            <a:r>
              <a:rPr/>
              <a:t>코드에는 분석 과정이 기록되므로 결과를 재현할 수 있습니다.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RStudio는 R을 사용하는 작업 환경이다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RStudio는 R 코드를 편리하게 작성하고 실행하도록 돕습니다.</a:t>
            </a:r>
          </a:p>
          <a:p>
            <a:pPr lvl="0"/>
            <a:r>
              <a:rPr/>
              <a:t>R과 RStudio는 서로 다른 소프트웨어입니다.</a:t>
            </a:r>
          </a:p>
          <a:p>
            <a:pPr lvl="0"/>
            <a:r>
              <a:rPr/>
              <a:t>컴퓨터에 R이 먼저 설치되어 있어야 합니다.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RStudio의 네 개 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38200" y="1816100"/>
          <a:ext cx="1051560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주요 역할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스크립트 작성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Console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명령 실행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생성된 객체 확인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Files·Plots·Packages·Help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파일, 그래프, 패키지, 도움말 확인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콘솔은 명령을 즉시 실행하는 곳이다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&gt;</a:t>
            </a:r>
            <a:r>
              <a:rPr/>
              <a:t> 뒤에 명령을 입력합니다.</a:t>
            </a:r>
          </a:p>
          <a:p>
            <a:pPr lvl="0"/>
            <a:r>
              <a:rPr/>
              <a:t>Enter를 누르면 명령이 즉시 실행됩니다.</a:t>
            </a:r>
          </a:p>
          <a:p>
            <a:pPr lvl="0"/>
            <a:r>
              <a:rPr/>
              <a:t>빠른 확인과 간단한 계산에 적합합니다.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스크립트는 코드를 기록하는 파일이다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 스크립트는 </a:t>
            </a:r>
            <a:r>
              <a:rPr>
                <a:latin typeface="Courier"/>
              </a:rPr>
              <a:t>.R</a:t>
            </a:r>
            <a:r>
              <a:rPr/>
              <a:t> 확장자를 사용합니다.</a:t>
            </a:r>
          </a:p>
          <a:p>
            <a:pPr lvl="0"/>
            <a:r>
              <a:rPr/>
              <a:t>여러 줄의 코드를 저장하고 다시 실행할 수 있습니다.</a:t>
            </a:r>
          </a:p>
          <a:p>
            <a:pPr lvl="0"/>
            <a:r>
              <a:rPr/>
              <a:t>실제 분석은 콘솔보다 스크립트를 중심으로 진행합니다.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R은 계산기처럼 사용할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br/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</a:p>
          <a:p>
            <a:pPr lvl="0"/>
            <a:r>
              <a:rPr/>
              <a:t>괄호를 사용하면 계산 순서를 지정할 수 있습니다.</a:t>
            </a:r>
          </a:p>
          <a:p>
            <a:pPr lvl="0"/>
            <a:r>
              <a:rPr/>
              <a:t>입력한 코드와 출력된 결과를 구분해서 읽습니다.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변수는 값에 붙이는 이름이다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 &lt;- </a:t>
            </a:r>
            <a:r>
              <a:rPr>
                <a:solidFill>
                  <a:srgbClr val="AD0000"/>
                </a:solidFill>
                <a:latin typeface="Courier"/>
              </a:rPr>
              <a:t>1250</a:t>
            </a:r>
          </a:p>
          <a:p>
            <a:pPr lvl="0"/>
            <a:r>
              <a:rPr/>
              <a:t>계산에 사용할 값을 이름으로 저장합니다.</a:t>
            </a:r>
          </a:p>
          <a:p>
            <a:pPr lvl="0"/>
            <a:r>
              <a:rPr/>
              <a:t>저장한 값은 같은 이름으로 다시 사용할 수 있습니다.</a:t>
            </a:r>
          </a:p>
          <a:p>
            <a:pPr lvl="0"/>
            <a:r>
              <a:rPr/>
              <a:t>의미가 분명한 이름을 사용하면 코드를 이해하기 쉽습니다.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&lt;-</a:t>
            </a:r>
            <a:r>
              <a:rPr/>
              <a:t>는 값을 저장하는 연산자다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 &lt;- </a:t>
            </a:r>
            <a:r>
              <a:rPr>
                <a:solidFill>
                  <a:srgbClr val="AD0000"/>
                </a:solidFill>
                <a:latin typeface="Courier"/>
              </a:rPr>
              <a:t>1250</a:t>
            </a:r>
          </a:p>
          <a:p>
            <a:pPr lvl="0" indent="0" marL="1270000">
              <a:buNone/>
            </a:pPr>
            <a:r>
              <a:rPr sz="2000"/>
              <a:t>오른쪽의 </a:t>
            </a:r>
            <a:r>
              <a:rPr sz="2000">
                <a:latin typeface="Courier"/>
              </a:rPr>
              <a:t>1250</a:t>
            </a:r>
            <a:r>
              <a:rPr sz="2000"/>
              <a:t>을 왼쪽의 </a:t>
            </a:r>
            <a:r>
              <a:rPr sz="2000">
                <a:latin typeface="Courier"/>
              </a:rPr>
              <a:t>cell_count</a:t>
            </a:r>
            <a:r>
              <a:rPr sz="2000"/>
              <a:t>에 저장합니다.</a:t>
            </a:r>
          </a:p>
          <a:p>
            <a:pPr lvl="0"/>
            <a:r>
              <a:rPr/>
              <a:t>이 과정에서는 기본 대입 연산자로 </a:t>
            </a:r>
            <a:r>
              <a:rPr>
                <a:latin typeface="Courier"/>
              </a:rPr>
              <a:t>&lt;-</a:t>
            </a:r>
            <a:r>
              <a:rPr/>
              <a:t>를 사용합니다.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주석은 코드를 설명하는 메모다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세 샘플의 전체 세포 수를 계산한다.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total_cells &lt;-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</a:p>
          <a:p>
            <a:pPr lvl="0"/>
            <a:r>
              <a:rPr>
                <a:latin typeface="Courier"/>
              </a:rPr>
              <a:t>#</a:t>
            </a:r>
            <a:r>
              <a:rPr/>
              <a:t> 뒤의 내용은 실행되지 않습니다.</a:t>
            </a:r>
          </a:p>
          <a:p>
            <a:pPr lvl="0"/>
            <a:r>
              <a:rPr/>
              <a:t>코드의 목적이나 중요한 학습 포인트를 기록합니다.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첫 번째 R 스크립트 만들기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 b="1"/>
              <a:t>File &gt; New File &gt; R Script</a:t>
            </a:r>
            <a:r>
              <a:rPr/>
              <a:t>를 선택합니다.</a:t>
            </a:r>
          </a:p>
          <a:p>
            <a:pPr lvl="0" indent="-457200" marL="457200">
              <a:buAutoNum type="arabicPeriod"/>
            </a:pPr>
            <a:r>
              <a:rPr/>
              <a:t>주석을 한 줄 입력합니다.</a:t>
            </a:r>
          </a:p>
          <a:p>
            <a:pPr lvl="0" indent="-457200" marL="457200">
              <a:buAutoNum type="arabicPeriod"/>
            </a:pPr>
            <a:r>
              <a:rPr>
                <a:latin typeface="Courier"/>
              </a:rPr>
              <a:t>labs/01_getting_started.R</a:t>
            </a:r>
            <a:r>
              <a:rPr/>
              <a:t>로 저장합니다.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1차시 실습: R과 RStudio 시작하기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한 줄의 코드를 실행하기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실행할 줄에 커서를 놓습니다.</a:t>
            </a:r>
          </a:p>
          <a:p>
            <a:pPr lvl="0" indent="-457200" marL="457200">
              <a:buAutoNum type="arabicPeriod"/>
            </a:pPr>
            <a:r>
              <a:rPr>
                <a:latin typeface="Courier"/>
              </a:rPr>
              <a:t>Ctrl + Enter</a:t>
            </a:r>
            <a:r>
              <a:rPr/>
              <a:t>를 누릅니다.</a:t>
            </a:r>
          </a:p>
          <a:p>
            <a:pPr lvl="0" indent="-457200" marL="457200">
              <a:buAutoNum type="arabicPeriod"/>
            </a:pPr>
            <a:r>
              <a:rPr/>
              <a:t>Console에서 결과를 확인합니다.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 &lt;- </a:t>
            </a:r>
            <a:r>
              <a:rPr>
                <a:solidFill>
                  <a:srgbClr val="AD0000"/>
                </a:solidFill>
                <a:latin typeface="Courier"/>
              </a:rPr>
              <a:t>1250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여러 줄의 코드를 실행하기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실행할 영역을 선택하고 </a:t>
            </a:r>
            <a:r>
              <a:rPr>
                <a:latin typeface="Courier"/>
              </a:rPr>
              <a:t>Ctrl + Enter</a:t>
            </a:r>
            <a:r>
              <a:rPr/>
              <a:t>를 누릅니다.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control_cells &lt;-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treated_cells &lt;-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total_cells &lt;- control_cells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treated_cells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total_cells</a:t>
            </a:r>
          </a:p>
          <a:p>
            <a:pPr lvl="0" indent="0" marL="0">
              <a:buNone/>
            </a:pPr>
            <a:r>
              <a:rPr/>
              <a:t>코드는 위에서 아래로 실행됩니다.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Environment에서 변수 확인하기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실행된 변수는 Environment 창에 나타납니다.</a:t>
            </a:r>
          </a:p>
          <a:p>
            <a:pPr lvl="0"/>
            <a:r>
              <a:rPr/>
              <a:t>변수 이름과 현재 값을 확인할 수 있습니다.</a:t>
            </a:r>
          </a:p>
          <a:p>
            <a:pPr lvl="0"/>
            <a:r>
              <a:rPr/>
              <a:t>스크립트에 코드를 쓰는 것만으로는 변수가 생성되지 않습니다.</a:t>
            </a:r>
          </a:p>
          <a:p>
            <a:pPr lvl="0" indent="0" marL="1270000">
              <a:buNone/>
            </a:pPr>
            <a:r>
              <a:rPr sz="2000"/>
              <a:t>코드를 작성한 다음 반드시 실행해야 합니다.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오류 메시지를 읽는 첫 번째 방법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 &lt;- </a:t>
            </a:r>
            <a:r>
              <a:rPr>
                <a:solidFill>
                  <a:srgbClr val="AD0000"/>
                </a:solidFill>
                <a:latin typeface="Courier"/>
              </a:rPr>
              <a:t>1250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cell_cout</a:t>
            </a:r>
          </a:p>
          <a:p>
            <a:pPr lvl="0" indent="-457200" marL="457200">
              <a:buAutoNum type="arabicPeriod"/>
            </a:pPr>
            <a:r>
              <a:rPr/>
              <a:t>오류가 발생한 코드와 메시지를 함께 봅니다.</a:t>
            </a:r>
          </a:p>
          <a:p>
            <a:pPr lvl="0" indent="-457200" marL="457200">
              <a:buAutoNum type="arabicPeriod"/>
            </a:pPr>
            <a:r>
              <a:rPr/>
              <a:t>변수 이름의 철자를 먼저 확인합니다.</a:t>
            </a:r>
          </a:p>
          <a:p>
            <a:pPr lvl="0" indent="-457200" marL="457200">
              <a:buAutoNum type="arabicPeriod"/>
            </a:pPr>
            <a:r>
              <a:rPr/>
              <a:t>코드를 수정하고 해당 줄을 다시 실행합니다.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준비: 파일 저장하기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>
                <a:latin typeface="Courier"/>
              </a:rPr>
              <a:t>labs/01_getting_started.R</a:t>
            </a:r>
            <a:r>
              <a:rPr/>
              <a:t>을 엽니다.</a:t>
            </a:r>
          </a:p>
          <a:p>
            <a:pPr lvl="0" indent="-457200" marL="457200">
              <a:buAutoNum type="arabicPeriod"/>
            </a:pPr>
            <a:r>
              <a:rPr/>
              <a:t>자신의 이름과 날짜를 주석으로 작성합니다.</a:t>
            </a:r>
          </a:p>
          <a:p>
            <a:pPr lvl="0" indent="-457200" marL="457200">
              <a:buAutoNum type="arabicPeriod"/>
            </a:pPr>
            <a:r>
              <a:rPr/>
              <a:t>파일을 저장합니다.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이름: 홍길동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날짜: 2026-07-12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1: 기본 계산 실행하기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  <a:br/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</a:p>
          <a:p>
            <a:pPr lvl="0"/>
            <a:r>
              <a:rPr/>
              <a:t>세 값의 합계는 얼마입니까?</a:t>
            </a:r>
          </a:p>
          <a:p>
            <a:pPr lvl="0"/>
            <a:r>
              <a:rPr/>
              <a:t>세 값의 평균은 얼마입니까?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2: 값을 변수에 저장하기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control_1_cells &lt;-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control_2_cells &lt;-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treated_cells &lt;- 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</a:p>
          <a:p>
            <a:pPr lvl="0"/>
            <a:r>
              <a:rPr/>
              <a:t>세 줄을 실행합니다.</a:t>
            </a:r>
          </a:p>
          <a:p>
            <a:pPr lvl="0"/>
            <a:r>
              <a:rPr/>
              <a:t>Environment에서 변수 이름과 값을 확인합니다.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3: 저장한 값으로 계산하기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total_cells &lt;- control_1_cells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control_2_cells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treated_cells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total_cells</a:t>
            </a:r>
          </a:p>
          <a:p>
            <a:pPr lvl="0" indent="0" marL="0">
              <a:buNone/>
            </a:pPr>
            <a:r>
              <a:rPr/>
              <a:t>세 샘플의 평균을 계산해 </a:t>
            </a:r>
            <a:r>
              <a:rPr>
                <a:latin typeface="Courier"/>
              </a:rPr>
              <a:t>mean_cells</a:t>
            </a:r>
            <a:r>
              <a:rPr/>
              <a:t>에 저장합니다.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4: 오류를 찾아 수정하기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sample_volume &lt;-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sample_concentration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sample_amount &lt;- sample_volum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sample_concentration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sample_amount</a:t>
            </a:r>
          </a:p>
          <a:p>
            <a:pPr lvl="0" indent="-457200" marL="457200">
              <a:buAutoNum type="arabicPeriod"/>
            </a:pPr>
            <a:r>
              <a:rPr/>
              <a:t>오류 메시지를 확인합니다.</a:t>
            </a:r>
          </a:p>
          <a:p>
            <a:pPr lvl="0" indent="-457200" marL="457200">
              <a:buAutoNum type="arabicPeriod"/>
            </a:pPr>
            <a:r>
              <a:rPr/>
              <a:t>잘못된 변수 이름을 찾습니다.</a:t>
            </a:r>
          </a:p>
          <a:p>
            <a:pPr lvl="0" indent="-457200" marL="457200">
              <a:buAutoNum type="arabicPeriod"/>
            </a:pPr>
            <a:r>
              <a:rPr/>
              <a:t>코드를 수정하고 다시 실행합니다.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오늘 배운 내용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R은 코드를 실행하는 프로그래밍 언어입니다.</a:t>
            </a:r>
          </a:p>
          <a:p>
            <a:pPr lvl="0"/>
            <a:r>
              <a:rPr/>
              <a:t>RStudio는 R 작업을 돕는 환경입니다.</a:t>
            </a:r>
          </a:p>
          <a:p>
            <a:pPr lvl="0"/>
            <a:r>
              <a:rPr/>
              <a:t>Console은 즉시 실행하고, 스크립트는 코드를 기록합니다.</a:t>
            </a:r>
          </a:p>
          <a:p>
            <a:pPr lvl="0"/>
            <a:r>
              <a:rPr>
                <a:latin typeface="Courier"/>
              </a:rPr>
              <a:t>&lt;-</a:t>
            </a:r>
            <a:r>
              <a:rPr/>
              <a:t>로 값을 변수에 저장합니다.</a:t>
            </a:r>
          </a:p>
          <a:p>
            <a:pPr lvl="0"/>
            <a:r>
              <a:rPr/>
              <a:t>오류 메시지는 문제를 수정하는 단서입니다.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종료 점검과 다음 차시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R과 RStudio는 어떻게 다릅니까?</a:t>
            </a:r>
          </a:p>
          <a:p>
            <a:pPr lvl="0" indent="-457200" marL="457200">
              <a:buAutoNum type="arabicPeriod"/>
            </a:pPr>
            <a:r>
              <a:rPr/>
              <a:t>Console과 스크립트는 언제 사용합니까?</a:t>
            </a:r>
          </a:p>
          <a:p>
            <a:pPr lvl="0" indent="-457200" marL="457200">
              <a:buAutoNum type="arabicPeriod"/>
            </a:pPr>
            <a:r>
              <a:rPr>
                <a:latin typeface="Courier"/>
              </a:rPr>
              <a:t>&lt;-</a:t>
            </a:r>
            <a:r>
              <a:rPr/>
              <a:t>는 어떤 역할을 합니까?</a:t>
            </a:r>
          </a:p>
          <a:p>
            <a:pPr lvl="0" indent="-457200" marL="457200">
              <a:buAutoNum type="arabicPeriod"/>
            </a:pPr>
            <a:r>
              <a:rPr/>
              <a:t>객체를 찾을 수 없다는 오류가 나오면 무엇을 먼저 확인합니까?</a:t>
            </a:r>
          </a:p>
          <a:p>
            <a:pPr lvl="0" indent="0" marL="0">
              <a:buNone/>
            </a:pPr>
            <a:r>
              <a:rPr b="1"/>
              <a:t>다음 차시:</a:t>
            </a:r>
            <a:r>
              <a:rPr/>
              <a:t> 숫자형, 문자형, 논리형과 결측값 </a:t>
            </a:r>
            <a:r>
              <a:rPr>
                <a:latin typeface="Courier"/>
              </a:rPr>
              <a:t>NA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</Words>
  <Application>Microsoft Office PowerPoint</Application>
  <PresentationFormat>사용자 지정</PresentationFormat>
  <Paragraphs>2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7" baseType="lpstr">
      <vt:lpstr>Pretendard</vt:lpstr>
      <vt:lpstr>맑은 고딕</vt:lpstr>
      <vt:lpstr>Arial</vt:lpstr>
      <vt:lpstr>Inter</vt:lpstr>
      <vt:lpstr>JetBrains Mono</vt:lpstr>
      <vt:lpstr>Office 테마</vt:lpstr>
      <vt:lpstr>R Programming Lecture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1차시: R과 RStudio 시작하기</dc:title>
  <dc:creator/>
  <cp:keywords/>
  <dcterms:created xsi:type="dcterms:W3CDTF">2026-07-12T11:15:49Z</dcterms:created>
  <dcterms:modified xsi:type="dcterms:W3CDTF">2026-07-12T11:15:49Z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R 기초 프로그래밍</vt:lpwstr>
  </property>
  <property fmtid="{D5CDD505-2E9C-101B-9397-08002B2CF9AE}" pid="9" name="toc-title">
    <vt:lpwstr>목차</vt:lpwstr>
  </property>
</Properties>
</file>