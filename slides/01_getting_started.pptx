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Relationship Id="rId2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1차시: R과 RStudio 시작하기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R과 RStudio의 역할을 구분할 수 있다.</a:t>
            </a:r>
          </a:p>
          <a:p>
            <a:pPr lvl="0" indent="-457200" marL="457200">
              <a:buAutoNum type="arabicPeriod"/>
            </a:pPr>
            <a:r>
              <a:rPr/>
              <a:t>콘솔과 스크립트에서 R 코드를 실행할 수 있다.</a:t>
            </a:r>
          </a:p>
          <a:p>
            <a:pPr lvl="0" indent="-457200" marL="457200">
              <a:buAutoNum type="arabicPeriod"/>
            </a:pPr>
            <a:r>
              <a:rPr/>
              <a:t>오류 메시지를 읽고 간단한 실행 오류를 수정할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전사체 분석에서 R이 필요한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많은 생명과학 분석 도구가 R로 제공됩니다.</a:t>
            </a:r>
          </a:p>
          <a:p>
            <a:pPr lvl="0"/>
            <a:r>
              <a:rPr/>
              <a:t>계산, 데이터 처리, 시각화를 한 환경에서 수행할 수 있습니다.</a:t>
            </a:r>
          </a:p>
          <a:p>
            <a:pPr lvl="0"/>
            <a:r>
              <a:rPr/>
              <a:t>R 기초는 Seurat를 이해하고 사용하는 출발점입니다.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R은 프로그래밍 언어다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R은 데이터를 계산하고 분석하기 위한 프로그래밍 언어입니다.</a:t>
            </a:r>
          </a:p>
          <a:p>
            <a:pPr lvl="0"/>
            <a:r>
              <a:rPr/>
              <a:t>코드를 작성하면 같은 분석을 정확하게 반복할 수 있습니다.</a:t>
            </a:r>
          </a:p>
          <a:p>
            <a:pPr lvl="0"/>
            <a:r>
              <a:rPr/>
              <a:t>코드에는 분석 과정이 기록되므로 결과를 재현할 수 있습니다.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RStudio는 R을 사용하는 작업 환경이다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RStudio는 R 코드를 편리하게 작성하고 실행하도록 돕습니다.</a:t>
            </a:r>
          </a:p>
          <a:p>
            <a:pPr lvl="0"/>
            <a:r>
              <a:rPr/>
              <a:t>R과 RStudio는 서로 다른 소프트웨어입니다.</a:t>
            </a:r>
          </a:p>
          <a:p>
            <a:pPr lvl="0"/>
            <a:r>
              <a:rPr/>
              <a:t>컴퓨터에 R이 먼저 설치되어 있어야 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RStudio의 네 개 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작성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명령 실행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생성된 객체 확인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Files·Plots·Packages·Help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파일, 그래프, 패키지, 도움말 확인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콘솔은 명령을 즉시 실행하는 곳이다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&gt;</a:t>
            </a:r>
            <a:r>
              <a:rPr/>
              <a:t> 뒤에 명령을 입력합니다.</a:t>
            </a:r>
          </a:p>
          <a:p>
            <a:pPr lvl="0"/>
            <a:r>
              <a:rPr/>
              <a:t>Enter를 누르면 명령이 즉시 실행됩니다.</a:t>
            </a:r>
          </a:p>
          <a:p>
            <a:pPr lvl="0"/>
            <a:r>
              <a:rPr/>
              <a:t>빠른 확인과 간단한 계산에 적합합니다.</a:t>
            </a:r>
          </a:p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스크립트는 코드를 기록하는 파일이다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 스크립트는 </a:t>
            </a:r>
            <a:r>
              <a:rPr>
                <a:latin typeface="Courier"/>
              </a:rPr>
              <a:t>.R</a:t>
            </a:r>
            <a:r>
              <a:rPr/>
              <a:t> 확장자를 사용합니다.</a:t>
            </a:r>
          </a:p>
          <a:p>
            <a:pPr lvl="0"/>
            <a:r>
              <a:rPr/>
              <a:t>여러 줄의 코드를 저장하고 다시 실행할 수 있습니다.</a:t>
            </a:r>
          </a:p>
          <a:p>
            <a:pPr lvl="0"/>
            <a:r>
              <a:rPr/>
              <a:t>실제 분석은 콘솔보다 스크립트를 중심으로 진행합니다.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R은 계산기처럼 사용할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AD0000"/>
                </a:solidFill>
                <a:latin typeface="Courier"/>
              </a:rPr>
              <a:t>20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</a:p>
          <a:p>
            <a:pPr lvl="0"/>
            <a:r>
              <a:rPr/>
              <a:t>괄호를 사용하면 계산 순서를 지정할 수 있습니다.</a:t>
            </a:r>
          </a:p>
          <a:p>
            <a:pPr lvl="0"/>
            <a:r>
              <a:rPr/>
              <a:t>입력한 코드와 출력된 결과를 구분해서 읽습니다.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변수는 값에 붙이는 이름이다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</a:p>
          <a:p>
            <a:pPr lvl="0"/>
            <a:r>
              <a:rPr/>
              <a:t>계산에 사용할 값을 이름으로 저장합니다.</a:t>
            </a:r>
          </a:p>
          <a:p>
            <a:pPr lvl="0"/>
            <a:r>
              <a:rPr/>
              <a:t>저장한 값은 같은 이름으로 다시 사용할 수 있습니다.</a:t>
            </a:r>
          </a:p>
          <a:p>
            <a:pPr lvl="0"/>
            <a:r>
              <a:rPr/>
              <a:t>의미가 분명한 이름을 사용하면 코드를 이해하기 쉽습니다.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&lt;-</a:t>
            </a:r>
            <a:r>
              <a:rPr/>
              <a:t>는 값을 저장하는 연산자다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</a:p>
          <a:p>
            <a:pPr lvl="0" indent="0" marL="1270000">
              <a:buNone/>
            </a:pPr>
            <a:r>
              <a:rPr sz="2000"/>
              <a:t>오른쪽의 </a:t>
            </a:r>
            <a:r>
              <a:rPr sz="2000">
                <a:latin typeface="Courier"/>
              </a:rPr>
              <a:t>1250</a:t>
            </a:r>
            <a:r>
              <a:rPr sz="2000"/>
              <a:t>을 왼쪽의 </a:t>
            </a:r>
            <a:r>
              <a:rPr sz="2000">
                <a:latin typeface="Courier"/>
              </a:rPr>
              <a:t>cell_count</a:t>
            </a:r>
            <a:r>
              <a:rPr sz="2000"/>
              <a:t>에 저장합니다.</a:t>
            </a:r>
          </a:p>
          <a:p>
            <a:pPr lvl="0"/>
            <a:r>
              <a:rPr/>
              <a:t>이 과정에서는 기본 대입 연산자로 </a:t>
            </a:r>
            <a:r>
              <a:rPr>
                <a:latin typeface="Courier"/>
              </a:rPr>
              <a:t>&lt;-</a:t>
            </a:r>
            <a:r>
              <a:rPr/>
              <a:t>를 사용합니다.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주석은 코드를 설명하는 메모다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세 샘플의 전체 세포 수를 계산한다.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total_cells &lt;-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</a:p>
          <a:p>
            <a:pPr lvl="0"/>
            <a:r>
              <a:rPr>
                <a:latin typeface="Courier"/>
              </a:rPr>
              <a:t>#</a:t>
            </a:r>
            <a:r>
              <a:rPr/>
              <a:t> 뒤의 내용은 실행되지 않습니다.</a:t>
            </a:r>
          </a:p>
          <a:p>
            <a:pPr lvl="0"/>
            <a:r>
              <a:rPr/>
              <a:t>코드의 목적이나 중요한 학습 포인트를 기록합니다.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첫 번째 R 스크립트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File &gt; New File &gt; R Script</a:t>
            </a:r>
            <a:r>
              <a:rPr/>
              <a:t>를 선택합니다.</a:t>
            </a:r>
          </a:p>
          <a:p>
            <a:pPr lvl="0" indent="-457200" marL="457200">
              <a:buAutoNum type="arabicPeriod"/>
            </a:pPr>
            <a:r>
              <a:rPr/>
              <a:t>주석을 한 줄 입력합니다.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labs/01_getting_started.R</a:t>
            </a:r>
            <a:r>
              <a:rPr/>
              <a:t>로 저장합니다.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1차시 실습: R과 RStudio 시작하기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줄의 코드를 실행하기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실행할 줄에 커서를 놓습니다.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Ctrl + Enter</a:t>
            </a:r>
            <a:r>
              <a:rPr/>
              <a:t>를 누릅니다.</a:t>
            </a:r>
          </a:p>
          <a:p>
            <a:pPr lvl="0" indent="-457200" marL="457200">
              <a:buAutoNum type="arabicPeriod"/>
            </a:pPr>
            <a:r>
              <a:rPr/>
              <a:t>Console에서 결과를 확인합니다.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줄의 코드를 실행하기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실행할 영역을 선택하고 </a:t>
            </a:r>
            <a:r>
              <a:rPr>
                <a:latin typeface="Courier"/>
              </a:rPr>
              <a:t>Ctrl + Enter</a:t>
            </a:r>
            <a:r>
              <a:rPr/>
              <a:t>를 누릅니다.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control_cells &lt;-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treated_cells &lt;-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total_cells &lt;- control_cells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treated_cells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total_cells</a:t>
            </a:r>
          </a:p>
          <a:p>
            <a:pPr lvl="0" indent="0" marL="0">
              <a:buNone/>
            </a:pPr>
            <a:r>
              <a:rPr/>
              <a:t>코드는 위에서 아래로 실행됩니다.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Environment에서 변수 확인하기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실행된 변수는 Environment 창에 나타납니다.</a:t>
            </a:r>
          </a:p>
          <a:p>
            <a:pPr lvl="0"/>
            <a:r>
              <a:rPr/>
              <a:t>변수 이름과 현재 값을 확인할 수 있습니다.</a:t>
            </a:r>
          </a:p>
          <a:p>
            <a:pPr lvl="0"/>
            <a:r>
              <a:rPr/>
              <a:t>스크립트에 코드를 쓰는 것만으로는 변수가 생성되지 않습니다.</a:t>
            </a:r>
          </a:p>
          <a:p>
            <a:pPr lvl="0" indent="0" marL="1270000">
              <a:buNone/>
            </a:pPr>
            <a:r>
              <a:rPr sz="2000"/>
              <a:t>코드를 작성한 다음 반드시 실행해야 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오류 메시지를 읽는 첫 번째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cell_count &lt;- </a:t>
            </a:r>
            <a:r>
              <a:rPr>
                <a:solidFill>
                  <a:srgbClr val="AD0000"/>
                </a:solidFill>
                <a:latin typeface="Courier"/>
              </a:rPr>
              <a:t>1250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cell_cout</a:t>
            </a:r>
          </a:p>
          <a:p>
            <a:pPr lvl="0" indent="-457200" marL="457200">
              <a:buAutoNum type="arabicPeriod"/>
            </a:pPr>
            <a:r>
              <a:rPr/>
              <a:t>오류가 발생한 코드와 메시지를 함께 봅니다.</a:t>
            </a:r>
          </a:p>
          <a:p>
            <a:pPr lvl="0" indent="-457200" marL="457200">
              <a:buAutoNum type="arabicPeriod"/>
            </a:pPr>
            <a:r>
              <a:rPr/>
              <a:t>변수 이름의 철자를 먼저 확인합니다.</a:t>
            </a:r>
          </a:p>
          <a:p>
            <a:pPr lvl="0" indent="-457200" marL="457200">
              <a:buAutoNum type="arabicPeriod"/>
            </a:pPr>
            <a:r>
              <a:rPr/>
              <a:t>코드를 수정하고 해당 줄을 다시 실행합니다.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준비: 파일 저장하기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urier"/>
              </a:rPr>
              <a:t>labs/01_getting_started.R</a:t>
            </a:r>
            <a:r>
              <a:rPr/>
              <a:t>을 엽니다.</a:t>
            </a:r>
          </a:p>
          <a:p>
            <a:pPr lvl="0" indent="-457200" marL="457200">
              <a:buAutoNum type="arabicPeriod"/>
            </a:pPr>
            <a:r>
              <a:rPr/>
              <a:t>자신의 이름과 날짜를 주석으로 작성합니다.</a:t>
            </a:r>
          </a:p>
          <a:p>
            <a:pPr lvl="0" indent="-457200" marL="457200">
              <a:buAutoNum type="arabicPeriod"/>
            </a:pPr>
            <a:r>
              <a:rPr/>
              <a:t>파일을 저장합니다.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이름: 홍길동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날짜: 2026-07-12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기본 계산 실행하기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br/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</a:p>
          <a:p>
            <a:pPr lvl="0"/>
            <a:r>
              <a:rPr/>
              <a:t>세 값의 합계는 얼마입니까?</a:t>
            </a:r>
          </a:p>
          <a:p>
            <a:pPr lvl="0"/>
            <a:r>
              <a:rPr/>
              <a:t>세 값의 평균은 얼마입니까?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값을 변수에 저장하기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control_1_cells &lt;-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control_2_cells &lt;-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treated_cells &lt;-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</a:p>
          <a:p>
            <a:pPr lvl="0"/>
            <a:r>
              <a:rPr/>
              <a:t>세 줄을 실행합니다.</a:t>
            </a:r>
          </a:p>
          <a:p>
            <a:pPr lvl="0"/>
            <a:r>
              <a:rPr/>
              <a:t>Environment에서 변수 이름과 값을 확인합니다.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저장한 값으로 계산하기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total_cells &lt;- control_1_cells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control_2_cells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treated_cells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total_cells</a:t>
            </a:r>
          </a:p>
          <a:p>
            <a:pPr lvl="0" indent="0" marL="0">
              <a:buNone/>
            </a:pPr>
            <a:r>
              <a:rPr/>
              <a:t>세 샘플의 평균을 계산해 </a:t>
            </a:r>
            <a:r>
              <a:rPr>
                <a:latin typeface="Courier"/>
              </a:rPr>
              <a:t>mean_cells</a:t>
            </a:r>
            <a:r>
              <a:rPr/>
              <a:t>에 저장합니다.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오류를 찾아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sample_volume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sample_concentration &lt;- </a:t>
            </a:r>
            <a:r>
              <a:rPr>
                <a:solidFill>
                  <a:srgbClr val="AD0000"/>
                </a:solidFill>
                <a:latin typeface="Courier"/>
              </a:rPr>
              <a:t>20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sample_amount &lt;- sample_volum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sample_concentration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sample_amount</a:t>
            </a:r>
          </a:p>
          <a:p>
            <a:pPr lvl="0" indent="-457200" marL="457200">
              <a:buAutoNum type="arabicPeriod"/>
            </a:pPr>
            <a:r>
              <a:rPr/>
              <a:t>오류 메시지를 확인합니다.</a:t>
            </a:r>
          </a:p>
          <a:p>
            <a:pPr lvl="0" indent="-457200" marL="457200">
              <a:buAutoNum type="arabicPeriod"/>
            </a:pPr>
            <a:r>
              <a:rPr/>
              <a:t>잘못된 변수 이름을 찾습니다.</a:t>
            </a:r>
          </a:p>
          <a:p>
            <a:pPr lvl="0" indent="-457200" marL="457200">
              <a:buAutoNum type="arabicPeriod"/>
            </a:pPr>
            <a:r>
              <a:rPr/>
              <a:t>코드를 수정하고 다시 실행합니다.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R은 코드를 실행하는 프로그래밍 언어입니다.</a:t>
            </a:r>
          </a:p>
          <a:p>
            <a:pPr lvl="0"/>
            <a:r>
              <a:rPr/>
              <a:t>RStudio는 R 작업을 돕는 환경입니다.</a:t>
            </a:r>
          </a:p>
          <a:p>
            <a:pPr lvl="0"/>
            <a:r>
              <a:rPr/>
              <a:t>Console은 즉시 실행하고, 스크립트는 코드를 기록합니다.</a:t>
            </a:r>
          </a:p>
          <a:p>
            <a:pPr lvl="0"/>
            <a:r>
              <a:rPr>
                <a:latin typeface="Courier"/>
              </a:rPr>
              <a:t>&lt;-</a:t>
            </a:r>
            <a:r>
              <a:rPr/>
              <a:t>로 값을 변수에 저장합니다.</a:t>
            </a:r>
          </a:p>
          <a:p>
            <a:pPr lvl="0"/>
            <a:r>
              <a:rPr/>
              <a:t>오류 메시지는 문제를 수정하는 단서입니다.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R과 RStudio는 어떻게 다릅니까?</a:t>
            </a:r>
          </a:p>
          <a:p>
            <a:pPr lvl="0" indent="-457200" marL="457200">
              <a:buAutoNum type="arabicPeriod"/>
            </a:pPr>
            <a:r>
              <a:rPr/>
              <a:t>Console과 스크립트는 언제 사용합니까?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&lt;-</a:t>
            </a:r>
            <a:r>
              <a:rPr/>
              <a:t>는 어떤 역할을 합니까?</a:t>
            </a:r>
          </a:p>
          <a:p>
            <a:pPr lvl="0" indent="-457200" marL="457200">
              <a:buAutoNum type="arabicPeriod"/>
            </a:pPr>
            <a:r>
              <a:rPr/>
              <a:t>객체를 찾을 수 없다는 오류가 나오면 무엇을 먼저 확인합니까?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숫자형, 문자형, 논리형과 결측값 </a:t>
            </a:r>
            <a:r>
              <a:rPr>
                <a:latin typeface="Courier"/>
              </a:rPr>
              <a:t>NA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1차시: R과 RStudio 시작하기</dc:title>
  <dc:creator/>
  <cp:keywords/>
  <dcterms:created xsi:type="dcterms:W3CDTF">2026-07-12T13:12:59Z</dcterms:created>
  <dcterms:modified xsi:type="dcterms:W3CDTF">2026-07-12T13:12:59Z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