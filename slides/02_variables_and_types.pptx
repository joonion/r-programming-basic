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Relationship Id="rId3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2차시: 변수와 기본 자료형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값을 변수에 저장하고 다시 사용할 수 있다.</a:t>
            </a:r>
          </a:p>
          <a:p>
            <a:pPr lvl="0" indent="-457200" marL="457200">
              <a:buAutoNum type="arabicPeriod"/>
            </a:pPr>
            <a:r>
              <a:rPr/>
              <a:t>숫자형, 문자형, 논리형 자료를 구분할 수 있다.</a:t>
            </a:r>
          </a:p>
          <a:p>
            <a:pPr lvl="0" indent="-457200" marL="457200">
              <a:buAutoNum type="arabicPeriod"/>
            </a:pPr>
            <a:r>
              <a:rPr/>
              <a:t>객체의 값과 자료형을 확인할 수 있다.</a:t>
            </a:r>
          </a:p>
          <a:p>
            <a:pPr lvl="0" indent="-457200" marL="457200">
              <a:buAutoNum type="arabicPeriod"/>
            </a:pPr>
            <a:r>
              <a:rPr/>
              <a:t>결측값을 확인하고 기본 자료형을 변환할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RStudio에서 R 스크립트를 열고 저장할 수 있습니다.</a:t>
            </a:r>
          </a:p>
          <a:p>
            <a:pPr lvl="0"/>
            <a:r>
              <a:rPr>
                <a:latin typeface="Courier"/>
              </a:rPr>
              <a:t>Ctrl + Enter</a:t>
            </a:r>
            <a:r>
              <a:rPr/>
              <a:t>로 코드를 실행할 수 있습니다.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를 사용해 값을 변수에 저장할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1차시 복습: 변수는 값에 붙이는 이름이다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오른쪽의 값을 왼쪽 이름에 저장합니다.</a:t>
            </a:r>
          </a:p>
          <a:p>
            <a:pPr lvl="0"/>
            <a:r>
              <a:rPr/>
              <a:t>저장한 값은 변수 이름으로 다시 사용할 수 있습니다.</a:t>
            </a:r>
          </a:p>
          <a:p>
            <a:pPr lvl="0"/>
            <a:r>
              <a:rPr/>
              <a:t>R에서는 생성된 변수를 </a:t>
            </a:r>
            <a:r>
              <a:rPr b="1"/>
              <a:t>객체</a:t>
            </a:r>
            <a:r>
              <a:rPr/>
              <a:t>라고도 부릅니다.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의미가 분명한 변수 이름을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</a:p>
          <a:p>
            <a:pPr lvl="0"/>
            <a:r>
              <a:rPr/>
              <a:t>이름만 보고 값의 의미를 짐작할 수 있게 작성합니다.</a:t>
            </a:r>
          </a:p>
          <a:p>
            <a:pPr lvl="0"/>
            <a:r>
              <a:rPr/>
              <a:t>여러 단어는 밑줄로 연결하는 </a:t>
            </a:r>
            <a:r>
              <a:rPr>
                <a:latin typeface="Courier"/>
              </a:rPr>
              <a:t>snake_case</a:t>
            </a:r>
            <a:r>
              <a:rPr/>
              <a:t>를 사용합니다.</a:t>
            </a:r>
          </a:p>
          <a:p>
            <a:pPr lvl="0"/>
            <a:r>
              <a:rPr/>
              <a:t>R은 대소문자를 구분합니다. </a:t>
            </a:r>
            <a:r>
              <a:rPr>
                <a:latin typeface="Courier"/>
              </a:rPr>
              <a:t>cell_count</a:t>
            </a:r>
            <a:r>
              <a:rPr/>
              <a:t>와 </a:t>
            </a:r>
            <a:r>
              <a:rPr>
                <a:latin typeface="Courier"/>
              </a:rPr>
              <a:t>Cell_count</a:t>
            </a:r>
            <a:r>
              <a:rPr/>
              <a:t>는 다릅니다.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 이름을 작성할 때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좋은 이름: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</a:p>
          <a:p>
            <a:pPr lvl="0" indent="0" marL="0">
              <a:buNone/>
            </a:pPr>
            <a:r>
              <a:rPr/>
              <a:t>피해야 할 이름: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my.sample.name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</a:p>
          <a:p>
            <a:pPr lvl="0"/>
            <a:r>
              <a:rPr/>
              <a:t>숫자로 시작하거나 공백이 들어간 이름은 사용할 수 없습니다.</a:t>
            </a:r>
          </a:p>
          <a:p>
            <a:pPr lvl="0"/>
            <a:r>
              <a:rPr/>
              <a:t>이 과정에서는 일관되게 </a:t>
            </a:r>
            <a:r>
              <a:rPr>
                <a:latin typeface="Courier"/>
              </a:rPr>
              <a:t>snake_case</a:t>
            </a:r>
            <a:r>
              <a:rPr/>
              <a:t>를 사용합니다.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자료형은 값의 종류를 나타낸다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R은 값의 종류에 따라 저장하고 처리하는 방법을 결정합니다.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자료형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1250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계산할 수 있는 수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"control_1"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글자나 이름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참 또는 거짓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숫자형은 계산할 수 있는 값이다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</a:p>
          <a:p>
            <a:pPr lvl="0"/>
            <a:r>
              <a:rPr/>
              <a:t>정수와 소수는 모두 숫자형으로 다룰 수 있습니다.</a:t>
            </a:r>
          </a:p>
          <a:p>
            <a:pPr lvl="0"/>
            <a:r>
              <a:rPr/>
              <a:t>숫자형 값에는 산술 연산을 적용할 수 있습니다.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문자형은 따옴표로 감싼다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</a:p>
          <a:p>
            <a:pPr lvl="0"/>
            <a:r>
              <a:rPr/>
              <a:t>샘플 이름이나 실험 조건처럼 글자로 된 값을 저장합니다.</a:t>
            </a:r>
          </a:p>
          <a:p>
            <a:pPr lvl="0"/>
            <a:r>
              <a:rPr/>
              <a:t>큰따옴표 또는 작은따옴표를 사용할 수 있습니다.</a:t>
            </a:r>
          </a:p>
          <a:p>
            <a:pPr lvl="0"/>
            <a:r>
              <a:rPr/>
              <a:t>이 과정에서는 큰따옴표를 기본으로 사용합니다.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따옴표가 없으면 변수 이름으로 해석한다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</a:p>
          <a:p>
            <a:pPr lvl="0" indent="0" marL="0">
              <a:buNone/>
            </a:pPr>
            <a:r>
              <a:rPr/>
              <a:t>다음 코드는 </a:t>
            </a:r>
            <a:r>
              <a:rPr>
                <a:latin typeface="Courier"/>
              </a:rPr>
              <a:t>treated</a:t>
            </a:r>
            <a:r>
              <a:rPr/>
              <a:t>라는 변수를 찾으므로 오류가 발생합니다.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condition &lt;- treated</a:t>
            </a:r>
          </a:p>
          <a:p>
            <a:pPr lvl="0" indent="0" marL="1270000">
              <a:buNone/>
            </a:pPr>
            <a:r>
              <a:rPr sz="2000"/>
              <a:t>글자를 저장할 때 따옴표를 빠뜨리지 않았는지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논리형은 참과 거짓을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is_treated &lt;-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is_treated</a:t>
            </a:r>
          </a:p>
          <a:p>
            <a:pPr lvl="0"/>
            <a:r>
              <a:rPr/>
              <a:t>논리형 값은 </a:t>
            </a:r>
            <a:r>
              <a:rPr>
                <a:latin typeface="Courier"/>
              </a:rPr>
              <a:t>TRUE</a:t>
            </a:r>
            <a:r>
              <a:rPr/>
              <a:t>와 </a:t>
            </a:r>
            <a:r>
              <a:rPr>
                <a:latin typeface="Courier"/>
              </a:rPr>
              <a:t>FALSE</a:t>
            </a:r>
            <a:r>
              <a:rPr/>
              <a:t> 두 가지입니다.</a:t>
            </a:r>
          </a:p>
          <a:p>
            <a:pPr lvl="0"/>
            <a:r>
              <a:rPr/>
              <a:t>따옴표 없이 대문자로 작성합니다.</a:t>
            </a:r>
          </a:p>
          <a:p>
            <a:pPr lvl="0"/>
            <a:r>
              <a:rPr/>
              <a:t>품질 기준 통과 여부나 조건의 만족 여부를 표현할 때 사용합니다.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비교 연산의 결과는 논리형이다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연산자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왼쪽이 더 크다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왼쪽이 더 작다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두 값이 같다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하나가 아니라 </a:t>
            </a:r>
            <a:r>
              <a:rPr sz="2000">
                <a:latin typeface="Courier"/>
              </a:rPr>
              <a:t>==</a:t>
            </a:r>
            <a:r>
              <a:rPr sz="2000"/>
              <a:t> 두 개로 같은지 비교합니다.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값을 출력해 현재 상태를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</a:p>
          <a:p>
            <a:pPr lvl="0"/>
            <a:r>
              <a:rPr/>
              <a:t>변수 이름을 실행하면 저장된 값이 출력됩니다.</a:t>
            </a:r>
          </a:p>
          <a:p>
            <a:pPr lvl="0"/>
            <a:r>
              <a:rPr>
                <a:latin typeface="Courier"/>
              </a:rPr>
              <a:t>print()</a:t>
            </a:r>
            <a:r>
              <a:rPr/>
              <a:t>를 사용해도 값을 출력할 수 있습니다.</a:t>
            </a:r>
          </a:p>
          <a:p>
            <a:pPr lvl="0"/>
            <a:r>
              <a:rPr/>
              <a:t>입문 단계에서는 자주 출력하여 중간 결과를 확인합니다.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class()</a:t>
            </a:r>
            <a:r>
              <a:rPr/>
              <a:t>로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(passed_qc)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class()</a:t>
            </a:r>
            <a:r>
              <a:rPr/>
              <a:t>는 객체를 사용할 때 알아야 하는 자료형을 보여 줍니다.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typeof()</a:t>
            </a:r>
            <a:r>
              <a:rPr/>
              <a:t>는 내부 저장 방식을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(passed_qc)</a:t>
            </a:r>
          </a:p>
          <a:p>
            <a:pPr lvl="0"/>
            <a:r>
              <a:rPr>
                <a:latin typeface="Courier"/>
              </a:rPr>
              <a:t>typeof()</a:t>
            </a:r>
            <a:r>
              <a:rPr/>
              <a:t>는 R이 값을 내부적으로 저장한 방식을 보여 줍니다.</a:t>
            </a:r>
          </a:p>
          <a:p>
            <a:pPr lvl="0"/>
            <a:r>
              <a:rPr>
                <a:latin typeface="Courier"/>
              </a:rPr>
              <a:t>1250</a:t>
            </a:r>
            <a:r>
              <a:rPr/>
              <a:t>은 보통 </a:t>
            </a:r>
            <a:r>
              <a:rPr>
                <a:latin typeface="Courier"/>
              </a:rPr>
              <a:t>double</a:t>
            </a:r>
            <a:r>
              <a:rPr/>
              <a:t>로 표시됩니다.</a:t>
            </a:r>
          </a:p>
          <a:p>
            <a:pPr lvl="0"/>
            <a:r>
              <a:rPr/>
              <a:t>지금은 </a:t>
            </a:r>
            <a:r>
              <a:rPr>
                <a:latin typeface="Courier"/>
              </a:rPr>
              <a:t>class()</a:t>
            </a:r>
            <a:r>
              <a:rPr/>
              <a:t>를 중심으로 확인하고, </a:t>
            </a:r>
            <a:r>
              <a:rPr>
                <a:latin typeface="Courier"/>
              </a:rPr>
              <a:t>typeof()</a:t>
            </a:r>
            <a:r>
              <a:rPr/>
              <a:t>는 차이를 관찰합니다.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변수에는 새 값을 다시 저장할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1400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/>
            <a:r>
              <a:rPr/>
              <a:t>같은 변수에 새 값을 저장하면 이전 값은 바뀝니다.</a:t>
            </a:r>
          </a:p>
          <a:p>
            <a:pPr lvl="0"/>
            <a:r>
              <a:rPr/>
              <a:t>코드를 실행한 순서에 따라 현재 값이 결정됩니다.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변수를 사용하면 계산을 다시 수행하기 쉽다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filtered_cell_count &lt;- </a:t>
            </a:r>
            <a:r>
              <a:rPr>
                <a:solidFill>
                  <a:srgbClr val="AD0000"/>
                </a:solidFill>
                <a:latin typeface="Courier"/>
              </a:rPr>
              <a:t>1100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removed_cell_count &lt;- cell_count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filtered_cell_count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removed_cell_count</a:t>
            </a:r>
          </a:p>
          <a:p>
            <a:pPr lvl="0" indent="0" marL="0">
              <a:buNone/>
            </a:pPr>
            <a:r>
              <a:rPr/>
              <a:t>원래 값이 바뀌면 같은 계산 코드를 다시 사용할 수 있습니다.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는 값이 없음을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는 아직 측정되지 않았거나 알 수 없는 값을 나타냅니다.</a:t>
            </a:r>
          </a:p>
          <a:p>
            <a:pPr lvl="0"/>
            <a:r>
              <a:rPr/>
              <a:t>숫자 0이나 빈 문자열 </a:t>
            </a:r>
            <a:r>
              <a:rPr>
                <a:latin typeface="Courier"/>
              </a:rPr>
              <a:t>""</a:t>
            </a:r>
            <a:r>
              <a:rPr/>
              <a:t>과 의미가 다릅니다.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는 따옴표 없이 작성합니다.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is.na()</a:t>
            </a:r>
            <a:r>
              <a:rPr/>
              <a:t>로 결측값을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</a:p>
          <a:p>
            <a:pPr lvl="0"/>
            <a:r>
              <a:rPr/>
              <a:t>결측값이면 </a:t>
            </a:r>
            <a:r>
              <a:rPr>
                <a:latin typeface="Courier"/>
              </a:rPr>
              <a:t>TRUE</a:t>
            </a:r>
            <a:r>
              <a:rPr/>
              <a:t>, 아니면 </a:t>
            </a:r>
            <a:r>
              <a:rPr>
                <a:latin typeface="Courier"/>
              </a:rPr>
              <a:t>FALSE</a:t>
            </a:r>
            <a:r>
              <a:rPr/>
              <a:t>를 반환합니다.</a:t>
            </a:r>
          </a:p>
          <a:p>
            <a:pPr lvl="0"/>
            <a:r>
              <a:rPr>
                <a:latin typeface="Courier"/>
              </a:rPr>
              <a:t>cell_count == NA</a:t>
            </a:r>
            <a:r>
              <a:rPr/>
              <a:t>로 결측값을 검사하지 않습니다.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포함된 계산을 살펴본다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</a:p>
          <a:p>
            <a:pPr lvl="0"/>
            <a:r>
              <a:rPr/>
              <a:t>알 수 없는 값에 100을 더해도 결과는 알 수 없습니다.</a:t>
            </a:r>
          </a:p>
          <a:p>
            <a:pPr lvl="0"/>
            <a:r>
              <a:rPr/>
              <a:t>따라서 계산 결과도 </a:t>
            </a:r>
            <a:r>
              <a:rPr>
                <a:latin typeface="Courier"/>
              </a:rPr>
              <a:t>NA</a:t>
            </a:r>
            <a:r>
              <a:rPr/>
              <a:t>가 됩니다.</a:t>
            </a:r>
          </a:p>
          <a:p>
            <a:pPr lvl="0"/>
            <a:r>
              <a:rPr/>
              <a:t>결측값을 어떻게 처리할지는 분석 목적에 따라 결정해야 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자료형을 변환할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cell_count_text &lt;- 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은 숫자형으로 변환합니다.</a:t>
            </a:r>
          </a:p>
          <a:p>
            <a:pPr lvl="0"/>
            <a:r>
              <a:rPr/>
              <a:t>숫자처럼 보이는 문자도 변환 전에는 문자형입니다.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자주 사용하는 자료형 변환 함수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as.logical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변환 결과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as.numeric()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as.character()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as.logical()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문자를 숫자로 바꿀 수는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다음 코드는 변환할 수 없는 문자 때문에 경고가 발생하고 </a:t>
            </a:r>
            <a:r>
              <a:rPr>
                <a:latin typeface="Courier"/>
              </a:rPr>
              <a:t>NA</a:t>
            </a:r>
            <a:r>
              <a:rPr/>
              <a:t>를 만듭니다.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as.numeric("one thousand")</a:t>
            </a:r>
          </a:p>
          <a:p>
            <a:pPr lvl="0"/>
            <a:r>
              <a:rPr/>
              <a:t>경고는 코드가 중단되지는 않았지만 확인할 문제가 있다는 뜻입니다.</a:t>
            </a:r>
          </a:p>
          <a:p>
            <a:pPr lvl="0"/>
            <a:r>
              <a:rPr/>
              <a:t>변환 전에는 값이 기대한 형태인지 먼저 확인합니다.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대소문자가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</a:p>
          <a:p>
            <a:pPr lvl="0" indent="0" marL="0">
              <a:buNone/>
            </a:pPr>
            <a:r>
              <a:rPr/>
              <a:t>다음 코드는 서로 다른 이름을 사용하므로 오류가 발생합니다.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Sample_name</a:t>
            </a:r>
          </a:p>
          <a:p>
            <a:pPr lvl="0" indent="0" marL="1270000">
              <a:buNone/>
            </a:pPr>
            <a:r>
              <a:rPr sz="2000"/>
              <a:t>객체를 찾을 수 없다는 오류가 나오면 철자와 대소문자를 확인합니다.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숫자처럼 보이는 문자로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cell_count_text &lt;- 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</a:p>
          <a:p>
            <a:pPr lvl="0"/>
            <a:r>
              <a:rPr/>
              <a:t>따옴표로 감싼 값은 문자형입니다.</a:t>
            </a:r>
          </a:p>
          <a:p>
            <a:pPr lvl="0"/>
            <a:r>
              <a:rPr/>
              <a:t>계산이 필요하면 적절한 자료형으로 변환합니다.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세 가지 자료형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다음 정보를 각각 알맞은 변수에 저장합니다.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</a:p>
          <a:p>
            <a:pPr lvl="0" indent="0" marL="0">
              <a:buNone/>
            </a:pPr>
            <a:r>
              <a:rPr/>
              <a:t>각 변수의 값과 </a:t>
            </a:r>
            <a:r>
              <a:rPr>
                <a:latin typeface="Courier"/>
              </a:rPr>
              <a:t>class()</a:t>
            </a:r>
            <a:r>
              <a:rPr/>
              <a:t> 결과를 확인합니다.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결측값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doublet_rate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doublet_rate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doublet_rate</a:t>
            </a:r>
            <a:r>
              <a:rPr/>
              <a:t>의 값은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is.na(doublet_rate)</a:t>
            </a:r>
            <a:r>
              <a:rPr/>
              <a:t>는 왜 </a:t>
            </a:r>
            <a:r>
              <a:rPr>
                <a:latin typeface="Courier"/>
              </a:rPr>
              <a:t>TRUE</a:t>
            </a:r>
            <a:r>
              <a:rPr/>
              <a:t>를 반환합니까?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자료형 변환하기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cell_count_text &lt;- 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</a:p>
          <a:p>
            <a:pPr lvl="0" indent="0" marL="0">
              <a:buNone/>
            </a:pPr>
            <a:r>
              <a:rPr/>
              <a:t>변환 전후의 값과 자료형을 비교합니다.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오류를 찾아 수정하기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다음 코드에서 잘못된 부분을 찾습니다.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sample_name &lt;- control_1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Cell_count + 100</a:t>
            </a:r>
          </a:p>
          <a:p>
            <a:pPr lvl="0" indent="-457200" marL="457200">
              <a:buAutoNum type="arabicPeriod"/>
            </a:pPr>
            <a:r>
              <a:rPr/>
              <a:t>문자형 값에 필요한 기호는 무엇입니까?</a:t>
            </a:r>
          </a:p>
          <a:p>
            <a:pPr lvl="0" indent="-457200" marL="457200">
              <a:buAutoNum type="arabicPeriod"/>
            </a:pPr>
            <a:r>
              <a:rPr/>
              <a:t>변수 이름의 철자와 대소문자는 일치합니까?</a:t>
            </a:r>
          </a:p>
          <a:p>
            <a:pPr lvl="0" indent="-457200" marL="457200">
              <a:buAutoNum type="arabicPeriod"/>
            </a:pPr>
            <a:r>
              <a:rPr/>
              <a:t>수정한 코드를 실행하여 결과를 확인합니다.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변수는 값을 저장하고 다시 사용하기 위한 이름입니다.</a:t>
            </a:r>
          </a:p>
          <a:p>
            <a:pPr lvl="0"/>
            <a:r>
              <a:rPr/>
              <a:t>기본 자료형에는 숫자형, 문자형, 논리형이 있습니다.</a:t>
            </a:r>
          </a:p>
          <a:p>
            <a:pPr lvl="0"/>
            <a:r>
              <a:rPr>
                <a:latin typeface="Courier"/>
              </a:rPr>
              <a:t>class()</a:t>
            </a:r>
            <a:r>
              <a:rPr/>
              <a:t>와 </a:t>
            </a:r>
            <a:r>
              <a:rPr>
                <a:latin typeface="Courier"/>
              </a:rPr>
              <a:t>typeof()</a:t>
            </a:r>
            <a:r>
              <a:rPr/>
              <a:t>로 객체의 자료형을 확인할 수 있습니다.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는 값이 없음을 나타내고 </a:t>
            </a:r>
            <a:r>
              <a:rPr>
                <a:latin typeface="Courier"/>
              </a:rPr>
              <a:t>is.na()</a:t>
            </a:r>
            <a:r>
              <a:rPr/>
              <a:t>로 확인합니다.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 등의 함수로 자료형을 변환할 수 있습니다.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문자형 값을 저장할 때 왜 따옴표가 필요합니까?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TRUE</a:t>
            </a:r>
            <a:r>
              <a:rPr/>
              <a:t>와 </a:t>
            </a:r>
            <a:r>
              <a:rPr>
                <a:latin typeface="Courier"/>
              </a:rPr>
              <a:t>"TRUE"</a:t>
            </a:r>
            <a:r>
              <a:rPr/>
              <a:t>의 자료형은 어떻게 다릅니까?</a:t>
            </a:r>
          </a:p>
          <a:p>
            <a:pPr lvl="0" indent="-457200" marL="457200">
              <a:buAutoNum type="arabicPeriod"/>
            </a:pPr>
            <a:r>
              <a:rPr/>
              <a:t>결측값은 어떤 함수로 확인합니까?</a:t>
            </a:r>
          </a:p>
          <a:p>
            <a:pPr lvl="0" indent="-457200" marL="457200">
              <a:buAutoNum type="arabicPeriod"/>
            </a:pPr>
            <a:r>
              <a:rPr/>
              <a:t>숫자처럼 보이는 문자로 계산하려면 무엇을 해야 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같은 종류의 여러 값을 벡터로 만들고 선택하기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2차시: 변수와 기본 자료형</dc:title>
  <dc:creator/>
  <cp:keywords/>
  <dcterms:created xsi:type="dcterms:W3CDTF">2026-07-12T13:13:00Z</dcterms:created>
  <dcterms:modified xsi:type="dcterms:W3CDTF">2026-07-12T13:13:00Z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