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7" Type="http://schemas.openxmlformats.org/officeDocument/2006/relationships/tableStyles" Target="tableStyles.xml" /><Relationship Id="rId36" Type="http://schemas.openxmlformats.org/officeDocument/2006/relationships/theme" Target="theme/theme1.xml" /><Relationship Id="rId35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5EA77F-A944-4F90-A580-BFB1EBDD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247731-8C16-48CE-83E8-82961F5A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EC76E-53A1-48FD-AAA5-91D55E1A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F5A436-622D-4609-9CAD-93F62FE9C071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03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2FCBBD-DFA9-4E92-A913-26CF9C16EE1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11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51DC66-B343-4339-8DFE-F337361B7142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24DEFA-F193-42BA-A7DC-72FAB0CB111A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18FC79-1AA4-44C2-AB13-4EE8FD5EB7E8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83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65F950-2413-4CE2-8BD0-18A4BBCD72E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C3D350-ADF5-46FD-87CE-C07683F6982B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862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0C25F-30DA-4EDD-8504-44DA909B4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E1EED7-4C61-4A08-AF5B-A390C60A0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6A1FF6-51FE-4685-BA34-E0F89D45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B3851C-0BE4-4E91-95F4-2EC266D69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3CBF9E-951B-4FF6-85E6-6601F238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492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8392-3978-4394-BAB4-2437C15AD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74FF69-769F-4677-B82A-E232B25BA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2B5173-A205-47A2-953F-A236FB1D4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D21268-4ABF-4DE0-998A-28F7BFCD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EFEE9E-EDCD-4886-92ED-3796485C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E14DB4-8F62-4CD7-8DD2-AD422C0C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B169FF-FAD7-46E0-9D59-C9B5BEB076DC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90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9F672-094E-482F-8FE2-0C0D8F2E0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AF80BD-BF78-49AF-BBBA-1A773DA2C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8D6527-B034-41A0-9FC9-C530962C8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5785AA-E40F-4E95-B834-2D7649E02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A75630-B532-4D2B-BA6E-233076F4A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05AF02-6B25-4BBC-9A62-947D9883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29AF57-1554-4883-A5C0-D2E35605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02C77D-EDE4-4302-857A-97BE6DAD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813AE4-CA38-49CC-83A5-DA570C2D152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571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C5B61-FD8F-4A03-8446-AFB1FC117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17F6E7-F469-4E45-A7CA-18C4220B7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81412A-6E99-4D2F-8564-CCE9309E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B49B12-B58B-42B1-9FC8-0F11E70E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9F98D1-EC0F-4996-8D0E-19D80403D7F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93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3DAFDE-3EF4-4BC2-8C6E-53A0DCBB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806864-590A-497A-9E3B-31220A83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AE52D8-EF8D-4B38-BAE5-100369F3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78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85D79-8D84-4463-A554-36DA89022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D7BBE8-F04D-4F20-A998-2847A7EC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091599-E0C3-4951-800C-0FA8BF5C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D06458-41C2-4B2E-9AF2-A62CE366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9F72F4-84F2-4B08-8B7A-396EE76DDF2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78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8A6E4-6940-49AF-8B5F-9B16DB00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AFC852-B328-4179-BC85-EB34AC8CD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BD367B-5A0C-4ADF-98EF-314F244CC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903147-4754-4023-8B77-20EB33E5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DDB5D-EDEB-4E99-BA69-F1F76F27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872CF2-966E-422A-927F-3BD6A6E5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E2E2F7-28CA-4288-94F5-8E25DCD2A45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64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E92E6-4E61-4E2B-9F4F-D23641A2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576B3A-9062-444C-9C47-61FA4351C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1A3954-5D36-48F6-87B1-16A84AB4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A0FE3E-5C3F-4A6C-952A-7C8CB744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068D49-B037-4EA4-BE8F-2516D300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064922-4160-4D2C-A562-270D09593F3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581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94EABC-274E-4BAD-AB22-188F885A3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7306ED-34B5-4464-AFBE-9E25FC9A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C654F-F2FA-42D5-8AC8-4073F8FB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31A3EE-B6E8-4AF1-9041-45D44926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645F18-B2AB-45F4-8642-885F2B8A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5F32C9-BBE2-4217-A3E2-DE5FC68F326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58779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61F8DA-C043-4CD7-86F2-E1A0EF4CB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14F0DF-8367-4CE4-BFB7-B09F18D1638C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183F21-A1A8-463E-86D3-0CFB7A05EF38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2696ECB5-D1DE-4FA4-9CD7-1650D2029999}" type="datetimeFigureOut">
              <a:rPr altLang="ko-KR" lang="en-US" smtClean="0">
                <a:ea charset="0" panose="02000503000000020004" pitchFamily="2" typeface="Inter"/>
              </a:rPr>
              <a:pPr/>
              <a:t>2026-07-12</a:t>
            </a:fld>
            <a:endParaRPr altLang="ko-KR" lang="en-US">
              <a:ea charset="0" panose="02000503000000020004" pitchFamily="2" typeface="Inter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0C5B5C-65C9-4D66-BC46-FDE4016F57B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2730EB-AE08-4C4E-A274-945B51E99D4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812DBD89-BD24-4FCE-906C-9138E5983130}" type="slidenum">
              <a:rPr altLang="ko-KR" lang="en-US" smtClean="0">
                <a:ea charset="0" panose="02000503000000020004" pitchFamily="2" typeface="Inter"/>
              </a:rPr>
              <a:pPr/>
              <a:t>‹#›</a:t>
            </a:fld>
            <a:endParaRPr altLang="ko-KR" lang="en-US">
              <a:ea charset="0" panose="02000503000000020004" pitchFamily="2"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39533195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2차시: 변수와 기본 자료형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 기초 프로그래밍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값을 변수에 저장하고 다시 사용할 수 있다.</a:t>
            </a:r>
          </a:p>
          <a:p>
            <a:pPr lvl="0" indent="-457200" marL="457200">
              <a:buAutoNum type="arabicPeriod"/>
            </a:pPr>
            <a:r>
              <a:rPr/>
              <a:t>숫자형, 문자형, 논리형 자료를 구분할 수 있다.</a:t>
            </a:r>
          </a:p>
          <a:p>
            <a:pPr lvl="0" indent="-457200" marL="457200">
              <a:buAutoNum type="arabicPeriod"/>
            </a:pPr>
            <a:r>
              <a:rPr/>
              <a:t>객체의 값과 자료형을 확인할 수 있다.</a:t>
            </a:r>
          </a:p>
          <a:p>
            <a:pPr lvl="0" indent="-457200" marL="457200">
              <a:buAutoNum type="arabicPeriod"/>
            </a:pPr>
            <a:r>
              <a:rPr/>
              <a:t>결측값을 확인하고 기본 자료형을 변환할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선수 지식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RStudio에서 R 스크립트를 열고 저장할 수 있습니다.</a:t>
            </a:r>
          </a:p>
          <a:p>
            <a:pPr lvl="0"/>
            <a:r>
              <a:rPr>
                <a:latin typeface="Courier"/>
              </a:rPr>
              <a:t>Ctrl + Enter</a:t>
            </a:r>
            <a:r>
              <a:rPr/>
              <a:t>로 코드를 실행할 수 있습니다.</a:t>
            </a:r>
          </a:p>
          <a:p>
            <a:pPr lvl="0"/>
            <a:r>
              <a:rPr>
                <a:latin typeface="Courier"/>
              </a:rPr>
              <a:t>&lt;-</a:t>
            </a:r>
            <a:r>
              <a:rPr/>
              <a:t>를 사용해 값을 변수에 저장할 수 있습니다.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1차시 복습: 변수는 값에 붙이는 이름이다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AD0000"/>
                </a:solidFill>
                <a:latin typeface="Courier"/>
              </a:rPr>
              <a:t>1250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</a:t>
            </a:r>
          </a:p>
          <a:p>
            <a:pPr lvl="0"/>
            <a:r>
              <a:rPr>
                <a:latin typeface="Courier"/>
              </a:rPr>
              <a:t>&lt;-</a:t>
            </a:r>
            <a:r>
              <a:rPr/>
              <a:t> 오른쪽의 값을 왼쪽 이름에 저장합니다.</a:t>
            </a:r>
          </a:p>
          <a:p>
            <a:pPr lvl="0"/>
            <a:r>
              <a:rPr/>
              <a:t>저장한 값은 변수 이름으로 다시 사용할 수 있습니다.</a:t>
            </a:r>
          </a:p>
          <a:p>
            <a:pPr lvl="0"/>
            <a:r>
              <a:rPr/>
              <a:t>R에서는 생성된 변수를 </a:t>
            </a:r>
            <a:r>
              <a:rPr b="1"/>
              <a:t>객체</a:t>
            </a:r>
            <a:r>
              <a:rPr/>
              <a:t>라고도 부릅니다.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의미가 분명한 변수 이름을 사용한다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sample_name &lt;- 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AD0000"/>
                </a:solidFill>
                <a:latin typeface="Courier"/>
              </a:rPr>
              <a:t>1250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passed_qc &lt;-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</a:p>
          <a:p>
            <a:pPr lvl="0"/>
            <a:r>
              <a:rPr/>
              <a:t>이름만 보고 값의 의미를 짐작할 수 있게 작성합니다.</a:t>
            </a:r>
          </a:p>
          <a:p>
            <a:pPr lvl="0"/>
            <a:r>
              <a:rPr/>
              <a:t>여러 단어는 밑줄로 연결하는 </a:t>
            </a:r>
            <a:r>
              <a:rPr>
                <a:latin typeface="Courier"/>
              </a:rPr>
              <a:t>snake_case</a:t>
            </a:r>
            <a:r>
              <a:rPr/>
              <a:t>를 사용합니다.</a:t>
            </a:r>
          </a:p>
          <a:p>
            <a:pPr lvl="0"/>
            <a:r>
              <a:rPr/>
              <a:t>R은 대소문자를 구분합니다. </a:t>
            </a:r>
            <a:r>
              <a:rPr>
                <a:latin typeface="Courier"/>
              </a:rPr>
              <a:t>cell_count</a:t>
            </a:r>
            <a:r>
              <a:rPr/>
              <a:t>와 </a:t>
            </a:r>
            <a:r>
              <a:rPr>
                <a:latin typeface="Courier"/>
              </a:rPr>
              <a:t>Cell_count</a:t>
            </a:r>
            <a:r>
              <a:rPr/>
              <a:t>는 다릅니다.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변수 이름을 작성할 때 주의한다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좋은 이름: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sample_name &lt;- 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mito_percent &lt;- </a:t>
            </a:r>
            <a:r>
              <a:rPr>
                <a:solidFill>
                  <a:srgbClr val="AD0000"/>
                </a:solidFill>
                <a:latin typeface="Courier"/>
              </a:rPr>
              <a:t>4.2</a:t>
            </a:r>
          </a:p>
          <a:p>
            <a:pPr lvl="0" indent="0" marL="0">
              <a:buNone/>
            </a:pPr>
            <a:r>
              <a:rPr/>
              <a:t>피해야 할 이름: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my.sample.name &lt;- 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</a:p>
          <a:p>
            <a:pPr lvl="0"/>
            <a:r>
              <a:rPr/>
              <a:t>숫자로 시작하거나 공백이 들어간 이름은 사용할 수 없습니다.</a:t>
            </a:r>
          </a:p>
          <a:p>
            <a:pPr lvl="0"/>
            <a:r>
              <a:rPr/>
              <a:t>이 과정에서는 일관되게 </a:t>
            </a:r>
            <a:r>
              <a:rPr>
                <a:latin typeface="Courier"/>
              </a:rPr>
              <a:t>snake_case</a:t>
            </a:r>
            <a:r>
              <a:rPr/>
              <a:t>를 사용합니다.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자료형은 값의 종류를 나타낸다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R은 값의 종류에 따라 저장하고 처리하는 방법을 결정합니다.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자료형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의미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숫자형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1250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4.2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계산할 수 있는 수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문자형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"control_1"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글자나 이름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논리형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TRUE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참 또는 거짓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숫자형은 계산할 수 있는 값이다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AD0000"/>
                </a:solidFill>
                <a:latin typeface="Courier"/>
              </a:rPr>
              <a:t>1250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mito_percent &lt;- </a:t>
            </a:r>
            <a:r>
              <a:rPr>
                <a:solidFill>
                  <a:srgbClr val="AD0000"/>
                </a:solidFill>
                <a:latin typeface="Courier"/>
              </a:rPr>
              <a:t>4.2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mito_percent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</a:p>
          <a:p>
            <a:pPr lvl="0"/>
            <a:r>
              <a:rPr/>
              <a:t>정수와 소수는 모두 숫자형으로 다룰 수 있습니다.</a:t>
            </a:r>
          </a:p>
          <a:p>
            <a:pPr lvl="0"/>
            <a:r>
              <a:rPr/>
              <a:t>숫자형 값에는 산술 연산을 적용할 수 있습니다.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문자형은 따옴표로 감싼다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sample_name &lt;- 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condition &lt;-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sample_name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condition</a:t>
            </a:r>
          </a:p>
          <a:p>
            <a:pPr lvl="0"/>
            <a:r>
              <a:rPr/>
              <a:t>샘플 이름이나 실험 조건처럼 글자로 된 값을 저장합니다.</a:t>
            </a:r>
          </a:p>
          <a:p>
            <a:pPr lvl="0"/>
            <a:r>
              <a:rPr/>
              <a:t>큰따옴표 또는 작은따옴표를 사용할 수 있습니다.</a:t>
            </a:r>
          </a:p>
          <a:p>
            <a:pPr lvl="0"/>
            <a:r>
              <a:rPr/>
              <a:t>이 과정에서는 큰따옴표를 기본으로 사용합니다.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따옴표가 없으면 변수 이름으로 해석한다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condition &lt;-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condition</a:t>
            </a:r>
          </a:p>
          <a:p>
            <a:pPr lvl="0" indent="0" marL="0">
              <a:buNone/>
            </a:pPr>
            <a:r>
              <a:rPr/>
              <a:t>다음 코드는 </a:t>
            </a:r>
            <a:r>
              <a:rPr>
                <a:latin typeface="Courier"/>
              </a:rPr>
              <a:t>treated</a:t>
            </a:r>
            <a:r>
              <a:rPr/>
              <a:t>라는 변수를 찾으므로 오류가 발생합니다.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condition &lt;- treated</a:t>
            </a:r>
          </a:p>
          <a:p>
            <a:pPr lvl="0" indent="0" marL="1270000">
              <a:buNone/>
            </a:pPr>
            <a:r>
              <a:rPr sz="2000"/>
              <a:t>글자를 저장할 때 따옴표를 빠뜨리지 않았는지 확인합니다.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논리형은 참과 거짓을 나타낸다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passed_qc &lt;-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is_treated &lt;-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passed_qc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is_treated</a:t>
            </a:r>
          </a:p>
          <a:p>
            <a:pPr lvl="0"/>
            <a:r>
              <a:rPr/>
              <a:t>논리형 값은 </a:t>
            </a:r>
            <a:r>
              <a:rPr>
                <a:latin typeface="Courier"/>
              </a:rPr>
              <a:t>TRUE</a:t>
            </a:r>
            <a:r>
              <a:rPr/>
              <a:t>와 </a:t>
            </a:r>
            <a:r>
              <a:rPr>
                <a:latin typeface="Courier"/>
              </a:rPr>
              <a:t>FALSE</a:t>
            </a:r>
            <a:r>
              <a:rPr/>
              <a:t> 두 가지입니다.</a:t>
            </a:r>
          </a:p>
          <a:p>
            <a:pPr lvl="0"/>
            <a:r>
              <a:rPr/>
              <a:t>따옴표 없이 대문자로 작성합니다.</a:t>
            </a:r>
          </a:p>
          <a:p>
            <a:pPr lvl="0"/>
            <a:r>
              <a:rPr/>
              <a:t>품질 기준 통과 여부나 조건의 만족 여부를 표현할 때 사용합니다.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비교 연산의 결과는 논리형이다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AD0000"/>
                </a:solidFill>
                <a:latin typeface="Courier"/>
              </a:rPr>
              <a:t>1250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500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/>
                <a:gridCol w="3086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연산자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의미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왼쪽이 더 크다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&lt;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왼쪽이 더 작다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==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두 값이 같다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>
                <a:latin typeface="Courier"/>
              </a:rPr>
              <a:t>=</a:t>
            </a:r>
            <a:r>
              <a:rPr sz="2000"/>
              <a:t> 하나가 아니라 </a:t>
            </a:r>
            <a:r>
              <a:rPr sz="2000">
                <a:latin typeface="Courier"/>
              </a:rPr>
              <a:t>==</a:t>
            </a:r>
            <a:r>
              <a:rPr sz="2000"/>
              <a:t> 두 개로 같은지 비교합니다.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값을 출력해 현재 상태를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sample_name &lt;- 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sample_name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(sample_name)</a:t>
            </a:r>
          </a:p>
          <a:p>
            <a:pPr lvl="0"/>
            <a:r>
              <a:rPr/>
              <a:t>변수 이름을 실행하면 저장된 값이 출력됩니다.</a:t>
            </a:r>
          </a:p>
          <a:p>
            <a:pPr lvl="0"/>
            <a:r>
              <a:rPr>
                <a:latin typeface="Courier"/>
              </a:rPr>
              <a:t>print()</a:t>
            </a:r>
            <a:r>
              <a:rPr/>
              <a:t>를 사용해도 값을 출력할 수 있습니다.</a:t>
            </a:r>
          </a:p>
          <a:p>
            <a:pPr lvl="0"/>
            <a:r>
              <a:rPr/>
              <a:t>입문 단계에서는 자주 출력하여 중간 결과를 확인합니다.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class()</a:t>
            </a:r>
            <a:r>
              <a:rPr/>
              <a:t>로 자료형을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AD0000"/>
                </a:solidFill>
                <a:latin typeface="Courier"/>
              </a:rPr>
              <a:t>1250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sample_name &lt;- 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passed_qc &lt;-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(cell_count)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(sample_name)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(passed_qc)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class()</a:t>
            </a:r>
            <a:r>
              <a:rPr/>
              <a:t>는 객체를 사용할 때 알아야 하는 자료형을 보여 줍니다.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typeof()</a:t>
            </a:r>
            <a:r>
              <a:rPr/>
              <a:t>는 내부 저장 방식을 보여 준다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typeof</a:t>
            </a:r>
            <a:r>
              <a:rPr>
                <a:solidFill>
                  <a:srgbClr val="003B4F"/>
                </a:solidFill>
                <a:latin typeface="Courier"/>
              </a:rPr>
              <a:t>(cell_count)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typeof</a:t>
            </a:r>
            <a:r>
              <a:rPr>
                <a:solidFill>
                  <a:srgbClr val="003B4F"/>
                </a:solidFill>
                <a:latin typeface="Courier"/>
              </a:rPr>
              <a:t>(sample_name)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typeof</a:t>
            </a:r>
            <a:r>
              <a:rPr>
                <a:solidFill>
                  <a:srgbClr val="003B4F"/>
                </a:solidFill>
                <a:latin typeface="Courier"/>
              </a:rPr>
              <a:t>(passed_qc)</a:t>
            </a:r>
          </a:p>
          <a:p>
            <a:pPr lvl="0"/>
            <a:r>
              <a:rPr>
                <a:latin typeface="Courier"/>
              </a:rPr>
              <a:t>typeof()</a:t>
            </a:r>
            <a:r>
              <a:rPr/>
              <a:t>는 R이 값을 내부적으로 저장한 방식을 보여 줍니다.</a:t>
            </a:r>
          </a:p>
          <a:p>
            <a:pPr lvl="0"/>
            <a:r>
              <a:rPr>
                <a:latin typeface="Courier"/>
              </a:rPr>
              <a:t>1250</a:t>
            </a:r>
            <a:r>
              <a:rPr/>
              <a:t>은 보통 </a:t>
            </a:r>
            <a:r>
              <a:rPr>
                <a:latin typeface="Courier"/>
              </a:rPr>
              <a:t>double</a:t>
            </a:r>
            <a:r>
              <a:rPr/>
              <a:t>로 표시됩니다.</a:t>
            </a:r>
          </a:p>
          <a:p>
            <a:pPr lvl="0"/>
            <a:r>
              <a:rPr/>
              <a:t>지금은 </a:t>
            </a:r>
            <a:r>
              <a:rPr>
                <a:latin typeface="Courier"/>
              </a:rPr>
              <a:t>class()</a:t>
            </a:r>
            <a:r>
              <a:rPr/>
              <a:t>를 중심으로 확인하고, </a:t>
            </a:r>
            <a:r>
              <a:rPr>
                <a:latin typeface="Courier"/>
              </a:rPr>
              <a:t>typeof()</a:t>
            </a:r>
            <a:r>
              <a:rPr/>
              <a:t>는 차이를 관찰합니다.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변수에는 새 값을 다시 저장할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AD0000"/>
                </a:solidFill>
                <a:latin typeface="Courier"/>
              </a:rPr>
              <a:t>1250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AD0000"/>
                </a:solidFill>
                <a:latin typeface="Courier"/>
              </a:rPr>
              <a:t>1400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</a:t>
            </a:r>
          </a:p>
          <a:p>
            <a:pPr lvl="0"/>
            <a:r>
              <a:rPr/>
              <a:t>같은 변수에 새 값을 저장하면 이전 값은 바뀝니다.</a:t>
            </a:r>
          </a:p>
          <a:p>
            <a:pPr lvl="0"/>
            <a:r>
              <a:rPr/>
              <a:t>코드를 실행한 순서에 따라 현재 값이 결정됩니다.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변수를 사용하면 계산을 다시 수행하기 쉽다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AD0000"/>
                </a:solidFill>
                <a:latin typeface="Courier"/>
              </a:rPr>
              <a:t>1250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filtered_cell_count &lt;- </a:t>
            </a:r>
            <a:r>
              <a:rPr>
                <a:solidFill>
                  <a:srgbClr val="AD0000"/>
                </a:solidFill>
                <a:latin typeface="Courier"/>
              </a:rPr>
              <a:t>1100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removed_cell_count &lt;- cell_count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filtered_cell_count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removed_cell_count</a:t>
            </a:r>
          </a:p>
          <a:p>
            <a:pPr lvl="0" indent="0" marL="0">
              <a:buNone/>
            </a:pPr>
            <a:r>
              <a:rPr/>
              <a:t>원래 값이 바뀌면 같은 계산 코드를 다시 사용할 수 있습니다.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NA</a:t>
            </a:r>
            <a:r>
              <a:rPr/>
              <a:t>는 값이 없음을 나타낸다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sample_name &lt;- 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sample_name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</a:t>
            </a:r>
          </a:p>
          <a:p>
            <a:pPr lvl="0"/>
            <a:r>
              <a:rPr>
                <a:latin typeface="Courier"/>
              </a:rPr>
              <a:t>NA</a:t>
            </a:r>
            <a:r>
              <a:rPr/>
              <a:t>는 아직 측정되지 않았거나 알 수 없는 값을 나타냅니다.</a:t>
            </a:r>
          </a:p>
          <a:p>
            <a:pPr lvl="0"/>
            <a:r>
              <a:rPr/>
              <a:t>숫자 0이나 빈 문자열 </a:t>
            </a:r>
            <a:r>
              <a:rPr>
                <a:latin typeface="Courier"/>
              </a:rPr>
              <a:t>""</a:t>
            </a:r>
            <a:r>
              <a:rPr/>
              <a:t>과 의미가 다릅니다.</a:t>
            </a:r>
          </a:p>
          <a:p>
            <a:pPr lvl="0"/>
            <a:r>
              <a:rPr>
                <a:latin typeface="Courier"/>
              </a:rPr>
              <a:t>NA</a:t>
            </a:r>
            <a:r>
              <a:rPr/>
              <a:t>는 따옴표 없이 작성합니다.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is.na()</a:t>
            </a:r>
            <a:r>
              <a:rPr/>
              <a:t>로 결측값을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br/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(cell_count)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sample_name &lt;- 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(sample_name)</a:t>
            </a:r>
          </a:p>
          <a:p>
            <a:pPr lvl="0"/>
            <a:r>
              <a:rPr/>
              <a:t>결측값이면 </a:t>
            </a:r>
            <a:r>
              <a:rPr>
                <a:latin typeface="Courier"/>
              </a:rPr>
              <a:t>TRUE</a:t>
            </a:r>
            <a:r>
              <a:rPr/>
              <a:t>, 아니면 </a:t>
            </a:r>
            <a:r>
              <a:rPr>
                <a:latin typeface="Courier"/>
              </a:rPr>
              <a:t>FALSE</a:t>
            </a:r>
            <a:r>
              <a:rPr/>
              <a:t>를 반환합니다.</a:t>
            </a:r>
          </a:p>
          <a:p>
            <a:pPr lvl="0"/>
            <a:r>
              <a:rPr>
                <a:latin typeface="Courier"/>
              </a:rPr>
              <a:t>cell_count == NA</a:t>
            </a:r>
            <a:r>
              <a:rPr/>
              <a:t>로 결측값을 검사하지 않습니다.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결측값이 포함된 계산을 살펴본다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</a:p>
          <a:p>
            <a:pPr lvl="0"/>
            <a:r>
              <a:rPr/>
              <a:t>알 수 없는 값에 100을 더해도 결과는 알 수 없습니다.</a:t>
            </a:r>
          </a:p>
          <a:p>
            <a:pPr lvl="0"/>
            <a:r>
              <a:rPr/>
              <a:t>따라서 계산 결과도 </a:t>
            </a:r>
            <a:r>
              <a:rPr>
                <a:latin typeface="Courier"/>
              </a:rPr>
              <a:t>NA</a:t>
            </a:r>
            <a:r>
              <a:rPr/>
              <a:t>가 됩니다.</a:t>
            </a:r>
          </a:p>
          <a:p>
            <a:pPr lvl="0"/>
            <a:r>
              <a:rPr/>
              <a:t>결측값을 어떻게 처리할지는 분석 목적에 따라 결정해야 합니다.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자료형을 변환할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cell_count_text &lt;- </a:t>
            </a:r>
            <a:r>
              <a:rPr>
                <a:solidFill>
                  <a:srgbClr val="20794D"/>
                </a:solidFill>
                <a:latin typeface="Courier"/>
              </a:rPr>
              <a:t>"1250"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(cell_count_text)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cell_count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(cell_count)</a:t>
            </a:r>
          </a:p>
          <a:p>
            <a:pPr lvl="0"/>
            <a:r>
              <a:rPr>
                <a:latin typeface="Courier"/>
              </a:rPr>
              <a:t>as.numeric()</a:t>
            </a:r>
            <a:r>
              <a:rPr/>
              <a:t>은 숫자형으로 변환합니다.</a:t>
            </a:r>
          </a:p>
          <a:p>
            <a:pPr lvl="0"/>
            <a:r>
              <a:rPr/>
              <a:t>숫자처럼 보이는 문자도 변환 전에는 문자형입니다.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자주 사용하는 자료형 변환 함수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as.character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1250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"1250"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as.logical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"TRUE"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/>
                <a:gridCol w="3086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함수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변환 결과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as.numeric()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숫자형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as.character()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문자형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as.logical()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논리형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모든 문자를 숫자로 바꿀 수는 없다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"1250"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다음 코드는 변환할 수 없는 문자 때문에 경고가 발생하고 </a:t>
            </a:r>
            <a:r>
              <a:rPr>
                <a:latin typeface="Courier"/>
              </a:rPr>
              <a:t>NA</a:t>
            </a:r>
            <a:r>
              <a:rPr/>
              <a:t>를 만듭니다.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as.numeric("one thousand")</a:t>
            </a:r>
          </a:p>
          <a:p>
            <a:pPr lvl="0"/>
            <a:r>
              <a:rPr/>
              <a:t>경고는 코드가 중단되지는 않았지만 확인할 문제가 있다는 뜻입니다.</a:t>
            </a:r>
          </a:p>
          <a:p>
            <a:pPr lvl="0"/>
            <a:r>
              <a:rPr/>
              <a:t>변환 전에는 값이 기대한 형태인지 먼저 확인합니다.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1: 대소문자가 다르다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sample_name &lt;- 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sample_name</a:t>
            </a:r>
          </a:p>
          <a:p>
            <a:pPr lvl="0" indent="0" marL="0">
              <a:buNone/>
            </a:pPr>
            <a:r>
              <a:rPr/>
              <a:t>다음 코드는 서로 다른 이름을 사용하므로 오류가 발생합니다.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Sample_name</a:t>
            </a:r>
          </a:p>
          <a:p>
            <a:pPr lvl="0" indent="0" marL="1270000">
              <a:buNone/>
            </a:pPr>
            <a:r>
              <a:rPr sz="2000"/>
              <a:t>객체를 찾을 수 없다는 오류가 나오면 철자와 대소문자를 확인합니다.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2: 숫자처럼 보이는 문자로 계산한다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cell_count_text &lt;- </a:t>
            </a:r>
            <a:r>
              <a:rPr>
                <a:solidFill>
                  <a:srgbClr val="20794D"/>
                </a:solidFill>
                <a:latin typeface="Courier"/>
              </a:rPr>
              <a:t>"1250"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(cell_count_text)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(cell_count_text)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</a:p>
          <a:p>
            <a:pPr lvl="0"/>
            <a:r>
              <a:rPr/>
              <a:t>따옴표로 감싼 값은 문자형입니다.</a:t>
            </a:r>
          </a:p>
          <a:p>
            <a:pPr lvl="0"/>
            <a:r>
              <a:rPr/>
              <a:t>계산이 필요하면 적절한 자료형으로 변환합니다.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1: 세 가지 자료형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정보를 각각 알맞은 변수에 저장합니다.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sample_name &lt;- 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AD0000"/>
                </a:solidFill>
                <a:latin typeface="Courier"/>
              </a:rPr>
              <a:t>1250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passed_qc &lt;-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</a:p>
          <a:p>
            <a:pPr lvl="0" indent="0" marL="0">
              <a:buNone/>
            </a:pPr>
            <a:r>
              <a:rPr/>
              <a:t>각 변수의 값과 </a:t>
            </a:r>
            <a:r>
              <a:rPr>
                <a:latin typeface="Courier"/>
              </a:rPr>
              <a:t>class()</a:t>
            </a:r>
            <a:r>
              <a:rPr/>
              <a:t> 결과를 확인합니다.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2: 결측값 확인하기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doublet_rate &lt;-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doublet_rate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(doublet_rate)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doublet_rate</a:t>
            </a:r>
            <a:r>
              <a:rPr/>
              <a:t>의 값은 무엇입니까?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is.na(doublet_rate)</a:t>
            </a:r>
            <a:r>
              <a:rPr/>
              <a:t>는 왜 </a:t>
            </a:r>
            <a:r>
              <a:rPr>
                <a:latin typeface="Courier"/>
              </a:rPr>
              <a:t>TRUE</a:t>
            </a:r>
            <a:r>
              <a:rPr/>
              <a:t>를 반환합니까?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3: 자료형 변환하기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cell_count_text &lt;- </a:t>
            </a:r>
            <a:r>
              <a:rPr>
                <a:solidFill>
                  <a:srgbClr val="20794D"/>
                </a:solidFill>
                <a:latin typeface="Courier"/>
              </a:rPr>
              <a:t>"1250"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(cell_count_text)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(cell_count_text)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(cell_count)</a:t>
            </a:r>
          </a:p>
          <a:p>
            <a:pPr lvl="0" indent="0" marL="0">
              <a:buNone/>
            </a:pPr>
            <a:r>
              <a:rPr/>
              <a:t>변환 전후의 값과 자료형을 비교합니다.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4: 오류를 찾아 수정하기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코드에서 잘못된 부분을 찾습니다.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sample_name &lt;- control_1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Cell_count + 100</a:t>
            </a:r>
          </a:p>
          <a:p>
            <a:pPr lvl="0" indent="-457200" marL="457200">
              <a:buAutoNum type="arabicPeriod"/>
            </a:pPr>
            <a:r>
              <a:rPr/>
              <a:t>문자형 값에 필요한 기호는 무엇입니까?</a:t>
            </a:r>
          </a:p>
          <a:p>
            <a:pPr lvl="0" indent="-457200" marL="457200">
              <a:buAutoNum type="arabicPeriod"/>
            </a:pPr>
            <a:r>
              <a:rPr/>
              <a:t>변수 이름의 철자와 대소문자는 일치합니까?</a:t>
            </a:r>
          </a:p>
          <a:p>
            <a:pPr lvl="0" indent="-457200" marL="457200">
              <a:buAutoNum type="arabicPeriod"/>
            </a:pPr>
            <a:r>
              <a:rPr/>
              <a:t>수정한 코드를 실행하여 결과를 확인합니다.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 배운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변수는 값을 저장하고 다시 사용하기 위한 이름입니다.</a:t>
            </a:r>
          </a:p>
          <a:p>
            <a:pPr lvl="0"/>
            <a:r>
              <a:rPr/>
              <a:t>기본 자료형에는 숫자형, 문자형, 논리형이 있습니다.</a:t>
            </a:r>
          </a:p>
          <a:p>
            <a:pPr lvl="0"/>
            <a:r>
              <a:rPr>
                <a:latin typeface="Courier"/>
              </a:rPr>
              <a:t>class()</a:t>
            </a:r>
            <a:r>
              <a:rPr/>
              <a:t>와 </a:t>
            </a:r>
            <a:r>
              <a:rPr>
                <a:latin typeface="Courier"/>
              </a:rPr>
              <a:t>typeof()</a:t>
            </a:r>
            <a:r>
              <a:rPr/>
              <a:t>로 객체의 자료형을 확인할 수 있습니다.</a:t>
            </a:r>
          </a:p>
          <a:p>
            <a:pPr lvl="0"/>
            <a:r>
              <a:rPr>
                <a:latin typeface="Courier"/>
              </a:rPr>
              <a:t>NA</a:t>
            </a:r>
            <a:r>
              <a:rPr/>
              <a:t>는 값이 없음을 나타내고 </a:t>
            </a:r>
            <a:r>
              <a:rPr>
                <a:latin typeface="Courier"/>
              </a:rPr>
              <a:t>is.na()</a:t>
            </a:r>
            <a:r>
              <a:rPr/>
              <a:t>로 확인합니다.</a:t>
            </a:r>
          </a:p>
          <a:p>
            <a:pPr lvl="0"/>
            <a:r>
              <a:rPr>
                <a:latin typeface="Courier"/>
              </a:rPr>
              <a:t>as.numeric()</a:t>
            </a:r>
            <a:r>
              <a:rPr/>
              <a:t> 등의 함수로 자료형을 변환할 수 있습니다.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점검과 다음 차시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문자형 값을 저장할 때 왜 따옴표가 필요합니까?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TRUE</a:t>
            </a:r>
            <a:r>
              <a:rPr/>
              <a:t>와 </a:t>
            </a:r>
            <a:r>
              <a:rPr>
                <a:latin typeface="Courier"/>
              </a:rPr>
              <a:t>"TRUE"</a:t>
            </a:r>
            <a:r>
              <a:rPr/>
              <a:t>의 자료형은 어떻게 다릅니까?</a:t>
            </a:r>
          </a:p>
          <a:p>
            <a:pPr lvl="0" indent="-457200" marL="457200">
              <a:buAutoNum type="arabicPeriod"/>
            </a:pPr>
            <a:r>
              <a:rPr/>
              <a:t>결측값은 어떤 함수로 확인합니까?</a:t>
            </a:r>
          </a:p>
          <a:p>
            <a:pPr lvl="0" indent="-457200" marL="457200">
              <a:buAutoNum type="arabicPeriod"/>
            </a:pPr>
            <a:r>
              <a:rPr/>
              <a:t>숫자처럼 보이는 문자로 계산하려면 무엇을 해야 합니까?</a:t>
            </a:r>
          </a:p>
          <a:p>
            <a:pPr lvl="0" indent="0" marL="0">
              <a:buNone/>
            </a:pPr>
            <a:r>
              <a:rPr b="1"/>
              <a:t>다음 차시:</a:t>
            </a:r>
            <a:r>
              <a:rPr/>
              <a:t> 같은 종류의 여러 값을 벡터로 만들고 선택하기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</vt:lpstr>
      <vt:lpstr>맑은 고딕</vt:lpstr>
      <vt:lpstr>Arial</vt:lpstr>
      <vt:lpstr>Inter</vt:lpstr>
      <vt:lpstr>JetBrains Mono</vt:lpstr>
      <vt:lpstr>Office 테마</vt:lpstr>
      <vt:lpstr>R Programming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2차시: 변수와 기본 자료형</dc:title>
  <dc:creator/>
  <cp:keywords/>
  <dcterms:created xsi:type="dcterms:W3CDTF">2026-07-12T09:24:02Z</dcterms:created>
  <dcterms:modified xsi:type="dcterms:W3CDTF">2026-07-12T09:24:02Z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subtitle">
    <vt:lpwstr>R 기초 프로그래밍</vt:lpwstr>
  </property>
  <property fmtid="{D5CDD505-2E9C-101B-9397-08002B2CF9AE}" pid="8" name="toc-title">
    <vt:lpwstr>목차</vt:lpwstr>
  </property>
</Properties>
</file>