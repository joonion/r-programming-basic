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Relationship Id="rId35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EA77F-A944-4F90-A580-BFB1EBDD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47731-8C16-48CE-83E8-82961F5A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C76E-53A1-48FD-AAA5-91D55E1A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F5A436-622D-4609-9CAD-93F62FE9C071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03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2FCBBD-DFA9-4E92-A913-26CF9C16EE1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1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1DC66-B343-4339-8DFE-F337361B7142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24DEFA-F193-42BA-A7DC-72FAB0CB111A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8FC79-1AA4-44C2-AB13-4EE8FD5EB7E8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65F950-2413-4CE2-8BD0-18A4BBCD72E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C3D350-ADF5-46FD-87CE-C07683F6982B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6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0C25F-30DA-4EDD-8504-44DA909B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1EED7-4C61-4A08-AF5B-A390C60A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A1FF6-51FE-4685-BA34-E0F89D45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3851C-0BE4-4E91-95F4-2EC266D6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3CBF9E-951B-4FF6-85E6-6601F238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9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8392-3978-4394-BAB4-2437C15A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4FF69-769F-4677-B82A-E232B25BA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B5173-A205-47A2-953F-A236FB1D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21268-4ABF-4DE0-998A-28F7BFCD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FEE9E-EDCD-4886-92ED-3796485C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14DB4-8F62-4CD7-8DD2-AD422C0C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B169FF-FAD7-46E0-9D59-C9B5BEB076DC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9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9F672-094E-482F-8FE2-0C0D8F2E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AF80BD-BF78-49AF-BBBA-1A773DA2C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D6527-B034-41A0-9FC9-C530962C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5785AA-E40F-4E95-B834-2D7649E02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A75630-B532-4D2B-BA6E-233076F4A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5AF02-6B25-4BBC-9A62-947D988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29AF57-1554-4883-A5C0-D2E35605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02C77D-EDE4-4302-857A-97BE6DA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813AE4-CA38-49CC-83A5-DA570C2D152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C5B61-FD8F-4A03-8446-AFB1FC11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17F6E7-F469-4E45-A7CA-18C4220B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1412A-6E99-4D2F-8564-CCE9309E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49B12-B58B-42B1-9FC8-0F11E70E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9F98D1-EC0F-4996-8D0E-19D80403D7F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3DAFDE-3EF4-4BC2-8C6E-53A0DCBB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806864-590A-497A-9E3B-31220A83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52D8-EF8D-4B38-BAE5-100369F3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78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85D79-8D84-4463-A554-36DA8902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7BBE8-F04D-4F20-A998-2847A7EC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091599-E0C3-4951-800C-0FA8BF5C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06458-41C2-4B2E-9AF2-A62CE366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9F72F4-84F2-4B08-8B7A-396EE76DDF2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8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A6E4-6940-49AF-8B5F-9B16DB00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AFC852-B328-4179-BC85-EB34AC8CD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BD367B-5A0C-4ADF-98EF-314F244CC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03147-4754-4023-8B77-20EB33E5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DDB5D-EDEB-4E99-BA69-F1F76F27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72CF2-966E-422A-927F-3BD6A6E5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2E2F7-28CA-4288-94F5-8E25DCD2A45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E92E6-4E61-4E2B-9F4F-D23641A2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76B3A-9062-444C-9C47-61FA4351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1A3954-5D36-48F6-87B1-16A84AB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0FE3E-5C3F-4A6C-952A-7C8CB744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068D49-B037-4EA4-BE8F-2516D30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064922-4160-4D2C-A562-270D09593F3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81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94EABC-274E-4BAD-AB22-188F885A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7306ED-34B5-4464-AFBE-9E25FC9A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C654F-F2FA-42D5-8AC8-4073F8F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1A3EE-B6E8-4AF1-9041-45D44926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45F18-B2AB-45F4-8642-885F2B8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5F32C9-BBE2-4217-A3E2-DE5FC68F326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58779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61F8DA-C043-4CD7-86F2-E1A0EF4C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4F0DF-8367-4CE4-BFB7-B09F18D1638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83F21-A1A8-463E-86D3-0CFB7A05EF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2696ECB5-D1DE-4FA4-9CD7-1650D2029999}" type="datetimeFigureOut">
              <a:rPr altLang="ko-KR" lang="en-US" smtClean="0">
                <a:ea charset="0" panose="02000503000000020004" pitchFamily="2" typeface="Inter"/>
              </a:rPr>
              <a:pPr/>
              <a:t>2026-07-12</a:t>
            </a:fld>
            <a:endParaRPr altLang="ko-KR" lang="en-US">
              <a:ea charset="0" panose="02000503000000020004" pitchFamily="2" typeface="Inter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C5B5C-65C9-4D66-BC46-FDE4016F57B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730EB-AE08-4C4E-A274-945B51E99D4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812DBD89-BD24-4FCE-906C-9138E5983130}" type="slidenum">
              <a:rPr altLang="ko-KR" lang="en-US" smtClean="0">
                <a:ea charset="0" panose="02000503000000020004" pitchFamily="2" typeface="Inter"/>
              </a:rPr>
              <a:pPr/>
              <a:t>‹#›</a:t>
            </a:fld>
            <a:endParaRPr altLang="ko-KR" lang="en-US">
              <a:ea charset="0" panose="02000503000000020004" pitchFamily="2"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9533195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3차시: 벡터와 인덱싱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기초 프로그래밍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같은 종류의 여러 값을 벡터로 만들 수 있다.</a:t>
            </a:r>
          </a:p>
          <a:p>
            <a:pPr lvl="0" indent="-457200" marL="457200">
              <a:buAutoNum type="arabicPeriod"/>
            </a:pPr>
            <a:r>
              <a:rPr/>
              <a:t>위치, 이름, 조건을 이용해 벡터의 일부를 선택할 수 있다.</a:t>
            </a:r>
          </a:p>
          <a:p>
            <a:pPr lvl="0" indent="-457200" marL="457200">
              <a:buAutoNum type="arabicPeriod"/>
            </a:pPr>
            <a:r>
              <a:rPr/>
              <a:t>벡터에 연산과 기초 통계 함수를 적용할 수 있다.</a:t>
            </a:r>
          </a:p>
          <a:p>
            <a:pPr lvl="0" indent="-457200" marL="457200">
              <a:buAutoNum type="arabicPeriod"/>
            </a:pPr>
            <a:r>
              <a:rPr/>
              <a:t>결측값이 포함된 벡터를 확인하고 요약할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선수 지식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&lt;-</a:t>
            </a:r>
            <a:r>
              <a:rPr/>
              <a:t>로 값을 변수에 저장할 수 있습니다.</a:t>
            </a:r>
          </a:p>
          <a:p>
            <a:pPr lvl="0"/>
            <a:r>
              <a:rPr/>
              <a:t>숫자형, 문자형, 논리형을 구분할 수 있습니다.</a:t>
            </a:r>
          </a:p>
          <a:p>
            <a:pPr lvl="0"/>
            <a:r>
              <a:rPr>
                <a:latin typeface="Courier"/>
              </a:rPr>
              <a:t>class()</a:t>
            </a:r>
            <a:r>
              <a:rPr/>
              <a:t>, </a:t>
            </a:r>
            <a:r>
              <a:rPr>
                <a:latin typeface="Courier"/>
              </a:rPr>
              <a:t>is.na()</a:t>
            </a:r>
            <a:r>
              <a:rPr/>
              <a:t>로 객체를 확인할 수 있습니다.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2차시 복습: 변수 하나에 값 하나 저장하기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control_1_cells &lt;-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control_2_cells &lt;-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treated_1_cells &lt;-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</a:p>
          <a:p>
            <a:pPr lvl="0"/>
            <a:r>
              <a:rPr/>
              <a:t>변수가 많아질수록 같은 코드를 반복해서 작성하게 됩니다.</a:t>
            </a:r>
          </a:p>
          <a:p>
            <a:pPr lvl="0"/>
            <a:r>
              <a:rPr/>
              <a:t>여러 값을 하나의 객체로 묶으면 함께 처리하기 쉽습니다.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벡터는 여러 값을 순서대로 모은 객체다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</a:t>
            </a:r>
          </a:p>
          <a:p>
            <a:pPr lvl="0"/>
            <a:r>
              <a:rPr>
                <a:latin typeface="Courier"/>
              </a:rPr>
              <a:t>c()</a:t>
            </a:r>
            <a:r>
              <a:rPr/>
              <a:t>는 여러 값을 하나로 결합합니다.</a:t>
            </a:r>
          </a:p>
          <a:p>
            <a:pPr lvl="0"/>
            <a:r>
              <a:rPr/>
              <a:t>벡터의 각 값을 </a:t>
            </a:r>
            <a:r>
              <a:rPr b="1"/>
              <a:t>원소</a:t>
            </a:r>
            <a:r>
              <a:rPr/>
              <a:t>라고 합니다.</a:t>
            </a:r>
          </a:p>
          <a:p>
            <a:pPr lvl="0"/>
            <a:r>
              <a:rPr/>
              <a:t>원소는 입력한 순서대로 저장됩니다.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문자형과 논리형 벡터도 만들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sample_names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"control_2"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"treated_1"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passed_qc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sample_names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passed_qc</a:t>
            </a:r>
          </a:p>
          <a:p>
            <a:pPr lvl="0" indent="0" marL="0">
              <a:buNone/>
            </a:pPr>
            <a:r>
              <a:rPr/>
              <a:t>벡터는 숫자뿐 아니라 문자와 논리값도 담을 수 있습니다.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벡터의 원소는 같은 자료형을 가진다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mixed_values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mixed_values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(mixed_values)</a:t>
            </a:r>
          </a:p>
          <a:p>
            <a:pPr lvl="0"/>
            <a:r>
              <a:rPr/>
              <a:t>R은 하나의 벡터에서 원소의 자료형을 맞춥니다.</a:t>
            </a:r>
          </a:p>
          <a:p>
            <a:pPr lvl="0"/>
            <a:r>
              <a:rPr/>
              <a:t>위 예에서는 모든 값이 문자형으로 변환됩니다.</a:t>
            </a:r>
          </a:p>
          <a:p>
            <a:pPr lvl="0"/>
            <a:r>
              <a:rPr/>
              <a:t>서로 다른 종류의 정보를 한 벡터에 섞지 않는 것이 좋습니다.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벡터의 값과 구조를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typeof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</a:p>
          <a:p>
            <a:pPr lvl="0"/>
            <a:r>
              <a:rPr>
                <a:latin typeface="Courier"/>
              </a:rPr>
              <a:t>class()</a:t>
            </a:r>
            <a:r>
              <a:rPr/>
              <a:t>와 </a:t>
            </a:r>
            <a:r>
              <a:rPr>
                <a:latin typeface="Courier"/>
              </a:rPr>
              <a:t>typeof()</a:t>
            </a:r>
            <a:r>
              <a:rPr/>
              <a:t>는 자료형을 확인합니다.</a:t>
            </a:r>
          </a:p>
          <a:p>
            <a:pPr lvl="0"/>
            <a:r>
              <a:rPr>
                <a:latin typeface="Courier"/>
              </a:rPr>
              <a:t>length()</a:t>
            </a:r>
            <a:r>
              <a:rPr/>
              <a:t>는 원소의 개수를 반환합니다.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규칙적인 숫자 벡터를 만들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sample_numbers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sample_numbers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even_numbers &lt;- 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from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even_numbers</a:t>
            </a:r>
          </a:p>
          <a:p>
            <a:pPr lvl="0"/>
            <a:r>
              <a:rPr>
                <a:latin typeface="Courier"/>
              </a:rPr>
              <a:t>:</a:t>
            </a:r>
            <a:r>
              <a:rPr/>
              <a:t>는 1씩 증가하거나 감소하는 연속된 숫자를 만듭니다.</a:t>
            </a:r>
          </a:p>
          <a:p>
            <a:pPr lvl="0"/>
            <a:r>
              <a:rPr>
                <a:latin typeface="Courier"/>
              </a:rPr>
              <a:t>seq()</a:t>
            </a:r>
            <a:r>
              <a:rPr/>
              <a:t>는 시작, 끝, 간격을 지정할 수 있습니다.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같은 값을 반복할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control_labels &lt;-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times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control_labels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qc_flags &lt;- </a:t>
            </a:r>
            <a:r>
              <a:rPr>
                <a:solidFill>
                  <a:srgbClr val="4758AB"/>
                </a:solidFill>
                <a:latin typeface="Courier"/>
              </a:rPr>
              <a:t>rep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times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qc_flags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rep()</a:t>
            </a:r>
            <a:r>
              <a:rPr/>
              <a:t>는 같은 값이나 벡터를 지정한 횟수만큼 반복합니다.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인덱싱은 필요한 원소를 선택하는 방법이다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/>
            <a:r>
              <a:rPr/>
              <a:t>대괄호 </a:t>
            </a:r>
            <a:r>
              <a:rPr>
                <a:latin typeface="Courier"/>
              </a:rPr>
              <a:t>[]</a:t>
            </a:r>
            <a:r>
              <a:rPr/>
              <a:t> 안에 선택 기준을 작성합니다.</a:t>
            </a:r>
          </a:p>
          <a:p>
            <a:pPr lvl="0"/>
            <a:r>
              <a:rPr/>
              <a:t>R의 위치 번호는 1부터 시작합니다.</a:t>
            </a:r>
          </a:p>
          <a:p>
            <a:pPr lvl="0"/>
            <a:r>
              <a:rPr>
                <a:latin typeface="Courier"/>
              </a:rPr>
              <a:t>cell_counts[1]</a:t>
            </a:r>
            <a:r>
              <a:rPr/>
              <a:t>은 첫 번째 원소를 선택합니다.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위치로 여러 원소를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1420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cell_counts[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/>
            <a:r>
              <a:rPr/>
              <a:t>선택할 위치도 벡터로 전달할 수 있습니다.</a:t>
            </a:r>
          </a:p>
          <a:p>
            <a:pPr lvl="0"/>
            <a:r>
              <a:rPr/>
              <a:t>선택 결과 역시 벡터입니다.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음수 위치는 해당 원소를 제외한다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1420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cell_counts[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cell_counts[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)]</a:t>
            </a:r>
          </a:p>
          <a:p>
            <a:pPr lvl="0"/>
            <a:r>
              <a:rPr/>
              <a:t>음수 위치는 그 위치를 빼고 나머지를 선택합니다.</a:t>
            </a:r>
          </a:p>
          <a:p>
            <a:pPr lvl="0"/>
            <a:r>
              <a:rPr/>
              <a:t>양수 위치와 음수 위치를 한 번에 섞어 사용할 수 없습니다.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벡터의 원소에 이름을 붙일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control_1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control_2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treated_1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</a:p>
          <a:p>
            <a:pPr lvl="0" indent="0" marL="0">
              <a:buNone/>
            </a:pPr>
            <a:r>
              <a:rPr/>
              <a:t>이름을 붙이면 각 값이 어떤 샘플에 해당하는지 알기 쉽습니다.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이름으로 원소를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cell_counts[</a:t>
            </a:r>
            <a:r>
              <a:rPr>
                <a:solidFill>
                  <a:srgbClr val="20794D"/>
                </a:solidFill>
                <a:latin typeface="Courier"/>
              </a:rPr>
              <a:t>"control_2"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cell_counts[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"treated_1"</a:t>
            </a:r>
            <a:r>
              <a:rPr>
                <a:solidFill>
                  <a:srgbClr val="003B4F"/>
                </a:solidFill>
                <a:latin typeface="Courier"/>
              </a:rPr>
              <a:t>)]</a:t>
            </a:r>
          </a:p>
          <a:p>
            <a:pPr lvl="0"/>
            <a:r>
              <a:rPr/>
              <a:t>위치를 외우지 않고 의미 있는 이름으로 선택할 수 있습니다.</a:t>
            </a:r>
          </a:p>
          <a:p>
            <a:pPr lvl="0"/>
            <a:r>
              <a:rPr/>
              <a:t>이름은 따옴표로 감싼 문자형 값입니다.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비교 연산은 논리형 벡터를 만든다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1420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cell_counts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</a:p>
          <a:p>
            <a:pPr lvl="0" indent="0" marL="0">
              <a:buNone/>
            </a:pPr>
            <a:r>
              <a:rPr/>
              <a:t>각 원소를 1200과 비교하여 </a:t>
            </a:r>
            <a:r>
              <a:rPr>
                <a:latin typeface="Courier"/>
              </a:rPr>
              <a:t>TRUE</a:t>
            </a:r>
            <a:r>
              <a:rPr/>
              <a:t> 또는 </a:t>
            </a:r>
            <a:r>
              <a:rPr>
                <a:latin typeface="Courier"/>
              </a:rPr>
              <a:t>FALSE</a:t>
            </a:r>
            <a:r>
              <a:rPr/>
              <a:t>를 반환합니다.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논리형 벡터로 원소를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enough_cells &lt;- cell_counts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enough_cells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cell_counts[enough_cells]</a:t>
            </a:r>
          </a:p>
          <a:p>
            <a:pPr lvl="0"/>
            <a:r>
              <a:rPr>
                <a:latin typeface="Courier"/>
              </a:rPr>
              <a:t>TRUE</a:t>
            </a:r>
            <a:r>
              <a:rPr/>
              <a:t>인 위치의 원소만 선택됩니다.</a:t>
            </a:r>
          </a:p>
          <a:p>
            <a:pPr lvl="0"/>
            <a:r>
              <a:rPr/>
              <a:t>비교와 선택을 한 줄로 작성할 수도 있습니다.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cell_counts[cell_counts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문자형 벡터도 조건으로 선택할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1420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conditions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cell_counts[conditions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/>
              <a:t>두 벡터의 같은 위치가 같은 샘플을 나타내도록 순서를 맞춰야 합니다.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 연산은 모든 원소에 적용된다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cell_counts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</a:p>
          <a:p>
            <a:pPr lvl="0"/>
            <a:r>
              <a:rPr/>
              <a:t>반복문을 작성하지 않아도 각 원소에 계산이 적용됩니다.</a:t>
            </a:r>
          </a:p>
          <a:p>
            <a:pPr lvl="0"/>
            <a:r>
              <a:rPr/>
              <a:t>이를 </a:t>
            </a:r>
            <a:r>
              <a:rPr b="1"/>
              <a:t>벡터화 연산</a:t>
            </a:r>
            <a:r>
              <a:rPr/>
              <a:t>이라고 합니다.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같은 길이의 벡터끼리 계산할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raw_counts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filtered_counts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removed_counts &lt;- raw_counts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filtered_counts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removed_counts</a:t>
            </a:r>
          </a:p>
          <a:p>
            <a:pPr lvl="0" indent="0" marL="0">
              <a:buNone/>
            </a:pPr>
            <a:r>
              <a:rPr/>
              <a:t>같은 위치의 원소끼리 계산됩니다.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 길이가 다르면 주의한다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1420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offsets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cell_counts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offsets</a:t>
            </a:r>
          </a:p>
          <a:p>
            <a:pPr lvl="0"/>
            <a:r>
              <a:rPr/>
              <a:t>짧은 벡터가 반복되어 계산될 수 있습니다.</a:t>
            </a:r>
          </a:p>
          <a:p>
            <a:pPr lvl="0"/>
            <a:r>
              <a:rPr/>
              <a:t>이를 </a:t>
            </a:r>
            <a:r>
              <a:rPr b="1"/>
              <a:t>재활용 규칙</a:t>
            </a:r>
            <a:r>
              <a:rPr/>
              <a:t>이라고 합니다.</a:t>
            </a:r>
          </a:p>
          <a:p>
            <a:pPr lvl="0"/>
            <a:r>
              <a:rPr/>
              <a:t>의도하지 않은 계산을 피하려면 벡터 길이를 먼저 확인합니다.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기초 통계 함수로 벡터를 요약한다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1420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min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</a:p>
          <a:p>
            <a:pPr lvl="0" indent="0" marL="0">
              <a:buNone/>
            </a:pPr>
            <a:r>
              <a:rPr/>
              <a:t>여러 값을 하나의 대표값으로 요약할 수 있습니다.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summary()</a:t>
            </a:r>
            <a:r>
              <a:rPr/>
              <a:t>로 여러 요약값을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summary()</a:t>
            </a:r>
            <a:r>
              <a:rPr/>
              <a:t>는 최솟값, 사분위수, 중앙값, 평균, 최댓값을 함께 보여 줍니다.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NA</a:t>
            </a:r>
            <a:r>
              <a:rPr/>
              <a:t>가 있으면 요약 결과도 </a:t>
            </a:r>
            <a:r>
              <a:rPr>
                <a:latin typeface="Courier"/>
              </a:rPr>
              <a:t>NA</a:t>
            </a:r>
            <a:r>
              <a:rPr/>
              <a:t>가 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1420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</a:p>
          <a:p>
            <a:pPr lvl="0" indent="0" marL="0">
              <a:buNone/>
            </a:pPr>
            <a:r>
              <a:rPr/>
              <a:t>알 수 없는 값이 포함되어 있으므로 평균도 바로 계산할 수 없습니다.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na.rm = TRUE</a:t>
            </a:r>
            <a:r>
              <a:rPr/>
              <a:t>로 결측값을 제외할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(cell_counts,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(cell_counts,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>
                <a:latin typeface="Courier"/>
              </a:rPr>
              <a:t>na.rm</a:t>
            </a:r>
            <a:r>
              <a:rPr/>
              <a:t>은 결측값 제거 여부를 정하는 인자입니다.</a:t>
            </a:r>
          </a:p>
          <a:p>
            <a:pPr lvl="0"/>
            <a:r>
              <a:rPr>
                <a:latin typeface="Courier"/>
              </a:rPr>
              <a:t>TRUE</a:t>
            </a:r>
            <a:r>
              <a:rPr/>
              <a:t>로 지정하면 </a:t>
            </a:r>
            <a:r>
              <a:rPr>
                <a:latin typeface="Courier"/>
              </a:rPr>
              <a:t>NA</a:t>
            </a:r>
            <a:r>
              <a:rPr/>
              <a:t>를 제외하고 계산합니다.</a:t>
            </a:r>
          </a:p>
          <a:p>
            <a:pPr lvl="0"/>
            <a:r>
              <a:rPr/>
              <a:t>결측값을 제외해도 되는지는 분석 목적에 따라 판단해야 합니다.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결측값의 위치와 개수를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(cell_counts))</a:t>
            </a:r>
          </a:p>
          <a:p>
            <a:pPr lvl="0"/>
            <a:r>
              <a:rPr>
                <a:latin typeface="Courier"/>
              </a:rPr>
              <a:t>is.na()</a:t>
            </a:r>
            <a:r>
              <a:rPr/>
              <a:t>는 각 원소가 결측값인지 확인합니다.</a:t>
            </a:r>
          </a:p>
          <a:p>
            <a:pPr lvl="0"/>
            <a:r>
              <a:rPr/>
              <a:t>R에서 </a:t>
            </a:r>
            <a:r>
              <a:rPr>
                <a:latin typeface="Courier"/>
              </a:rPr>
              <a:t>TRUE</a:t>
            </a:r>
            <a:r>
              <a:rPr/>
              <a:t>는 계산할 때 1처럼 사용할 수 있습니다.</a:t>
            </a:r>
          </a:p>
          <a:p>
            <a:pPr lvl="0"/>
            <a:r>
              <a:rPr/>
              <a:t>따라서 </a:t>
            </a:r>
            <a:r>
              <a:rPr>
                <a:latin typeface="Courier"/>
              </a:rPr>
              <a:t>sum(is.na(...))</a:t>
            </a:r>
            <a:r>
              <a:rPr/>
              <a:t>는 결측값의 개수를 셉니다.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벡터 만들고 확인하기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sample_names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"control_2"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"treated_1"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passed_qc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각 벡터의 값, 자료형, 길이를 확인합니다.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2: 필요한 원소 선택하기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cell_counts[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cell_counts[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cell_counts[cell_counts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/>
              <a:t>위치 선택과 조건 선택의 결과를 비교합니다.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3: 벡터 계산하고 요약하기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filtered_counts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1100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removed_counts &lt;- cell_counts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filtered_counts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removed_counts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(filtered_counts)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(filtered_counts)</a:t>
            </a:r>
          </a:p>
          <a:p>
            <a:pPr lvl="0" indent="0" marL="0">
              <a:buNone/>
            </a:pPr>
            <a:r>
              <a:rPr/>
              <a:t>어떤 샘플의 제거된 세포 수가 가장 많습니까?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4: 결측값 다루기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gene_counts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18000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19500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(gene_counts)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(gene_counts))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(gene_counts,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na.rm = TRUE</a:t>
            </a:r>
            <a:r>
              <a:rPr/>
              <a:t>를 사용하기 전후의 평균 결과를 비교합니다.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 배운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c()</a:t>
            </a:r>
            <a:r>
              <a:rPr/>
              <a:t>로 같은 종류의 여러 값을 벡터로 만듭니다.</a:t>
            </a:r>
          </a:p>
          <a:p>
            <a:pPr lvl="0"/>
            <a:r>
              <a:rPr>
                <a:latin typeface="Courier"/>
              </a:rPr>
              <a:t>[]</a:t>
            </a:r>
            <a:r>
              <a:rPr/>
              <a:t> 안에 위치, 이름, 조건을 지정하여 원소를 선택합니다.</a:t>
            </a:r>
          </a:p>
          <a:p>
            <a:pPr lvl="0"/>
            <a:r>
              <a:rPr/>
              <a:t>벡터화 연산은 각 원소에 같은 계산을 적용합니다.</a:t>
            </a:r>
          </a:p>
          <a:p>
            <a:pPr lvl="0"/>
            <a:r>
              <a:rPr>
                <a:latin typeface="Courier"/>
              </a:rPr>
              <a:t>mean()</a:t>
            </a:r>
            <a:r>
              <a:rPr/>
              <a:t>, </a:t>
            </a:r>
            <a:r>
              <a:rPr>
                <a:latin typeface="Courier"/>
              </a:rPr>
              <a:t>sum()</a:t>
            </a:r>
            <a:r>
              <a:rPr/>
              <a:t> 등의 함수로 벡터를 요약합니다.</a:t>
            </a:r>
          </a:p>
          <a:p>
            <a:pPr lvl="0"/>
            <a:r>
              <a:rPr>
                <a:latin typeface="Courier"/>
              </a:rPr>
              <a:t>NA</a:t>
            </a:r>
            <a:r>
              <a:rPr/>
              <a:t>가 있으면 확인한 뒤 필요할 때 </a:t>
            </a:r>
            <a:r>
              <a:rPr>
                <a:latin typeface="Courier"/>
              </a:rPr>
              <a:t>na.rm = TRUE</a:t>
            </a:r>
            <a:r>
              <a:rPr/>
              <a:t>를 사용합니다.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점검과 다음 차시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R에서 벡터의 첫 번째 원소는 어떤 위치 번호를 가집니까?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cell_counts[-1]</a:t>
            </a:r>
            <a:r>
              <a:rPr/>
              <a:t>은 무엇을 선택합니까?</a:t>
            </a:r>
          </a:p>
          <a:p>
            <a:pPr lvl="0" indent="-457200" marL="457200">
              <a:buAutoNum type="arabicPeriod"/>
            </a:pPr>
            <a:r>
              <a:rPr/>
              <a:t>조건 인덱싱에서 어떤 위치의 원소가 선택됩니까?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NA</a:t>
            </a:r>
            <a:r>
              <a:rPr/>
              <a:t>를 제외하고 평균을 구하려면 어떻게 작성합니까?</a:t>
            </a:r>
          </a:p>
          <a:p>
            <a:pPr lvl="0" indent="0" marL="0">
              <a:buNone/>
            </a:pPr>
            <a:r>
              <a:rPr b="1"/>
              <a:t>다음 차시:</a:t>
            </a:r>
            <a:r>
              <a:rPr/>
              <a:t> 벡터를 행과 열로 배치한 행렬과 범주형 자료를 표현하는 팩터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맑은 고딕</vt:lpstr>
      <vt:lpstr>Arial</vt:lpstr>
      <vt:lpstr>Inter</vt:lpstr>
      <vt:lpstr>JetBrains Mono</vt:lpstr>
      <vt:lpstr>Office 테마</vt:lpstr>
      <vt:lpstr>R Programming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3차시: 벡터와 인덱싱</dc:title>
  <dc:creator/>
  <cp:keywords/>
  <dcterms:created xsi:type="dcterms:W3CDTF">2026-07-12T11:15:52Z</dcterms:created>
  <dcterms:modified xsi:type="dcterms:W3CDTF">2026-07-12T11:15:52Z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R 기초 프로그래밍</vt:lpwstr>
  </property>
  <property fmtid="{D5CDD505-2E9C-101B-9397-08002B2CF9AE}" pid="9" name="toc-title">
    <vt:lpwstr>목차</vt:lpwstr>
  </property>
</Properties>
</file>