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Relationship Id="rId3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3차시: 벡터와 인덱싱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같은 종류의 여러 값을 벡터로 만들 수 있다.</a:t>
            </a:r>
          </a:p>
          <a:p>
            <a:pPr lvl="0" indent="-457200" marL="457200">
              <a:buAutoNum type="arabicPeriod"/>
            </a:pPr>
            <a:r>
              <a:rPr/>
              <a:t>위치, 이름, 조건을 이용해 벡터의 일부를 선택할 수 있다.</a:t>
            </a:r>
          </a:p>
          <a:p>
            <a:pPr lvl="0" indent="-457200" marL="457200">
              <a:buAutoNum type="arabicPeriod"/>
            </a:pPr>
            <a:r>
              <a:rPr/>
              <a:t>벡터에 연산과 기초 통계 함수를 적용할 수 있다.</a:t>
            </a:r>
          </a:p>
          <a:p>
            <a:pPr lvl="0" indent="-457200" marL="457200">
              <a:buAutoNum type="arabicPeriod"/>
            </a:pPr>
            <a:r>
              <a:rPr/>
              <a:t>결측값이 포함된 벡터를 확인하고 요약할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&lt;-</a:t>
            </a:r>
            <a:r>
              <a:rPr/>
              <a:t>로 값을 변수에 저장할 수 있습니다.</a:t>
            </a:r>
          </a:p>
          <a:p>
            <a:pPr lvl="0"/>
            <a:r>
              <a:rPr/>
              <a:t>숫자형, 문자형, 논리형을 구분할 수 있습니다.</a:t>
            </a:r>
          </a:p>
          <a:p>
            <a:pPr lvl="0"/>
            <a:r>
              <a:rPr>
                <a:latin typeface="Courier"/>
              </a:rPr>
              <a:t>class()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로 객체를 확인할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2차시 복습: 변수 하나에 값 하나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control_1_cells &lt;-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control_2_cells &lt;-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treated_1_cells &lt;-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</a:p>
          <a:p>
            <a:pPr lvl="0"/>
            <a:r>
              <a:rPr/>
              <a:t>변수가 많아질수록 같은 코드를 반복해서 작성하게 됩니다.</a:t>
            </a:r>
          </a:p>
          <a:p>
            <a:pPr lvl="0"/>
            <a:r>
              <a:rPr/>
              <a:t>여러 값을 하나의 객체로 묶으면 함께 처리하기 쉽습니다.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벡터는 여러 값을 순서대로 모은 객체다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</a:t>
            </a:r>
          </a:p>
          <a:p>
            <a:pPr lvl="0"/>
            <a:r>
              <a:rPr>
                <a:latin typeface="Courier"/>
              </a:rPr>
              <a:t>c()</a:t>
            </a:r>
            <a:r>
              <a:rPr/>
              <a:t>는 여러 값을 하나로 결합합니다.</a:t>
            </a:r>
          </a:p>
          <a:p>
            <a:pPr lvl="0"/>
            <a:r>
              <a:rPr/>
              <a:t>벡터의 각 값을 </a:t>
            </a:r>
            <a:r>
              <a:rPr b="1"/>
              <a:t>원소</a:t>
            </a:r>
            <a:r>
              <a:rPr/>
              <a:t>라고 합니다.</a:t>
            </a:r>
          </a:p>
          <a:p>
            <a:pPr lvl="0"/>
            <a:r>
              <a:rPr/>
              <a:t>원소는 입력한 순서대로 저장됩니다.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문자형과 논리형 벡터도 만들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</a:p>
          <a:p>
            <a:pPr lvl="0" indent="0" marL="0">
              <a:buNone/>
            </a:pPr>
            <a:r>
              <a:rPr/>
              <a:t>벡터는 숫자뿐 아니라 문자와 논리값도 담을 수 있습니다.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벡터의 원소는 같은 자료형을 가진다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mixed_values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mixed_values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(mixed_values)</a:t>
            </a:r>
          </a:p>
          <a:p>
            <a:pPr lvl="0"/>
            <a:r>
              <a:rPr/>
              <a:t>R은 하나의 벡터에서 원소의 자료형을 맞춥니다.</a:t>
            </a:r>
          </a:p>
          <a:p>
            <a:pPr lvl="0"/>
            <a:r>
              <a:rPr/>
              <a:t>위 예에서는 모든 값이 문자형으로 변환됩니다.</a:t>
            </a:r>
          </a:p>
          <a:p>
            <a:pPr lvl="0"/>
            <a:r>
              <a:rPr/>
              <a:t>서로 다른 종류의 정보를 한 벡터에 섞지 않는 것이 좋습니다.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벡터의 값과 구조를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>
                <a:latin typeface="Courier"/>
              </a:rPr>
              <a:t>class()</a:t>
            </a:r>
            <a:r>
              <a:rPr/>
              <a:t>와 </a:t>
            </a:r>
            <a:r>
              <a:rPr>
                <a:latin typeface="Courier"/>
              </a:rPr>
              <a:t>typeof()</a:t>
            </a:r>
            <a:r>
              <a:rPr/>
              <a:t>는 자료형을 확인합니다.</a:t>
            </a:r>
          </a:p>
          <a:p>
            <a:pPr lvl="0"/>
            <a:r>
              <a:rPr>
                <a:latin typeface="Courier"/>
              </a:rPr>
              <a:t>length()</a:t>
            </a:r>
            <a:r>
              <a:rPr/>
              <a:t>는 원소의 개수를 반환합니다.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규칙적인 숫자 벡터를 만들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sample_numbers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sample_numbers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even_numbers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even_numbers</a:t>
            </a:r>
          </a:p>
          <a:p>
            <a:pPr lvl="0"/>
            <a:r>
              <a:rPr>
                <a:latin typeface="Courier"/>
              </a:rPr>
              <a:t>:</a:t>
            </a:r>
            <a:r>
              <a:rPr/>
              <a:t>는 1씩 증가하거나 감소하는 연속된 숫자를 만듭니다.</a:t>
            </a:r>
          </a:p>
          <a:p>
            <a:pPr lvl="0"/>
            <a:r>
              <a:rPr>
                <a:latin typeface="Courier"/>
              </a:rPr>
              <a:t>seq()</a:t>
            </a:r>
            <a:r>
              <a:rPr/>
              <a:t>는 시작, 끝, 간격을 지정할 수 있습니다.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 값을 반복할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control_labels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control_labels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qc_flags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qc_flags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rep()</a:t>
            </a:r>
            <a:r>
              <a:rPr/>
              <a:t>는 같은 값이나 벡터를 지정한 횟수만큼 반복합니다.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인덱싱은 필요한 원소를 선택하는 방법이다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대괄호 </a:t>
            </a:r>
            <a:r>
              <a:rPr>
                <a:latin typeface="Courier"/>
              </a:rPr>
              <a:t>[]</a:t>
            </a:r>
            <a:r>
              <a:rPr/>
              <a:t> 안에 선택 기준을 작성합니다.</a:t>
            </a:r>
          </a:p>
          <a:p>
            <a:pPr lvl="0"/>
            <a:r>
              <a:rPr/>
              <a:t>R의 위치 번호는 1부터 시작합니다.</a:t>
            </a:r>
          </a:p>
          <a:p>
            <a:pPr lvl="0"/>
            <a:r>
              <a:rPr>
                <a:latin typeface="Courier"/>
              </a:rPr>
              <a:t>cell_counts[1]</a:t>
            </a:r>
            <a:r>
              <a:rPr/>
              <a:t>은 첫 번째 원소를 선택합니다.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위치로 여러 원소를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선택할 위치도 벡터로 전달할 수 있습니다.</a:t>
            </a:r>
          </a:p>
          <a:p>
            <a:pPr lvl="0"/>
            <a:r>
              <a:rPr/>
              <a:t>선택 결과 역시 벡터입니다.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음수 위치는 해당 원소를 제외한다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/>
            <a:r>
              <a:rPr/>
              <a:t>음수 위치는 그 위치를 빼고 나머지를 선택합니다.</a:t>
            </a:r>
          </a:p>
          <a:p>
            <a:pPr lvl="0"/>
            <a:r>
              <a:rPr/>
              <a:t>양수 위치와 음수 위치를 한 번에 섞어 사용할 수 없습니다.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벡터의 원소에 이름을 붙일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control_1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control_2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treated_1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이름을 붙이면 각 값이 어떤 샘플에 해당하는지 알기 쉽습니다.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이름으로 원소를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/>
            <a:r>
              <a:rPr/>
              <a:t>위치를 외우지 않고 의미 있는 이름으로 선택할 수 있습니다.</a:t>
            </a:r>
          </a:p>
          <a:p>
            <a:pPr lvl="0"/>
            <a:r>
              <a:rPr/>
              <a:t>이름은 따옴표로 감싼 문자형 값입니다.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비교 연산은 논리형 벡터를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</a:p>
          <a:p>
            <a:pPr lvl="0" indent="0" marL="0">
              <a:buNone/>
            </a:pPr>
            <a:r>
              <a:rPr/>
              <a:t>각 원소를 1200과 비교하여 </a:t>
            </a:r>
            <a:r>
              <a:rPr>
                <a:latin typeface="Courier"/>
              </a:rPr>
              <a:t>TRUE</a:t>
            </a:r>
            <a:r>
              <a:rPr/>
              <a:t> 또는 </a:t>
            </a:r>
            <a:r>
              <a:rPr>
                <a:latin typeface="Courier"/>
              </a:rPr>
              <a:t>FALSE</a:t>
            </a:r>
            <a:r>
              <a:rPr/>
              <a:t>를 반환합니다.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논리형 벡터로 원소를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enough_cells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cell_counts[enough_cells]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인 위치의 원소만 선택됩니다.</a:t>
            </a:r>
          </a:p>
          <a:p>
            <a:pPr lvl="0"/>
            <a:r>
              <a:rPr/>
              <a:t>비교와 선택을 한 줄로 작성할 수도 있습니다.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cell_counts[cell_counts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문자형 벡터도 조건으로 선택할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cell_counts[conditions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두 벡터의 같은 위치가 같은 샘플을 나타내도록 순서를 맞춰야 합니다.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 연산은 모든 원소에 적용된다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</a:p>
          <a:p>
            <a:pPr lvl="0"/>
            <a:r>
              <a:rPr/>
              <a:t>반복문을 작성하지 않아도 각 원소에 계산이 적용됩니다.</a:t>
            </a:r>
          </a:p>
          <a:p>
            <a:pPr lvl="0"/>
            <a:r>
              <a:rPr/>
              <a:t>이를 </a:t>
            </a:r>
            <a:r>
              <a:rPr b="1"/>
              <a:t>벡터화 연산</a:t>
            </a:r>
            <a:r>
              <a:rPr/>
              <a:t>이라고 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 길이의 벡터끼리 계산할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filtered_counts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removed_counts &lt;- raw_counts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filtered_counts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removed_counts</a:t>
            </a:r>
          </a:p>
          <a:p>
            <a:pPr lvl="0" indent="0" marL="0">
              <a:buNone/>
            </a:pPr>
            <a:r>
              <a:rPr/>
              <a:t>같은 위치의 원소끼리 계산됩니다.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 길이가 다르면 주의한다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offsets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offsets</a:t>
            </a:r>
          </a:p>
          <a:p>
            <a:pPr lvl="0"/>
            <a:r>
              <a:rPr/>
              <a:t>짧은 벡터가 반복되어 계산될 수 있습니다.</a:t>
            </a:r>
          </a:p>
          <a:p>
            <a:pPr lvl="0"/>
            <a:r>
              <a:rPr/>
              <a:t>이를 </a:t>
            </a:r>
            <a:r>
              <a:rPr b="1"/>
              <a:t>재활용 규칙</a:t>
            </a:r>
            <a:r>
              <a:rPr/>
              <a:t>이라고 합니다.</a:t>
            </a:r>
          </a:p>
          <a:p>
            <a:pPr lvl="0"/>
            <a:r>
              <a:rPr/>
              <a:t>의도하지 않은 계산을 피하려면 벡터 길이를 먼저 확인합니다.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기초 통계 함수로 벡터를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여러 값을 하나의 대표값으로 요약할 수 있습니다.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로 여러 요약값을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는 최솟값, 사분위수, 중앙값, 평균, 최댓값을 함께 보여 줍니다.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</a:t>
            </a:r>
            <a:r>
              <a:rPr/>
              <a:t>가 있으면 요약 결과도 </a:t>
            </a:r>
            <a:r>
              <a:rPr>
                <a:latin typeface="Courier"/>
              </a:rPr>
              <a:t>NA</a:t>
            </a:r>
            <a:r>
              <a:rPr/>
              <a:t>가 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알 수 없는 값이 포함되어 있으므로 평균도 바로 계산할 수 없습니다.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na.rm = TRUE</a:t>
            </a:r>
            <a:r>
              <a:rPr/>
              <a:t>로 결측값을 제외할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(cell_counts,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na.rm</a:t>
            </a:r>
            <a:r>
              <a:rPr/>
              <a:t>은 결측값 제거 여부를 정하는 인자입니다.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로 지정하면 </a:t>
            </a:r>
            <a:r>
              <a:rPr>
                <a:latin typeface="Courier"/>
              </a:rPr>
              <a:t>NA</a:t>
            </a:r>
            <a:r>
              <a:rPr/>
              <a:t>를 제외하고 계산합니다.</a:t>
            </a:r>
          </a:p>
          <a:p>
            <a:pPr lvl="0"/>
            <a:r>
              <a:rPr/>
              <a:t>결측값을 제외해도 되는지는 분석 목적에 따라 판단해야 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결측값의 위치와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(cell_counts))</a:t>
            </a:r>
          </a:p>
          <a:p>
            <a:pPr lvl="0"/>
            <a:r>
              <a:rPr>
                <a:latin typeface="Courier"/>
              </a:rPr>
              <a:t>is.na()</a:t>
            </a:r>
            <a:r>
              <a:rPr/>
              <a:t>는 각 원소가 결측값인지 확인합니다.</a:t>
            </a:r>
          </a:p>
          <a:p>
            <a:pPr lvl="0"/>
            <a:r>
              <a:rPr/>
              <a:t>R에서 </a:t>
            </a:r>
            <a:r>
              <a:rPr>
                <a:latin typeface="Courier"/>
              </a:rPr>
              <a:t>TRUE</a:t>
            </a:r>
            <a:r>
              <a:rPr/>
              <a:t>는 계산할 때 1처럼 사용할 수 있습니다.</a:t>
            </a:r>
          </a:p>
          <a:p>
            <a:pPr lvl="0"/>
            <a:r>
              <a:rPr/>
              <a:t>따라서 </a:t>
            </a:r>
            <a:r>
              <a:rPr>
                <a:latin typeface="Courier"/>
              </a:rPr>
              <a:t>sum(is.na(...))</a:t>
            </a:r>
            <a:r>
              <a:rPr/>
              <a:t>는 결측값의 개수를 셉니다.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벡터 만들고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각 벡터의 값, 자료형, 길이를 확인합니다.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필요한 원소 선택하기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cell_counts[cell_counts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위치 선택과 조건 선택의 결과를 비교합니다.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벡터 계산하고 요약하기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filtered_counts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removed_counts &lt;- cell_counts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filtered_counts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removed_counts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(filtered_counts)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(filtered_counts)</a:t>
            </a:r>
          </a:p>
          <a:p>
            <a:pPr lvl="0" indent="0" marL="0">
              <a:buNone/>
            </a:pPr>
            <a:r>
              <a:rPr/>
              <a:t>어떤 샘플의 제거된 세포 수가 가장 많습니까?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결측값 다루기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18000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19500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(gene_counts)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(gene_counts))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(gene_counts,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na.rm = TRUE</a:t>
            </a:r>
            <a:r>
              <a:rPr/>
              <a:t>를 사용하기 전후의 평균 결과를 비교합니다.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c()</a:t>
            </a:r>
            <a:r>
              <a:rPr/>
              <a:t>로 같은 종류의 여러 값을 벡터로 만듭니다.</a:t>
            </a:r>
          </a:p>
          <a:p>
            <a:pPr lvl="0"/>
            <a:r>
              <a:rPr>
                <a:latin typeface="Courier"/>
              </a:rPr>
              <a:t>[]</a:t>
            </a:r>
            <a:r>
              <a:rPr/>
              <a:t> 안에 위치, 이름, 조건을 지정하여 원소를 선택합니다.</a:t>
            </a:r>
          </a:p>
          <a:p>
            <a:pPr lvl="0"/>
            <a:r>
              <a:rPr/>
              <a:t>벡터화 연산은 각 원소에 같은 계산을 적용합니다.</a:t>
            </a:r>
          </a:p>
          <a:p>
            <a:pPr lvl="0"/>
            <a:r>
              <a:rPr>
                <a:latin typeface="Courier"/>
              </a:rPr>
              <a:t>mean()</a:t>
            </a:r>
            <a:r>
              <a:rPr/>
              <a:t>, </a:t>
            </a:r>
            <a:r>
              <a:rPr>
                <a:latin typeface="Courier"/>
              </a:rPr>
              <a:t>sum()</a:t>
            </a:r>
            <a:r>
              <a:rPr/>
              <a:t> 등의 함수로 벡터를 요약합니다.</a:t>
            </a:r>
          </a:p>
          <a:p>
            <a:pPr lvl="0"/>
            <a:r>
              <a:rPr>
                <a:latin typeface="Courier"/>
              </a:rPr>
              <a:t>NA</a:t>
            </a:r>
            <a:r>
              <a:rPr/>
              <a:t>가 있으면 확인한 뒤 필요할 때 </a:t>
            </a:r>
            <a:r>
              <a:rPr>
                <a:latin typeface="Courier"/>
              </a:rPr>
              <a:t>na.rm = TRUE</a:t>
            </a:r>
            <a:r>
              <a:rPr/>
              <a:t>를 사용합니다.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R에서 벡터의 첫 번째 원소는 어떤 위치 번호를 가집니까?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cell_counts[-1]</a:t>
            </a:r>
            <a:r>
              <a:rPr/>
              <a:t>은 무엇을 선택합니까?</a:t>
            </a:r>
          </a:p>
          <a:p>
            <a:pPr lvl="0" indent="-457200" marL="457200">
              <a:buAutoNum type="arabicPeriod"/>
            </a:pPr>
            <a:r>
              <a:rPr/>
              <a:t>조건 인덱싱에서 어떤 위치의 원소가 선택됩니까?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NA</a:t>
            </a:r>
            <a:r>
              <a:rPr/>
              <a:t>를 제외하고 평균을 구하려면 어떻게 작성합니까?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벡터를 행과 열로 배치한 행렬과 범주형 자료를 표현하는 팩터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3차시: 벡터와 인덱싱</dc:title>
  <dc:creator/>
  <cp:keywords/>
  <dcterms:created xsi:type="dcterms:W3CDTF">2026-07-12T09:24:04Z</dcterms:created>
  <dcterms:modified xsi:type="dcterms:W3CDTF">2026-07-12T09:24:04Z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R 기초 프로그래밍</vt:lpwstr>
  </property>
  <property fmtid="{D5CDD505-2E9C-101B-9397-08002B2CF9AE}" pid="8" name="toc-title">
    <vt:lpwstr>목차</vt:lpwstr>
  </property>
</Properties>
</file>