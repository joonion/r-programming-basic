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Relationship Id="rId4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6차시: 데이터 불러오기와 저장하기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CSV 파일을 데이터 프레임으로 불러올 수 있다.</a:t>
            </a:r>
          </a:p>
          <a:p>
            <a:pPr lvl="0" indent="-457200" marL="457200">
              <a:buAutoNum type="arabicPeriod"/>
            </a:pPr>
            <a:r>
              <a:rPr/>
              <a:t>불러온 데이터의 구조와 이상 여부를 확인할 수 있다.</a:t>
            </a:r>
          </a:p>
          <a:p>
            <a:pPr lvl="0" indent="-457200" marL="457200">
              <a:buAutoNum type="arabicPeriod"/>
            </a:pPr>
            <a:r>
              <a:rPr/>
              <a:t>프로젝트 루트 기준의 상대 경로를 사용할 수 있다.</a:t>
            </a:r>
          </a:p>
          <a:p>
            <a:pPr lvl="0" indent="-457200" marL="457200">
              <a:buAutoNum type="arabicPeriod"/>
            </a:pPr>
            <a:r>
              <a:rPr/>
              <a:t>분석 결과를 CSV 파일로 저장하고 다시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데이터 프레임의 행과 열을 설명할 수 있습니다.</a:t>
            </a:r>
          </a:p>
          <a:p>
            <a:pPr lvl="0"/>
            <a:r>
              <a:rPr>
                <a:latin typeface="Courier"/>
              </a:rPr>
              <a:t>str()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names()</a:t>
            </a:r>
            <a:r>
              <a:rPr/>
              <a:t>로 데이터 구조를 확인할 수 있습니다.</a:t>
            </a:r>
          </a:p>
          <a:p>
            <a:pPr lvl="0"/>
            <a:r>
              <a:rPr>
                <a:latin typeface="Courier"/>
              </a:rPr>
              <a:t>$</a:t>
            </a:r>
            <a:r>
              <a:rPr/>
              <a:t>와 </a:t>
            </a:r>
            <a:r>
              <a:rPr>
                <a:latin typeface="Courier"/>
              </a:rPr>
              <a:t>[행, 열]</a:t>
            </a:r>
            <a:r>
              <a:rPr/>
              <a:t>로 값을 선택하고 열을 추가할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실제 분석 데이터는 파일에서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전사체 분석에서는 다음과 같은 파일을 자주 사용합니다.</a:t>
            </a:r>
          </a:p>
          <a:p>
            <a:pPr lvl="0"/>
            <a:r>
              <a:rPr/>
              <a:t>샘플 이름과 실험 조건을 기록한 메타데이터</a:t>
            </a:r>
          </a:p>
          <a:p>
            <a:pPr lvl="0"/>
            <a:r>
              <a:rPr/>
              <a:t>유전자별 발현량을 저장한 행렬</a:t>
            </a:r>
          </a:p>
          <a:p>
            <a:pPr lvl="0"/>
            <a:r>
              <a:rPr/>
              <a:t>품질 관리 결과를 저장한 표</a:t>
            </a:r>
          </a:p>
          <a:p>
            <a:pPr lvl="0" indent="0" marL="0">
              <a:buNone/>
            </a:pPr>
            <a:r>
              <a:rPr/>
              <a:t>이 차시에서는 표 형태의 데이터를 저장하는 CSV 파일을 사용합니다.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CSV는 쉼표로 값을 구분하는 텍스트 파일이다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sample_id,condition,cell_count,passed_qc
control_1,control,1200,TRUE
control_2,control,1350,TRUE
treated_1,treated,980,FALSE</a:t>
            </a:r>
          </a:p>
          <a:p>
            <a:pPr lvl="0"/>
            <a:r>
              <a:rPr/>
              <a:t>첫 줄은 열 이름입니다.</a:t>
            </a:r>
          </a:p>
          <a:p>
            <a:pPr lvl="0"/>
            <a:r>
              <a:rPr/>
              <a:t>이후 각 줄은 데이터 프레임의 한 행이 됩니다.</a:t>
            </a:r>
          </a:p>
          <a:p>
            <a:pPr lvl="0"/>
            <a:r>
              <a:rPr/>
              <a:t>일반 텍스트이므로 여러 프로그램에서 열 수 있습니다.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실습의 프로젝트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 프로그래밍 기초/
├─ data/
│  └─ sample_metadata.csv
├─ labs/
│  └─ 06_data_io.R
└─ results/
   └─ sample_metadata_checked.csv</a:t>
            </a:r>
          </a:p>
          <a:p>
            <a:pPr lvl="0"/>
            <a:r>
              <a:rPr>
                <a:latin typeface="Courier"/>
              </a:rPr>
              <a:t>data/</a:t>
            </a:r>
            <a:r>
              <a:rPr/>
              <a:t>에는 원본 예제 데이터를 둡니다.</a:t>
            </a:r>
          </a:p>
          <a:p>
            <a:pPr lvl="0"/>
            <a:r>
              <a:rPr>
                <a:latin typeface="Courier"/>
              </a:rPr>
              <a:t>results/</a:t>
            </a:r>
            <a:r>
              <a:rPr/>
              <a:t>에는 코드로 만든 결과를 저장합니다.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작업 폴더는 상대 경로의 출발점이다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>
                <a:latin typeface="Courier"/>
              </a:rPr>
              <a:t>getwd()</a:t>
            </a:r>
            <a:r>
              <a:rPr/>
              <a:t>는 현재 작업 폴더를 보여 줍니다.</a:t>
            </a:r>
          </a:p>
          <a:p>
            <a:pPr lvl="0"/>
            <a:r>
              <a:rPr/>
              <a:t>이 수업에서는 프로젝트 루트가 작업 폴더라고 가정합니다.</a:t>
            </a:r>
          </a:p>
          <a:p>
            <a:pPr lvl="0"/>
            <a:r>
              <a:rPr/>
              <a:t>RStudio에서 프로젝트를 연 뒤 실습 파일을 실행합니다.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상대 경로는 프로젝트 안의 위치를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</a:p>
          <a:p>
            <a:pPr lvl="0"/>
            <a:r>
              <a:rPr/>
              <a:t>프로젝트 루트에서 </a:t>
            </a:r>
            <a:r>
              <a:rPr>
                <a:latin typeface="Courier"/>
              </a:rPr>
              <a:t>data</a:t>
            </a:r>
            <a:r>
              <a:rPr/>
              <a:t> 폴더 안의 파일을 가리킵니다.</a:t>
            </a:r>
          </a:p>
          <a:p>
            <a:pPr lvl="0"/>
            <a:r>
              <a:rPr/>
              <a:t>다른 컴퓨터에서도 같은 프로젝트 구조를 유지하면 실행할 수 있습니다.</a:t>
            </a:r>
          </a:p>
          <a:p>
            <a:pPr lvl="0"/>
            <a:r>
              <a:rPr/>
              <a:t>Windows에서도 코드 안에서는 </a:t>
            </a:r>
            <a:r>
              <a:rPr>
                <a:latin typeface="Courier"/>
              </a:rPr>
              <a:t>/</a:t>
            </a:r>
            <a:r>
              <a:rPr/>
              <a:t>를 사용하면 간단합니다.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절대 경로는 사용자의 컴퓨터에 의존한다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"C:/Users/name/Desktop/sample_metadata.csv"</a:t>
            </a:r>
          </a:p>
          <a:p>
            <a:pPr lvl="0"/>
            <a:r>
              <a:rPr/>
              <a:t>절대 경로는 컴퓨터의 특정 위치 전체를 적습니다.</a:t>
            </a:r>
          </a:p>
          <a:p>
            <a:pPr lvl="0"/>
            <a:r>
              <a:rPr/>
              <a:t>다른 사람의 컴퓨터에서는 같은 위치가 없을 수 있습니다.</a:t>
            </a:r>
          </a:p>
          <a:p>
            <a:pPr lvl="0"/>
            <a:r>
              <a:rPr/>
              <a:t>재현 가능한 분석을 위해 프로젝트 내부의 상대 경로를 사용합니다.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file.exists()</a:t>
            </a:r>
            <a:r>
              <a:rPr/>
              <a:t>로 파일을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</a:p>
          <a:p>
            <a:pPr lvl="0"/>
            <a:r>
              <a:rPr/>
              <a:t>파일이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불러오기 오류가 발생하면 경로와 파일 이름을 먼저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read.csv()</a:t>
            </a:r>
            <a:r>
              <a:rPr/>
              <a:t>로 CSV 파일을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의 결과는 데이터 프레임입니다.</a:t>
            </a:r>
          </a:p>
          <a:p>
            <a:pPr lvl="0"/>
            <a:r>
              <a:rPr/>
              <a:t>파일의 첫 줄을 기본적으로 열 이름으로 사용합니다.</a:t>
            </a:r>
          </a:p>
          <a:p>
            <a:pPr lvl="0"/>
            <a:r>
              <a:rPr/>
              <a:t>이번 실습에는 외부 패키지가 필요하지 않습니다.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불러온 직후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데이터가 예상한 파일인지 확인합니다.</a:t>
            </a:r>
          </a:p>
          <a:p>
            <a:pPr lvl="0"/>
            <a:r>
              <a:rPr/>
              <a:t>열이 잘못 나뉘거나 제목 행이 데이터로 들어오지 않았는지 봅니다.</a:t>
            </a:r>
          </a:p>
          <a:p>
            <a:pPr lvl="0"/>
            <a:r>
              <a:rPr/>
              <a:t>큰 파일은 전체를 출력하기보다 일부부터 확인합니다.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행과 열의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예상한 샘플 수와 변수 수가 맞는지 확인합니다.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이번 파일에는 다음 열이 있어야 합니다.</a:t>
            </a:r>
          </a:p>
          <a:p>
            <a:pPr lvl="0" indent="0">
              <a:buNone/>
            </a:pPr>
            <a:r>
              <a:rPr>
                <a:latin typeface="Courier"/>
              </a:rPr>
              <a:t>sample_id, condition, batch, cell_count,
median_genes, mito_percent, doublet_rate, passed_qc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str()</a:t>
            </a:r>
            <a:r>
              <a:rPr/>
              <a:t>로 열의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확인할 사항:</a:t>
            </a:r>
          </a:p>
          <a:p>
            <a:pPr lvl="0"/>
            <a:r>
              <a:rPr>
                <a:latin typeface="Courier"/>
              </a:rPr>
              <a:t>sample_id</a:t>
            </a:r>
            <a:r>
              <a:rPr/>
              <a:t>, </a:t>
            </a:r>
            <a:r>
              <a:rPr>
                <a:latin typeface="Courier"/>
              </a:rPr>
              <a:t>condition</a:t>
            </a:r>
            <a:r>
              <a:rPr/>
              <a:t>, </a:t>
            </a:r>
            <a:r>
              <a:rPr>
                <a:latin typeface="Courier"/>
              </a:rPr>
              <a:t>batch</a:t>
            </a:r>
            <a:r>
              <a:rPr/>
              <a:t>는 문자형인가?</a:t>
            </a:r>
          </a:p>
          <a:p>
            <a:pPr lvl="0"/>
            <a:r>
              <a:rPr/>
              <a:t>측정값 열은 숫자형인가?</a:t>
            </a:r>
          </a:p>
          <a:p>
            <a:pPr lvl="0"/>
            <a:r>
              <a:rPr>
                <a:latin typeface="Courier"/>
              </a:rPr>
              <a:t>passed_qc</a:t>
            </a:r>
            <a:r>
              <a:rPr/>
              <a:t>는 논리형인가?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값의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숫자형 열의 최솟값과 최댓값이 예상 범위인지 확인합니다.</a:t>
            </a:r>
          </a:p>
          <a:p>
            <a:pPr lvl="0"/>
            <a:r>
              <a:rPr/>
              <a:t>논리형 열의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 개수를 확인합니다.</a:t>
            </a:r>
          </a:p>
          <a:p>
            <a:pPr lvl="0"/>
            <a:r>
              <a:rPr/>
              <a:t>결측값이 있으면 </a:t>
            </a:r>
            <a:r>
              <a:rPr>
                <a:latin typeface="Courier"/>
              </a:rPr>
              <a:t>NA's</a:t>
            </a:r>
            <a:r>
              <a:rPr/>
              <a:t> 개수가 표시됩니다.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하나라도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anyNA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결측값이 하나라도 있으면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라고 해서 모든 값이 생물학적으로 타당하다는 뜻은 아닙니다.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열별 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is.na()</a:t>
            </a:r>
            <a:r>
              <a:rPr/>
              <a:t>가 각 셀의 결측 여부를 확인합니다.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colSums()</a:t>
            </a:r>
            <a:r>
              <a:rPr/>
              <a:t>가 열마다 </a:t>
            </a:r>
            <a:r>
              <a:rPr>
                <a:latin typeface="Courier"/>
              </a:rPr>
              <a:t>TRUE</a:t>
            </a:r>
            <a:r>
              <a:rPr/>
              <a:t>의 개수를 더합니다.</a:t>
            </a:r>
          </a:p>
          <a:p>
            <a:pPr lvl="0" indent="-457200" marL="457200">
              <a:buAutoNum type="arabicPeriod"/>
            </a:pPr>
            <a:r>
              <a:rPr/>
              <a:t>어느 열에 결측값이 있는지 빠르게 알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있는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incomplete_rows &lt;-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complete.cases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sample_metadata[incomplete_rows, ]</a:t>
            </a:r>
          </a:p>
          <a:p>
            <a:pPr lvl="0"/>
            <a:r>
              <a:rPr>
                <a:latin typeface="Courier"/>
              </a:rPr>
              <a:t>complete.cases()</a:t>
            </a:r>
            <a:r>
              <a:rPr/>
              <a:t>는 모든 열에 값이 있는 행을 찾습니다.</a:t>
            </a:r>
          </a:p>
          <a:p>
            <a:pPr lvl="0"/>
            <a:r>
              <a:rPr>
                <a:latin typeface="Courier"/>
              </a:rPr>
              <a:t>!</a:t>
            </a:r>
            <a:r>
              <a:rPr/>
              <a:t>를 붙이면 결측값이 하나라도 있는 행을 찾습니다.</a:t>
            </a:r>
          </a:p>
          <a:p>
            <a:pPr lvl="0"/>
            <a:r>
              <a:rPr/>
              <a:t>결측값을 삭제하거나 대체하기 전에 해당 행을 먼저 살펴봅니다.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중복된 샘플 이름을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sample_id))</a:t>
            </a:r>
          </a:p>
          <a:p>
            <a:pPr lvl="0"/>
            <a:r>
              <a:rPr>
                <a:latin typeface="Courier"/>
              </a:rPr>
              <a:t>duplicated()</a:t>
            </a:r>
            <a:r>
              <a:rPr/>
              <a:t>는 앞에서 이미 나온 값을 </a:t>
            </a:r>
            <a:r>
              <a:rPr>
                <a:latin typeface="Courier"/>
              </a:rPr>
              <a:t>TRUE</a:t>
            </a:r>
            <a:r>
              <a:rPr/>
              <a:t>로 표시합니다.</a:t>
            </a:r>
          </a:p>
          <a:p>
            <a:pPr lvl="0"/>
            <a:r>
              <a:rPr/>
              <a:t>샘플 ID는 보통 각 행을 구분해야 하므로 중복 여부를 확인합니다.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범주형 열의 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batch)</a:t>
            </a:r>
          </a:p>
          <a:p>
            <a:pPr lvl="0"/>
            <a:r>
              <a:rPr>
                <a:latin typeface="Courier"/>
              </a:rPr>
              <a:t>unique()</a:t>
            </a:r>
            <a:r>
              <a:rPr/>
              <a:t>는 중복을 제거한 고유한 값을 보여 줍니다.</a:t>
            </a:r>
          </a:p>
          <a:p>
            <a:pPr lvl="0"/>
            <a:r>
              <a:rPr/>
              <a:t>철자가 다른 값이나 예상하지 못한 범주가 있는지 확인합니다.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 열을 간단히 점검한다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</a:p>
          <a:p>
            <a:pPr lvl="0"/>
            <a:r>
              <a:rPr/>
              <a:t>값의 범위와 대표값을 확인합니다.</a:t>
            </a:r>
          </a:p>
          <a:p>
            <a:pPr lvl="0"/>
            <a:r>
              <a:rPr/>
              <a:t>결측값이 있는 열에는 필요할 때 </a:t>
            </a:r>
            <a:r>
              <a:rPr>
                <a:latin typeface="Courier"/>
              </a:rPr>
              <a:t>na.rm = TRUE</a:t>
            </a:r>
            <a:r>
              <a:rPr/>
              <a:t>를 사용합니다.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분석용 열을 추가할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원본 파일 자체를 바꾸지 않고, R에서 불러온 데이터 프레임에 새 열을 추가합니다.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저장할 폴더가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폴더가 있으면 </a:t>
            </a:r>
            <a:r>
              <a:rPr>
                <a:latin typeface="Courier"/>
              </a:rPr>
              <a:t>TRUE</a:t>
            </a:r>
            <a:r>
              <a:rPr/>
              <a:t>, 없으면 </a:t>
            </a:r>
            <a:r>
              <a:rPr>
                <a:latin typeface="Courier"/>
              </a:rPr>
              <a:t>FALSE</a:t>
            </a:r>
            <a:r>
              <a:rPr/>
              <a:t>입니다.</a:t>
            </a:r>
          </a:p>
          <a:p>
            <a:pPr lvl="0"/>
            <a:r>
              <a:rPr/>
              <a:t>파일을 저장하기 전에 대상 폴더가 준비되어 있어야 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dir.create()</a:t>
            </a:r>
            <a:r>
              <a:rPr/>
              <a:t>로 결과 폴더를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폴더가 없으면 새로 만듭니다.</a:t>
            </a:r>
          </a:p>
          <a:p>
            <a:pPr lvl="0"/>
            <a:r>
              <a:rPr>
                <a:latin typeface="Courier"/>
              </a:rPr>
              <a:t>showWarnings = FALSE</a:t>
            </a:r>
            <a:r>
              <a:rPr/>
              <a:t>는 이미 폴더가 있을 때의 경고를 숨깁니다.</a:t>
            </a:r>
          </a:p>
          <a:p>
            <a:pPr lvl="0"/>
            <a:r>
              <a:rPr/>
              <a:t>분석 결과와 원본 데이터를 분리할 수 있습니다.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write.csv()</a:t>
            </a:r>
            <a:r>
              <a:rPr/>
              <a:t>로 데이터 프레임을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output_path &lt;-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output_path,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row.names = FALSE</a:t>
            </a:r>
            <a:r>
              <a:rPr/>
              <a:t>는 불필요한 행 번호 열을 저장하지 않습니다.</a:t>
            </a:r>
          </a:p>
          <a:p>
            <a:pPr lvl="0"/>
            <a:r>
              <a:rPr/>
              <a:t>원본 파일과 다른 경로에 저장하여 원본을 보존합니다.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저장된 파일이 있는지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</a:p>
          <a:p>
            <a:pPr lvl="0" indent="0" marL="0">
              <a:buNone/>
            </a:pPr>
            <a:r>
              <a:rPr/>
              <a:t>코드가 오류 없이 끝났더라도 결과 파일이 실제로 생성됐는지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저장한 파일을 다시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saved_metadata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/>
            <a:r>
              <a:rPr/>
              <a:t>저장 후 다시 불러오는 과정을 </a:t>
            </a:r>
            <a:r>
              <a:rPr b="1"/>
              <a:t>읽기 검증</a:t>
            </a:r>
            <a:r>
              <a:rPr/>
              <a:t>이라고 할 수 있습니다.</a:t>
            </a:r>
          </a:p>
          <a:p>
            <a:pPr lvl="0"/>
            <a:r>
              <a:rPr/>
              <a:t>행 수, 열 수, 열 이름과 자료형이 예상과 같은지 확인합니다.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원본과 저장 결과의 크기를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 indent="0" marL="0">
              <a:buNone/>
            </a:pPr>
            <a:r>
              <a:rPr/>
              <a:t>추가한 열을 포함하여 행과 열이 빠짐없이 저장됐는지 확인합니다.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작업 폴더가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getwd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cannot open the connection</a:t>
            </a:r>
            <a:r>
              <a:rPr/>
              <a:t> 오류가 나오면 다음을 확인합니다.</a:t>
            </a:r>
          </a:p>
          <a:p>
            <a:pPr lvl="0" indent="-457200" marL="457200">
              <a:buAutoNum type="arabicPeriod"/>
            </a:pPr>
            <a:r>
              <a:rPr/>
              <a:t>프로젝트 루트에서 실행했는가?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data</a:t>
            </a:r>
            <a:r>
              <a:rPr/>
              <a:t> 폴더가 있는가?</a:t>
            </a:r>
          </a:p>
          <a:p>
            <a:pPr lvl="0" indent="-457200" marL="457200">
              <a:buAutoNum type="arabicPeriod"/>
            </a:pPr>
            <a:r>
              <a:rPr/>
              <a:t>파일 이름과 확장자가 정확한가?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경로의 철자가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read.csv("datas/sample_metadata.csv")</a:t>
            </a:r>
          </a:p>
          <a:p>
            <a:pPr lvl="0"/>
            <a:r>
              <a:rPr/>
              <a:t>실제 폴더 이름은 </a:t>
            </a:r>
            <a:r>
              <a:rPr>
                <a:latin typeface="Courier"/>
              </a:rPr>
              <a:t>data</a:t>
            </a:r>
            <a:r>
              <a:rPr/>
              <a:t>입니다.</a:t>
            </a:r>
          </a:p>
          <a:p>
            <a:pPr lvl="0"/>
            <a:r>
              <a:rPr/>
              <a:t>대소문자, 공백, 확장자 </a:t>
            </a:r>
            <a:r>
              <a:rPr>
                <a:latin typeface="Courier"/>
              </a:rPr>
              <a:t>.csv</a:t>
            </a:r>
            <a:r>
              <a:rPr/>
              <a:t>를 모두 확인합니다.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행 번호가 열로 저장된다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row.names = FALSE</a:t>
            </a:r>
            <a:r>
              <a:rPr/>
              <a:t>를 생략하면 원하지 않는 행 번호 열이 추가될 수 있습니다.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파일 불러오기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input_path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(input_path)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파일 경로와 처음 몇 행이 예상한 모습인지 확인합니다.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구조와 이상 여부 점검하기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</a:p>
          <a:p>
            <a:pPr lvl="0" indent="0" marL="0">
              <a:buNone/>
            </a:pPr>
            <a:r>
              <a:rPr/>
              <a:t>결측값이 있는 열과 해당 행을 찾아봅니다.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결과 열 추가하기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cell_count_k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새 열의 값과 자료형을 확인합니다.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저장하고 다시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output_path &lt;- </a:t>
            </a:r>
            <a:r>
              <a:rPr>
                <a:solidFill>
                  <a:srgbClr val="20794D"/>
                </a:solidFill>
                <a:latin typeface="Courier"/>
              </a:rPr>
              <a:t>"results/sample_metadata_checked.csv"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(sample_metadata, output_path,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saved_metadata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(output_path)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(saved_metadata)</a:t>
            </a:r>
          </a:p>
          <a:p>
            <a:pPr lvl="0" indent="0" marL="0">
              <a:buNone/>
            </a:pPr>
            <a:r>
              <a:rPr/>
              <a:t>원본 데이터 프레임과 저장 결과의 크기를 비교합니다.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CSV는 표 형태의 데이터를 저장하는 텍스트 파일입니다.</a:t>
            </a:r>
          </a:p>
          <a:p>
            <a:pPr lvl="0"/>
            <a:r>
              <a:rPr/>
              <a:t>프로젝트 내부에서는 상대 경로를 사용합니다.</a:t>
            </a:r>
          </a:p>
          <a:p>
            <a:pPr lvl="0"/>
            <a:r>
              <a:rPr>
                <a:latin typeface="Courier"/>
              </a:rPr>
              <a:t>read.csv()</a:t>
            </a:r>
            <a:r>
              <a:rPr/>
              <a:t>로 파일을 데이터 프레임으로 불러옵니다.</a:t>
            </a:r>
          </a:p>
          <a:p>
            <a:pPr lvl="0"/>
            <a:r>
              <a:rPr/>
              <a:t>구조, 자료형, 결측값, 중복값을 불러온 직후 점검합니다.</a:t>
            </a:r>
          </a:p>
          <a:p>
            <a:pPr lvl="0"/>
            <a:r>
              <a:rPr>
                <a:latin typeface="Courier"/>
              </a:rPr>
              <a:t>write.csv()</a:t>
            </a:r>
            <a:r>
              <a:rPr/>
              <a:t>로 결과를 저장하고 다시 읽어 검증합니다.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상대 경로를 사용하면 어떤 점이 좋습니까?</a:t>
            </a:r>
          </a:p>
          <a:p>
            <a:pPr lvl="0" indent="-457200" marL="457200">
              <a:buAutoNum type="arabicPeriod"/>
            </a:pPr>
            <a:r>
              <a:rPr/>
              <a:t>파일을 불러온 직후 어떤 항목을 확인해야 합니까?</a:t>
            </a:r>
          </a:p>
          <a:p>
            <a:pPr lvl="0" indent="-457200" marL="457200">
              <a:buAutoNum type="arabicPeriod"/>
            </a:pPr>
            <a:r>
              <a:rPr/>
              <a:t>열별 결측값 개수는 어떻게 계산합니까?</a:t>
            </a:r>
          </a:p>
          <a:p>
            <a:pPr lvl="0" indent="-457200" marL="457200">
              <a:buAutoNum type="arabicPeriod"/>
            </a:pPr>
            <a:r>
              <a:rPr/>
              <a:t>CSV 저장 시 </a:t>
            </a:r>
            <a:r>
              <a:rPr>
                <a:latin typeface="Courier"/>
              </a:rPr>
              <a:t>row.names = FALSE</a:t>
            </a:r>
            <a:r>
              <a:rPr/>
              <a:t>를 사용하는 이유는 무엇입니까?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여러 조건을 결합하여 필요한 행을 선택하고 코드의 실행 흐름 제어하기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6차시: 데이터 불러오기와 저장하기</dc:title>
  <dc:creator/>
  <cp:keywords/>
  <dcterms:created xsi:type="dcterms:W3CDTF">2026-07-12T13:13:06Z</dcterms:created>
  <dcterms:modified xsi:type="dcterms:W3CDTF">2026-07-12T13:13:06Z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