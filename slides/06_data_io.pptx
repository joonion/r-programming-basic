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sldSz cx="12192000" cy="6858000"/>
  <p:notesSz cx="6858000" cy="9144000"/>
  <p:defaultTextStyle>
    <a:defPPr>
      <a:defRPr lang="ko-KR"/>
    </a:defPPr>
    <a:lvl1pPr algn="l" defTabSz="914400" eaLnBrk="1" hangingPunct="1" latinLnBrk="1" marL="0" rtl="0">
      <a:defRPr altLang="en-US" b="1" kern="1200" lang="ko-KR" sz="3000">
        <a:solidFill>
          <a:srgbClr val="172033"/>
        </a:solidFill>
        <a:latin charset="-127" panose="02000503000000020004" pitchFamily="50" typeface="Pretendard"/>
        <a:ea charset="-127" panose="02000503000000020004" pitchFamily="50" typeface="Pretendard"/>
        <a:cs typeface="+mn-cs"/>
      </a:defRPr>
    </a:lvl1pPr>
    <a:lvl2pPr algn="l" defTabSz="914400" eaLnBrk="1" hangingPunct="1" latinLnBrk="1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1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1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1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1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1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1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1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sz="15620"/>
    <p:restoredTop sz="94660"/>
  </p:normalViewPr>
  <p:slideViewPr>
    <p:cSldViewPr showGuides="1" snapToGrid="0">
      <p:cViewPr varScale="1">
        <p:scale>
          <a:sx d="100" n="113"/>
          <a:sy d="100" n="113"/>
        </p:scale>
        <p:origin x="312" y="108"/>
      </p:cViewPr>
      <p:guideLst>
        <p:guide orient="horz" pos="2160"/>
        <p:guide pos="3840"/>
      </p:guideLst>
    </p:cSldViewPr>
  </p:slideViewPr>
  <p:notesTextViewPr>
    <p:cViewPr>
      <p:scale>
        <a:sx d="1" n="1"/>
        <a:sy d="1" n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43" Type="http://schemas.openxmlformats.org/officeDocument/2006/relationships/tableStyles" Target="tableStyles.xml" /><Relationship Id="rId42" Type="http://schemas.openxmlformats.org/officeDocument/2006/relationships/theme" Target="theme/theme1.xml" /><Relationship Id="rId41" Type="http://schemas.openxmlformats.org/officeDocument/2006/relationships/viewProps" Target="view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DC4F62-B626-4C1A-9258-8B7A85121C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36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53DA06A-F964-4BA7-B1A0-476AFBA404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 b="0">
                <a:solidFill>
                  <a:srgbClr val="0F766E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75EA77F-A944-4F90-A580-BFB1EBDD9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2696ECB5-D1DE-4FA4-9CD7-1650D2029999}" type="datetimeFigureOut">
              <a:rPr lang="en-US" altLang="ko-KR" smtClean="0">
                <a:ea typeface="Inter" panose="02000503000000020004" pitchFamily="2" charset="0"/>
              </a:rPr>
              <a:pPr/>
              <a:t>2026-07-12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8247731-8C16-48CE-83E8-82961F5A4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73EC76E-53A1-48FD-AAA5-91D55E1A2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812DBD89-BD24-4FCE-906C-9138E5983130}" type="slidenum">
              <a:rPr lang="en-US" altLang="ko-KR" smtClean="0">
                <a:ea typeface="Inter" panose="02000503000000020004" pitchFamily="2" charset="0"/>
              </a:rPr>
              <a:pPr/>
              <a:t>‹#›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0F5A436-622D-4609-9CAD-93F62FE9C071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90350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C3ADEE9-D4EA-4A02-8908-7CE7FA28F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2696ECB5-D1DE-4FA4-9CD7-1650D2029999}" type="datetimeFigureOut">
              <a:rPr lang="en-US" altLang="ko-KR" smtClean="0">
                <a:ea typeface="Inter" panose="02000503000000020004" pitchFamily="2" charset="0"/>
              </a:rPr>
              <a:pPr/>
              <a:t>2026-07-12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9DF8BB1-DB9D-47B4-AC6B-6E959AF59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657BB9-73CC-4070-8281-5B07E989F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812DBD89-BD24-4FCE-906C-9138E5983130}" type="slidenum">
              <a:rPr lang="en-US" altLang="ko-KR" smtClean="0">
                <a:ea typeface="Inter" panose="02000503000000020004" pitchFamily="2" charset="0"/>
              </a:rPr>
              <a:pPr/>
              <a:t>‹#›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B2FCBBD-DFA9-4E92-A913-26CF9C16EE1F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71199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Exercise">
    <p:bg>
      <p:bgPr>
        <a:solidFill>
          <a:srgbClr val="172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400" b="1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C3ADEE9-D4EA-4A02-8908-7CE7FA28F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2696ECB5-D1DE-4FA4-9CD7-1650D2029999}" type="datetimeFigureOut">
              <a:rPr lang="en-US" altLang="ko-KR" smtClean="0">
                <a:ea typeface="Inter" panose="02000503000000020004" pitchFamily="2" charset="0"/>
              </a:rPr>
              <a:pPr/>
              <a:t>2026-07-12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9DF8BB1-DB9D-47B4-AC6B-6E959AF59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657BB9-73CC-4070-8281-5B07E989F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812DBD89-BD24-4FCE-906C-9138E5983130}" type="slidenum">
              <a:rPr lang="en-US" altLang="ko-KR" smtClean="0">
                <a:ea typeface="Inter" panose="02000503000000020004" pitchFamily="2" charset="0"/>
              </a:rPr>
              <a:pPr/>
              <a:t>‹#›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B51DC66-B343-4339-8DFE-F337361B7142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F766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624DEFA-F193-42BA-A7DC-72FAB0CB111A}"/>
              </a:ext>
            </a:extLst>
          </p:cNvPr>
          <p:cNvSpPr/>
          <p:nvPr userDrawn="1"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918FC79-1AA4-44C2-AB13-4EE8FD5EB7E8}"/>
              </a:ext>
            </a:extLst>
          </p:cNvPr>
          <p:cNvSpPr txBox="1"/>
          <p:nvPr userDrawn="1"/>
        </p:nvSpPr>
        <p:spPr>
          <a:xfrm>
            <a:off x="508000" y="990600"/>
            <a:ext cx="2286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100" b="1">
                <a:solidFill>
                  <a:srgbClr val="0F766E"/>
                </a:solidFill>
                <a:latin typeface="Inter" panose="02000503000000020004" pitchFamily="2" charset="0"/>
                <a:ea typeface="Inter" panose="02000503000000020004" pitchFamily="2" charset="0"/>
              </a:rPr>
              <a:t>PRACTICE</a:t>
            </a:r>
            <a:endParaRPr lang="ko-KR" altLang="en-US" sz="1100" b="1">
              <a:solidFill>
                <a:srgbClr val="0F766E"/>
              </a:solidFill>
              <a:latin typeface="Inter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98304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de / Demonstration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JetBrains Mono" panose="02000009000000000000" pitchFamily="49" charset="0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JetBrains Mono" panose="02000009000000000000" pitchFamily="49" charset="0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JetBrains Mono" panose="02000009000000000000" pitchFamily="49" charset="0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JetBrains Mono" panose="02000009000000000000" pitchFamily="49" charset="0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JetBrains Mono" panose="02000009000000000000" pitchFamily="49" charset="0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C3ADEE9-D4EA-4A02-8908-7CE7FA28F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2696ECB5-D1DE-4FA4-9CD7-1650D2029999}" type="datetimeFigureOut">
              <a:rPr lang="en-US" altLang="ko-KR" smtClean="0">
                <a:ea typeface="Inter" panose="02000503000000020004" pitchFamily="2" charset="0"/>
              </a:rPr>
              <a:pPr/>
              <a:t>2026-07-12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9DF8BB1-DB9D-47B4-AC6B-6E959AF59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657BB9-73CC-4070-8281-5B07E989F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812DBD89-BD24-4FCE-906C-9138E5983130}" type="slidenum">
              <a:rPr lang="en-US" altLang="ko-KR" smtClean="0">
                <a:ea typeface="Inter" panose="02000503000000020004" pitchFamily="2" charset="0"/>
              </a:rPr>
              <a:pPr/>
              <a:t>‹#›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F65F950-2413-4CE2-8BD0-18A4BBCD72EB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8C3D350-ADF5-46FD-87CE-C07683F6982B}"/>
              </a:ext>
            </a:extLst>
          </p:cNvPr>
          <p:cNvSpPr/>
          <p:nvPr userDrawn="1"/>
        </p:nvSpPr>
        <p:spPr>
          <a:xfrm>
            <a:off x="457200" y="1422400"/>
            <a:ext cx="11277600" cy="4572000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08629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00C25F-30DA-4EDD-8504-44DA909B4C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8E1EED7-4C61-4A08-AF5B-A390C60A00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>
            <a:normAutofit/>
          </a:bodyPr>
          <a:lstStyle>
            <a:lvl1pPr marL="0" indent="0">
              <a:lnSpc>
                <a:spcPct val="108000"/>
              </a:lnSpc>
              <a:spcAft>
                <a:spcPts val="700"/>
              </a:spcAft>
              <a:buNone/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26A1FF6-51FE-4685-BA34-E0F89D454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2696ECB5-D1DE-4FA4-9CD7-1650D2029999}" type="datetimeFigureOut">
              <a:rPr lang="en-US" altLang="ko-KR" smtClean="0">
                <a:ea typeface="Inter" panose="02000503000000020004" pitchFamily="2" charset="0"/>
              </a:rPr>
              <a:pPr/>
              <a:t>2026-07-12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2B3851C-0BE4-4E91-95F4-2EC266D694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43CBF9E-951B-4FF6-85E6-6601F2386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812DBD89-BD24-4FCE-906C-9138E5983130}" type="slidenum">
              <a:rPr lang="en-US" altLang="ko-KR" smtClean="0">
                <a:ea typeface="Inter" panose="02000503000000020004" pitchFamily="2" charset="0"/>
              </a:rPr>
              <a:pPr/>
              <a:t>‹#›</a:t>
            </a:fld>
            <a:endParaRPr lang="en-US" altLang="ko-KR">
              <a:ea typeface="Inter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54922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CE8392-3978-4394-BAB4-2437C15AD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374FF69-769F-4677-B82A-E232B25BA9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52B5173-A205-47A2-953F-A236FB1D43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DD21268-4ABF-4DE0-998A-28F7BFCD2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2696ECB5-D1DE-4FA4-9CD7-1650D2029999}" type="datetimeFigureOut">
              <a:rPr lang="en-US" altLang="ko-KR" smtClean="0">
                <a:ea typeface="Inter" panose="02000503000000020004" pitchFamily="2" charset="0"/>
              </a:rPr>
              <a:pPr/>
              <a:t>2026-07-12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BEFEE9E-EDCD-4886-92ED-3796485C88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BE14DB4-8F62-4CD7-8DD2-AD422C0CF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812DBD89-BD24-4FCE-906C-9138E5983130}" type="slidenum">
              <a:rPr lang="en-US" altLang="ko-KR" smtClean="0">
                <a:ea typeface="Inter" panose="02000503000000020004" pitchFamily="2" charset="0"/>
              </a:rPr>
              <a:pPr/>
              <a:t>‹#›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8B169FF-FAD7-46E0-9D59-C9B5BEB076DC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69090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F9F672-094E-482F-8FE2-0C0D8F2E0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0AF80BD-BF78-49AF-BBBA-1A773DA2CE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>
            <a:normAutofit/>
          </a:bodyPr>
          <a:lstStyle>
            <a:lvl1pPr marL="0" indent="0">
              <a:lnSpc>
                <a:spcPct val="108000"/>
              </a:lnSpc>
              <a:spcAft>
                <a:spcPts val="700"/>
              </a:spcAft>
              <a:buNone/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98D6527-B034-41A0-9FC9-C530962C8B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E5785AA-E40F-4E95-B834-2D7649E02A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>
            <a:normAutofit/>
          </a:bodyPr>
          <a:lstStyle>
            <a:lvl1pPr marL="0" indent="0">
              <a:lnSpc>
                <a:spcPct val="108000"/>
              </a:lnSpc>
              <a:spcAft>
                <a:spcPts val="700"/>
              </a:spcAft>
              <a:buNone/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DA75630-B532-4D2B-BA6E-233076F4AD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005AF02-6B25-4BBC-9A62-947D988356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2696ECB5-D1DE-4FA4-9CD7-1650D2029999}" type="datetimeFigureOut">
              <a:rPr lang="en-US" altLang="ko-KR" smtClean="0">
                <a:ea typeface="Inter" panose="02000503000000020004" pitchFamily="2" charset="0"/>
              </a:rPr>
              <a:pPr/>
              <a:t>2026-07-12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A29AF57-1554-4883-A5C0-D2E356058D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F02C77D-EDE4-4302-857A-97BE6DADB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812DBD89-BD24-4FCE-906C-9138E5983130}" type="slidenum">
              <a:rPr lang="en-US" altLang="ko-KR" smtClean="0">
                <a:ea typeface="Inter" panose="02000503000000020004" pitchFamily="2" charset="0"/>
              </a:rPr>
              <a:pPr/>
              <a:t>‹#›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2813AE4-CA38-49CC-83A5-DA570C2D152E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45710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AC5B61-FD8F-4A03-8446-AFB1FC117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317F6E7-F469-4E45-A7CA-18C4220B7E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2696ECB5-D1DE-4FA4-9CD7-1650D2029999}" type="datetimeFigureOut">
              <a:rPr lang="en-US" altLang="ko-KR" smtClean="0">
                <a:ea typeface="Inter" panose="02000503000000020004" pitchFamily="2" charset="0"/>
              </a:rPr>
              <a:pPr/>
              <a:t>2026-07-12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081412A-6E99-4D2F-8564-CCE9309E2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7B49B12-B58B-42B1-9FC8-0F11E70ED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812DBD89-BD24-4FCE-906C-9138E5983130}" type="slidenum">
              <a:rPr lang="en-US" altLang="ko-KR" smtClean="0">
                <a:ea typeface="Inter" panose="02000503000000020004" pitchFamily="2" charset="0"/>
              </a:rPr>
              <a:pPr/>
              <a:t>‹#›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C9F98D1-EC0F-4996-8D0E-19D80403D7FB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59383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B3DAFDE-3EF4-4BC2-8C6E-53A0DCBB0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2696ECB5-D1DE-4FA4-9CD7-1650D2029999}" type="datetimeFigureOut">
              <a:rPr lang="en-US" altLang="ko-KR" smtClean="0">
                <a:ea typeface="Inter" panose="02000503000000020004" pitchFamily="2" charset="0"/>
              </a:rPr>
              <a:pPr/>
              <a:t>2026-07-12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E806864-590A-497A-9E3B-31220A838A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9AE52D8-EF8D-4B38-BAE5-100369F3A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812DBD89-BD24-4FCE-906C-9138E5983130}" type="slidenum">
              <a:rPr lang="en-US" altLang="ko-KR" smtClean="0">
                <a:ea typeface="Inter" panose="02000503000000020004" pitchFamily="2" charset="0"/>
              </a:rPr>
              <a:pPr/>
              <a:t>‹#›</a:t>
            </a:fld>
            <a:endParaRPr lang="en-US" altLang="ko-KR">
              <a:ea typeface="Inter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57893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96CAC9-BDCF-454F-B4EB-26821C0AC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7F85D79-8D84-4463-A554-36DA89022A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4A32173-BE5A-4386-B8FC-0DD3565F6F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lnSpc>
                <a:spcPct val="108000"/>
              </a:lnSpc>
              <a:spcAft>
                <a:spcPts val="700"/>
              </a:spcAft>
              <a:buNone/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5D7BBE8-F04D-4F20-A998-2847A7EC3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2696ECB5-D1DE-4FA4-9CD7-1650D2029999}" type="datetimeFigureOut">
              <a:rPr lang="en-US" altLang="ko-KR" smtClean="0">
                <a:ea typeface="Inter" panose="02000503000000020004" pitchFamily="2" charset="0"/>
              </a:rPr>
              <a:pPr/>
              <a:t>2026-07-12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1091599-E0C3-4951-800C-0FA8BF5CD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9D06458-41C2-4B2E-9AF2-A62CE3660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812DBD89-BD24-4FCE-906C-9138E5983130}" type="slidenum">
              <a:rPr lang="en-US" altLang="ko-KR" smtClean="0">
                <a:ea typeface="Inter" panose="02000503000000020004" pitchFamily="2" charset="0"/>
              </a:rPr>
              <a:pPr/>
              <a:t>‹#›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39F72F4-84F2-4B08-8B7A-396EE76DDF26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9782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F8A6E4-6940-49AF-8B5F-9B16DB004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5AFC852-B328-4179-BC85-EB34AC8CD4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DBD367B-5A0C-4ADF-98EF-314F244CCF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lnSpc>
                <a:spcPct val="108000"/>
              </a:lnSpc>
              <a:spcAft>
                <a:spcPts val="700"/>
              </a:spcAft>
              <a:buNone/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C903147-4754-4023-8B77-20EB33E5B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2696ECB5-D1DE-4FA4-9CD7-1650D2029999}" type="datetimeFigureOut">
              <a:rPr lang="en-US" altLang="ko-KR" smtClean="0">
                <a:ea typeface="Inter" panose="02000503000000020004" pitchFamily="2" charset="0"/>
              </a:rPr>
              <a:pPr/>
              <a:t>2026-07-12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3ADDB5D-EDEB-4E99-BA69-F1F76F2751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3872CF2-966E-422A-927F-3BD6A6E59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812DBD89-BD24-4FCE-906C-9138E5983130}" type="slidenum">
              <a:rPr lang="en-US" altLang="ko-KR" smtClean="0">
                <a:ea typeface="Inter" panose="02000503000000020004" pitchFamily="2" charset="0"/>
              </a:rPr>
              <a:pPr/>
              <a:t>‹#›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7E2E2F7-28CA-4288-94F5-8E25DCD2A45E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5647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CE92E6-4E61-4E2B-9F4F-D23641A2E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E576B3A-9062-444C-9C47-61FA4351C0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31A3954-5D36-48F6-87B1-16A84AB44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2696ECB5-D1DE-4FA4-9CD7-1650D2029999}" type="datetimeFigureOut">
              <a:rPr lang="en-US" altLang="ko-KR" smtClean="0">
                <a:ea typeface="Inter" panose="02000503000000020004" pitchFamily="2" charset="0"/>
              </a:rPr>
              <a:pPr/>
              <a:t>2026-07-12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DA0FE3E-5C3F-4A6C-952A-7C8CB744F7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E068D49-B037-4EA4-BE8F-2516D3000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812DBD89-BD24-4FCE-906C-9138E5983130}" type="slidenum">
              <a:rPr lang="en-US" altLang="ko-KR" smtClean="0">
                <a:ea typeface="Inter" panose="02000503000000020004" pitchFamily="2" charset="0"/>
              </a:rPr>
              <a:pPr/>
              <a:t>‹#›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5064922-4160-4D2C-A562-270D09593F37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05819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C94EABC-274E-4BAD-AB22-188F885A3B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47306ED-34B5-4464-AFBE-9E25FC9A04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0C654F-F2FA-42D5-8AC8-4073F8FBA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2696ECB5-D1DE-4FA4-9CD7-1650D2029999}" type="datetimeFigureOut">
              <a:rPr lang="en-US" altLang="ko-KR" smtClean="0">
                <a:ea typeface="Inter" panose="02000503000000020004" pitchFamily="2" charset="0"/>
              </a:rPr>
              <a:pPr/>
              <a:t>2026-07-12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531A3EE-B6E8-4AF1-9041-45D44926D1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3645F18-B2AB-45F4-8642-885F2B8AB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812DBD89-BD24-4FCE-906C-9138E5983130}" type="slidenum">
              <a:rPr lang="en-US" altLang="ko-KR" smtClean="0">
                <a:ea typeface="Inter" panose="02000503000000020004" pitchFamily="2" charset="0"/>
              </a:rPr>
              <a:pPr/>
              <a:t>‹#›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B5F32C9-BBE2-4217-A3E2-DE5FC68F3267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7587791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13" Target="../slideLayouts/slideLayout13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slideLayouts/slideLayout12.xml" Type="http://schemas.openxmlformats.org/officeDocument/2006/relationships/slideLayout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Relationship Id="rId14" Target="../theme/theme1.xml" Type="http://schemas.openxmlformats.org/officeDocument/2006/relationships/theme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461F8DA-C043-4CD7-86F2-E1A0EF4CBD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altLang="en-US" lang="ko-KR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B14F0DF-8367-4CE4-BFB7-B09F18D1638C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altLang="en-US" lang="ko-KR"/>
              <a:t>마스터 텍스트 스타일을 편집하려면 클릭</a:t>
            </a:r>
          </a:p>
          <a:p>
            <a:pPr lvl="1"/>
            <a:r>
              <a:rPr altLang="en-US" lang="ko-KR"/>
              <a:t>두 번째 수준</a:t>
            </a:r>
          </a:p>
          <a:p>
            <a:pPr lvl="2"/>
            <a:r>
              <a:rPr altLang="en-US" lang="ko-KR"/>
              <a:t>세 번째 수준</a:t>
            </a:r>
          </a:p>
          <a:p>
            <a:pPr lvl="3"/>
            <a:r>
              <a:rPr altLang="en-US" lang="ko-KR"/>
              <a:t>네 번째 수준</a:t>
            </a:r>
          </a:p>
          <a:p>
            <a:pPr lvl="4"/>
            <a:r>
              <a:rPr altLang="en-US" lang="ko-KR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5183F21-A1A8-463E-86D3-0CFB7A05EF38}"/>
              </a:ext>
            </a:extLst>
          </p:cNvPr>
          <p:cNvSpPr>
            <a:spLocks noGrp="1"/>
          </p:cNvSpPr>
          <p:nvPr>
            <p:ph idx="2" sz="half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b="0" sz="900">
                <a:solidFill>
                  <a:srgbClr val="526077"/>
                </a:solidFill>
                <a:latin charset="0" panose="02000503000000020004" pitchFamily="2" typeface="Inter"/>
              </a:defRPr>
            </a:lvl1pPr>
          </a:lstStyle>
          <a:p>
            <a:fld id="{2696ECB5-D1DE-4FA4-9CD7-1650D2029999}" type="datetimeFigureOut">
              <a:rPr altLang="ko-KR" lang="en-US" smtClean="0">
                <a:ea charset="0" panose="02000503000000020004" pitchFamily="2" typeface="Inter"/>
              </a:rPr>
              <a:pPr/>
              <a:t>2026-07-12</a:t>
            </a:fld>
            <a:endParaRPr altLang="ko-KR" lang="en-US">
              <a:ea charset="0" panose="02000503000000020004" pitchFamily="2" typeface="Inter"/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B0C5B5C-65C9-4D66-BC46-FDE4016F57BF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b="0" sz="900">
                <a:solidFill>
                  <a:srgbClr val="526077"/>
                </a:solidFill>
                <a:latin charset="0" panose="02000503000000020004" pitchFamily="2" typeface="Inter"/>
              </a:defRPr>
            </a:lvl1pPr>
          </a:lstStyle>
          <a:p>
            <a:endParaRPr altLang="en-US" lang="ko-KR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52730EB-AE08-4C4E-A274-945B51E99D4F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b="0" sz="900">
                <a:solidFill>
                  <a:srgbClr val="526077"/>
                </a:solidFill>
                <a:latin charset="0" panose="02000503000000020004" pitchFamily="2" typeface="Inter"/>
              </a:defRPr>
            </a:lvl1pPr>
          </a:lstStyle>
          <a:p>
            <a:fld id="{812DBD89-BD24-4FCE-906C-9138E5983130}" type="slidenum">
              <a:rPr altLang="ko-KR" lang="en-US" smtClean="0">
                <a:ea charset="0" panose="02000503000000020004" pitchFamily="2" typeface="Inter"/>
              </a:rPr>
              <a:pPr/>
              <a:t>‹#›</a:t>
            </a:fld>
            <a:endParaRPr altLang="ko-KR" lang="en-US">
              <a:ea charset="0" panose="02000503000000020004" pitchFamily="2"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1395331952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61" r:id="rId3"/>
    <p:sldLayoutId id="214748366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</p:sldLayoutIdLst>
  <p:txStyles>
    <p:titleStyle>
      <a:lvl1pPr algn="l" defTabSz="914400" eaLnBrk="1" hangingPunct="1" latinLnBrk="1" rtl="0">
        <a:lnSpc>
          <a:spcPct val="108000"/>
        </a:lnSpc>
        <a:spcBef>
          <a:spcPct val="0"/>
        </a:spcBef>
        <a:spcAft>
          <a:spcPts val="700"/>
        </a:spcAft>
        <a:buNone/>
        <a:defRPr b="0" kern="1200" sz="2000">
          <a:solidFill>
            <a:srgbClr val="172033"/>
          </a:solidFill>
          <a:latin charset="-127" panose="02000503000000020004" pitchFamily="50" typeface="Pretendard"/>
          <a:ea charset="-127" panose="02000503000000020004" pitchFamily="50" typeface="Pretendard"/>
          <a:cs typeface="+mj-cs"/>
        </a:defRPr>
      </a:lvl1pPr>
    </p:titleStyle>
    <p:bodyStyle>
      <a:lvl1pPr algn="l" defTabSz="914400" eaLnBrk="1" hangingPunct="1" indent="-228600" latinLnBrk="1" marL="228600" rtl="0">
        <a:lnSpc>
          <a:spcPct val="90000"/>
        </a:lnSpc>
        <a:spcBef>
          <a:spcPts val="1000"/>
        </a:spcBef>
        <a:buFont charset="0" panose="020B0604020202020204" pitchFamily="34" typeface="Arial"/>
        <a:buChar char="•"/>
        <a:defRPr b="0" kern="1200" sz="1800">
          <a:solidFill>
            <a:srgbClr val="172033"/>
          </a:solidFill>
          <a:latin charset="-127" panose="02000503000000020004" pitchFamily="50" typeface="Pretendard"/>
          <a:ea charset="-127" panose="02000503000000020004" pitchFamily="50" typeface="Pretendard"/>
          <a:cs typeface="+mn-cs"/>
        </a:defRPr>
      </a:lvl1pPr>
      <a:lvl2pPr algn="l" defTabSz="914400" eaLnBrk="1" hangingPunct="1" indent="-228600" latinLnBrk="1" marL="685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b="0" kern="1200" sz="1800">
          <a:solidFill>
            <a:srgbClr val="172033"/>
          </a:solidFill>
          <a:latin charset="-127" panose="02000503000000020004" pitchFamily="50" typeface="Pretendard"/>
          <a:ea charset="-127" panose="02000503000000020004" pitchFamily="50" typeface="Pretendard"/>
          <a:cs typeface="+mn-cs"/>
        </a:defRPr>
      </a:lvl2pPr>
      <a:lvl3pPr algn="l" defTabSz="914400" eaLnBrk="1" hangingPunct="1" indent="-228600" latinLnBrk="1" marL="1143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b="0" kern="1200" sz="1800">
          <a:solidFill>
            <a:srgbClr val="172033"/>
          </a:solidFill>
          <a:latin charset="-127" panose="02000503000000020004" pitchFamily="50" typeface="Pretendard"/>
          <a:ea charset="-127" panose="02000503000000020004" pitchFamily="50" typeface="Pretendard"/>
          <a:cs typeface="+mn-cs"/>
        </a:defRPr>
      </a:lvl3pPr>
      <a:lvl4pPr algn="l" defTabSz="914400" eaLnBrk="1" hangingPunct="1" indent="-228600" latinLnBrk="1" marL="1600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b="0" kern="1200" sz="1800">
          <a:solidFill>
            <a:srgbClr val="172033"/>
          </a:solidFill>
          <a:latin charset="-127" panose="02000503000000020004" pitchFamily="50" typeface="Pretendard"/>
          <a:ea charset="-127" panose="02000503000000020004" pitchFamily="50" typeface="Pretendard"/>
          <a:cs typeface="+mn-cs"/>
        </a:defRPr>
      </a:lvl4pPr>
      <a:lvl5pPr algn="l" defTabSz="914400" eaLnBrk="1" hangingPunct="1" indent="-228600" latinLnBrk="1" marL="20574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b="0" kern="1200" sz="1800">
          <a:solidFill>
            <a:srgbClr val="172033"/>
          </a:solidFill>
          <a:latin charset="-127" panose="02000503000000020004" pitchFamily="50" typeface="Pretendard"/>
          <a:ea charset="-127" panose="02000503000000020004" pitchFamily="50" typeface="Pretendard"/>
          <a:cs typeface="+mn-cs"/>
        </a:defRPr>
      </a:lvl5pPr>
      <a:lvl6pPr algn="l" defTabSz="914400" eaLnBrk="1" hangingPunct="1" indent="-228600" latinLnBrk="1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1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1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1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algn="l" defTabSz="914400" eaLnBrk="1" hangingPunct="1" latinLnBrk="1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1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1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1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1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1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1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1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1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DC4F62-B626-4C1A-9258-8B7A85121C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6차시: 데이터 불러오기와 저장하기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53DA06A-F964-4BA7-B1A0-476AFBA404D1}"/>
              </a:ext>
            </a:extLst>
          </p:cNvPr>
          <p:cNvSpPr>
            <a:spLocks noGrp="1"/>
          </p:cNvSpPr>
          <p:nvPr>
            <p:ph idx="1" type="subTitle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pPr lvl="0" indent="0" marL="0">
              <a:buNone/>
            </a:pPr>
            <a:r>
              <a:rPr/>
              <a:t>R 기초 프로그래밍</a:t>
            </a:r>
            <a:br/>
            <a:br/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오늘의 학습 목표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457200" marL="457200">
              <a:buAutoNum type="arabicPeriod"/>
            </a:pPr>
            <a:r>
              <a:rPr/>
              <a:t>CSV 파일을 데이터 프레임으로 불러올 수 있다.</a:t>
            </a:r>
          </a:p>
          <a:p>
            <a:pPr lvl="0" indent="-457200" marL="457200">
              <a:buAutoNum type="arabicPeriod"/>
            </a:pPr>
            <a:r>
              <a:rPr/>
              <a:t>불러온 데이터의 구조와 이상 여부를 확인할 수 있다.</a:t>
            </a:r>
          </a:p>
          <a:p>
            <a:pPr lvl="0" indent="-457200" marL="457200">
              <a:buAutoNum type="arabicPeriod"/>
            </a:pPr>
            <a:r>
              <a:rPr/>
              <a:t>프로젝트 루트 기준의 상대 경로를 사용할 수 있다.</a:t>
            </a:r>
          </a:p>
          <a:p>
            <a:pPr lvl="0" indent="-457200" marL="457200">
              <a:buAutoNum type="arabicPeriod"/>
            </a:pPr>
            <a:r>
              <a:rPr/>
              <a:t>분석 결과를 CSV 파일로 저장하고 다시 확인할 수 있다.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선수 지식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데이터 프레임의 행과 열을 설명할 수 있습니다.</a:t>
            </a:r>
          </a:p>
          <a:p>
            <a:pPr lvl="0"/>
            <a:r>
              <a:rPr>
                <a:latin typeface="Courier"/>
              </a:rPr>
              <a:t>str()</a:t>
            </a:r>
            <a:r>
              <a:rPr/>
              <a:t>, </a:t>
            </a:r>
            <a:r>
              <a:rPr>
                <a:latin typeface="Courier"/>
              </a:rPr>
              <a:t>dim()</a:t>
            </a:r>
            <a:r>
              <a:rPr/>
              <a:t>, </a:t>
            </a:r>
            <a:r>
              <a:rPr>
                <a:latin typeface="Courier"/>
              </a:rPr>
              <a:t>names()</a:t>
            </a:r>
            <a:r>
              <a:rPr/>
              <a:t>로 데이터 구조를 확인할 수 있습니다.</a:t>
            </a:r>
          </a:p>
          <a:p>
            <a:pPr lvl="0"/>
            <a:r>
              <a:rPr>
                <a:latin typeface="Courier"/>
              </a:rPr>
              <a:t>$</a:t>
            </a:r>
            <a:r>
              <a:rPr/>
              <a:t>와 </a:t>
            </a:r>
            <a:r>
              <a:rPr>
                <a:latin typeface="Courier"/>
              </a:rPr>
              <a:t>[행, 열]</a:t>
            </a:r>
            <a:r>
              <a:rPr/>
              <a:t>로 값을 선택하고 열을 추가할 수 있습니다.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실제 분석 데이터는 파일에서 시작한다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전사체 분석에서는 다음과 같은 파일을 자주 사용합니다.</a:t>
            </a:r>
          </a:p>
          <a:p>
            <a:pPr lvl="0"/>
            <a:r>
              <a:rPr/>
              <a:t>샘플 이름과 실험 조건을 기록한 메타데이터</a:t>
            </a:r>
          </a:p>
          <a:p>
            <a:pPr lvl="0"/>
            <a:r>
              <a:rPr/>
              <a:t>유전자별 발현량을 저장한 행렬</a:t>
            </a:r>
          </a:p>
          <a:p>
            <a:pPr lvl="0"/>
            <a:r>
              <a:rPr/>
              <a:t>품질 관리 결과를 저장한 표</a:t>
            </a:r>
          </a:p>
          <a:p>
            <a:pPr lvl="0" indent="0" marL="0">
              <a:buNone/>
            </a:pPr>
            <a:r>
              <a:rPr/>
              <a:t>이 차시에서는 표 형태의 데이터를 저장하는 CSV 파일을 사용합니다.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CSV는 쉼표로 값을 구분하는 텍스트 파일이다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sample_id,condition,cell_count,passed_qc
control_1,control,1200,TRUE
control_2,control,1350,TRUE
treated_1,treated,980,FALSE</a:t>
            </a:r>
          </a:p>
          <a:p>
            <a:pPr lvl="0"/>
            <a:r>
              <a:rPr/>
              <a:t>첫 줄은 열 이름입니다.</a:t>
            </a:r>
          </a:p>
          <a:p>
            <a:pPr lvl="0"/>
            <a:r>
              <a:rPr/>
              <a:t>이후 각 줄은 데이터 프레임의 한 행이 됩니다.</a:t>
            </a:r>
          </a:p>
          <a:p>
            <a:pPr lvl="0"/>
            <a:r>
              <a:rPr/>
              <a:t>일반 텍스트이므로 여러 프로그램에서 열 수 있습니다.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이번 실습의 프로젝트 구조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R 프로그래밍 기초/
├─ data/
│  └─ sample_metadata.csv
├─ labs/
│  └─ 06_data_io.R
└─ results/
   └─ sample_metadata_checked.csv</a:t>
            </a:r>
          </a:p>
          <a:p>
            <a:pPr lvl="0"/>
            <a:r>
              <a:rPr>
                <a:latin typeface="Courier"/>
              </a:rPr>
              <a:t>data/</a:t>
            </a:r>
            <a:r>
              <a:rPr/>
              <a:t>에는 원본 예제 데이터를 둡니다.</a:t>
            </a:r>
          </a:p>
          <a:p>
            <a:pPr lvl="0"/>
            <a:r>
              <a:rPr>
                <a:latin typeface="Courier"/>
              </a:rPr>
              <a:t>results/</a:t>
            </a:r>
            <a:r>
              <a:rPr/>
              <a:t>에는 코드로 만든 결과를 저장합니다.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작업 폴더는 상대 경로의 출발점이다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getwd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</a:p>
          <a:p>
            <a:pPr lvl="0"/>
            <a:r>
              <a:rPr>
                <a:latin typeface="Courier"/>
              </a:rPr>
              <a:t>getwd()</a:t>
            </a:r>
            <a:r>
              <a:rPr/>
              <a:t>는 현재 작업 폴더를 보여 줍니다.</a:t>
            </a:r>
          </a:p>
          <a:p>
            <a:pPr lvl="0"/>
            <a:r>
              <a:rPr/>
              <a:t>이 수업에서는 프로젝트 루트가 작업 폴더라고 가정합니다.</a:t>
            </a:r>
          </a:p>
          <a:p>
            <a:pPr lvl="0"/>
            <a:r>
              <a:rPr/>
              <a:t>RStudio에서 프로젝트를 연 뒤 실습 파일을 실행합니다.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상대 경로는 프로젝트 안의 위치를 나타낸다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input_path &lt;- </a:t>
            </a:r>
            <a:r>
              <a:rPr>
                <a:solidFill>
                  <a:srgbClr val="20794D"/>
                </a:solidFill>
                <a:latin typeface="Courier"/>
              </a:rPr>
              <a:t>"data/sample_metadata.csv"</a:t>
            </a:r>
          </a:p>
          <a:p>
            <a:pPr lvl="0"/>
            <a:r>
              <a:rPr/>
              <a:t>프로젝트 루트에서 </a:t>
            </a:r>
            <a:r>
              <a:rPr>
                <a:latin typeface="Courier"/>
              </a:rPr>
              <a:t>data</a:t>
            </a:r>
            <a:r>
              <a:rPr/>
              <a:t> 폴더 안의 파일을 가리킵니다.</a:t>
            </a:r>
          </a:p>
          <a:p>
            <a:pPr lvl="0"/>
            <a:r>
              <a:rPr/>
              <a:t>다른 컴퓨터에서도 같은 프로젝트 구조를 유지하면 실행할 수 있습니다.</a:t>
            </a:r>
          </a:p>
          <a:p>
            <a:pPr lvl="0"/>
            <a:r>
              <a:rPr/>
              <a:t>Windows에서도 코드 안에서는 </a:t>
            </a:r>
            <a:r>
              <a:rPr>
                <a:latin typeface="Courier"/>
              </a:rPr>
              <a:t>/</a:t>
            </a:r>
            <a:r>
              <a:rPr/>
              <a:t>를 사용하면 간단합니다.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절대 경로는 사용자의 컴퓨터에 의존한다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"C:/Users/name/Desktop/sample_metadata.csv"</a:t>
            </a:r>
          </a:p>
          <a:p>
            <a:pPr lvl="0"/>
            <a:r>
              <a:rPr/>
              <a:t>절대 경로는 컴퓨터의 특정 위치 전체를 적습니다.</a:t>
            </a:r>
          </a:p>
          <a:p>
            <a:pPr lvl="0"/>
            <a:r>
              <a:rPr/>
              <a:t>다른 사람의 컴퓨터에서는 같은 위치가 없을 수 있습니다.</a:t>
            </a:r>
          </a:p>
          <a:p>
            <a:pPr lvl="0"/>
            <a:r>
              <a:rPr/>
              <a:t>재현 가능한 분석을 위해 프로젝트 내부의 상대 경로를 사용합니다.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file.exists()</a:t>
            </a:r>
            <a:r>
              <a:rPr/>
              <a:t>로 파일을 먼저 확인한다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input_path &lt;- </a:t>
            </a:r>
            <a:r>
              <a:rPr>
                <a:solidFill>
                  <a:srgbClr val="20794D"/>
                </a:solidFill>
                <a:latin typeface="Courier"/>
              </a:rPr>
              <a:t>"data/sample_metadata.csv"</a:t>
            </a:r>
            <a:br/>
            <a:r>
              <a:rPr>
                <a:solidFill>
                  <a:srgbClr val="4758AB"/>
                </a:solidFill>
                <a:latin typeface="Courier"/>
              </a:rPr>
              <a:t>file.exists</a:t>
            </a:r>
            <a:r>
              <a:rPr>
                <a:solidFill>
                  <a:srgbClr val="003B4F"/>
                </a:solidFill>
                <a:latin typeface="Courier"/>
              </a:rPr>
              <a:t>(input_path)</a:t>
            </a:r>
          </a:p>
          <a:p>
            <a:pPr lvl="0"/>
            <a:r>
              <a:rPr/>
              <a:t>파일이 있으면 </a:t>
            </a:r>
            <a:r>
              <a:rPr>
                <a:latin typeface="Courier"/>
              </a:rPr>
              <a:t>TRUE</a:t>
            </a:r>
            <a:r>
              <a:rPr/>
              <a:t>, 없으면 </a:t>
            </a:r>
            <a:r>
              <a:rPr>
                <a:latin typeface="Courier"/>
              </a:rPr>
              <a:t>FALSE</a:t>
            </a:r>
            <a:r>
              <a:rPr/>
              <a:t>입니다.</a:t>
            </a:r>
          </a:p>
          <a:p>
            <a:pPr lvl="0"/>
            <a:r>
              <a:rPr/>
              <a:t>불러오기 오류가 발생하면 경로와 파일 이름을 먼저 확인합니다.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read.csv()</a:t>
            </a:r>
            <a:r>
              <a:rPr/>
              <a:t>로 CSV 파일을 불러온다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sample_metadata &lt;- </a:t>
            </a:r>
            <a:r>
              <a:rPr>
                <a:solidFill>
                  <a:srgbClr val="4758AB"/>
                </a:solidFill>
                <a:latin typeface="Courier"/>
              </a:rPr>
              <a:t>read.csv</a:t>
            </a:r>
            <a:r>
              <a:rPr>
                <a:solidFill>
                  <a:srgbClr val="003B4F"/>
                </a:solidFill>
                <a:latin typeface="Courier"/>
              </a:rPr>
              <a:t>(input_path)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sample_metadata</a:t>
            </a:r>
          </a:p>
          <a:p>
            <a:pPr lvl="0"/>
            <a:r>
              <a:rPr>
                <a:latin typeface="Courier"/>
              </a:rPr>
              <a:t>read.csv()</a:t>
            </a:r>
            <a:r>
              <a:rPr/>
              <a:t>의 결과는 데이터 프레임입니다.</a:t>
            </a:r>
          </a:p>
          <a:p>
            <a:pPr lvl="0"/>
            <a:r>
              <a:rPr/>
              <a:t>파일의 첫 줄을 기본적으로 열 이름으로 사용합니다.</a:t>
            </a:r>
          </a:p>
          <a:p>
            <a:pPr lvl="0"/>
            <a:r>
              <a:rPr/>
              <a:t>이번 실습에는 외부 패키지가 필요하지 않습니다.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불러온 직후 일부 행을 확인한다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(sample_metadata)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tail</a:t>
            </a:r>
            <a:r>
              <a:rPr>
                <a:solidFill>
                  <a:srgbClr val="003B4F"/>
                </a:solidFill>
                <a:latin typeface="Courier"/>
              </a:rPr>
              <a:t>(sample_metadata)</a:t>
            </a:r>
          </a:p>
          <a:p>
            <a:pPr lvl="0"/>
            <a:r>
              <a:rPr/>
              <a:t>데이터가 예상한 파일인지 확인합니다.</a:t>
            </a:r>
          </a:p>
          <a:p>
            <a:pPr lvl="0"/>
            <a:r>
              <a:rPr/>
              <a:t>열이 잘못 나뉘거나 제목 행이 데이터로 들어오지 않았는지 봅니다.</a:t>
            </a:r>
          </a:p>
          <a:p>
            <a:pPr lvl="0"/>
            <a:r>
              <a:rPr/>
              <a:t>큰 파일은 전체를 출력하기보다 일부부터 확인합니다.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행과 열의 개수를 확인한다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dim</a:t>
            </a:r>
            <a:r>
              <a:rPr>
                <a:solidFill>
                  <a:srgbClr val="003B4F"/>
                </a:solidFill>
                <a:latin typeface="Courier"/>
              </a:rPr>
              <a:t>(sample_metadata)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nrow</a:t>
            </a:r>
            <a:r>
              <a:rPr>
                <a:solidFill>
                  <a:srgbClr val="003B4F"/>
                </a:solidFill>
                <a:latin typeface="Courier"/>
              </a:rPr>
              <a:t>(sample_metadata)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ncol</a:t>
            </a:r>
            <a:r>
              <a:rPr>
                <a:solidFill>
                  <a:srgbClr val="003B4F"/>
                </a:solidFill>
                <a:latin typeface="Courier"/>
              </a:rPr>
              <a:t>(sample_metadata)</a:t>
            </a:r>
          </a:p>
          <a:p>
            <a:pPr lvl="0" indent="0" marL="0">
              <a:buNone/>
            </a:pPr>
            <a:r>
              <a:rPr/>
              <a:t>예상한 샘플 수와 변수 수가 맞는지 확인합니다.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열 이름을 확인한다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names</a:t>
            </a:r>
            <a:r>
              <a:rPr>
                <a:solidFill>
                  <a:srgbClr val="003B4F"/>
                </a:solidFill>
                <a:latin typeface="Courier"/>
              </a:rPr>
              <a:t>(sample_metadata)</a:t>
            </a:r>
          </a:p>
          <a:p>
            <a:pPr lvl="0" indent="0" marL="0">
              <a:buNone/>
            </a:pPr>
            <a:r>
              <a:rPr/>
              <a:t>이번 파일에는 다음 열이 있어야 합니다.</a:t>
            </a:r>
          </a:p>
          <a:p>
            <a:pPr lvl="0" indent="0">
              <a:buNone/>
            </a:pPr>
            <a:r>
              <a:rPr>
                <a:latin typeface="Courier"/>
              </a:rPr>
              <a:t>sample_id, condition, batch, cell_count,
median_genes, mito_percent, doublet_rate, passed_qc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str()</a:t>
            </a:r>
            <a:r>
              <a:rPr/>
              <a:t>로 열의 자료형을 확인한다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str</a:t>
            </a:r>
            <a:r>
              <a:rPr>
                <a:solidFill>
                  <a:srgbClr val="003B4F"/>
                </a:solidFill>
                <a:latin typeface="Courier"/>
              </a:rPr>
              <a:t>(sample_metadata)</a:t>
            </a:r>
          </a:p>
          <a:p>
            <a:pPr lvl="0" indent="0" marL="0">
              <a:buNone/>
            </a:pPr>
            <a:r>
              <a:rPr/>
              <a:t>확인할 사항:</a:t>
            </a:r>
          </a:p>
          <a:p>
            <a:pPr lvl="0"/>
            <a:r>
              <a:rPr>
                <a:latin typeface="Courier"/>
              </a:rPr>
              <a:t>sample_id</a:t>
            </a:r>
            <a:r>
              <a:rPr/>
              <a:t>, </a:t>
            </a:r>
            <a:r>
              <a:rPr>
                <a:latin typeface="Courier"/>
              </a:rPr>
              <a:t>condition</a:t>
            </a:r>
            <a:r>
              <a:rPr/>
              <a:t>, </a:t>
            </a:r>
            <a:r>
              <a:rPr>
                <a:latin typeface="Courier"/>
              </a:rPr>
              <a:t>batch</a:t>
            </a:r>
            <a:r>
              <a:rPr/>
              <a:t>는 문자형인가?</a:t>
            </a:r>
          </a:p>
          <a:p>
            <a:pPr lvl="0"/>
            <a:r>
              <a:rPr/>
              <a:t>측정값 열은 숫자형인가?</a:t>
            </a:r>
          </a:p>
          <a:p>
            <a:pPr lvl="0"/>
            <a:r>
              <a:rPr>
                <a:latin typeface="Courier"/>
              </a:rPr>
              <a:t>passed_qc</a:t>
            </a:r>
            <a:r>
              <a:rPr/>
              <a:t>는 논리형인가?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summary()</a:t>
            </a:r>
            <a:r>
              <a:rPr/>
              <a:t>로 값의 범위를 확인한다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summary</a:t>
            </a:r>
            <a:r>
              <a:rPr>
                <a:solidFill>
                  <a:srgbClr val="003B4F"/>
                </a:solidFill>
                <a:latin typeface="Courier"/>
              </a:rPr>
              <a:t>(sample_metadata)</a:t>
            </a:r>
          </a:p>
          <a:p>
            <a:pPr lvl="0"/>
            <a:r>
              <a:rPr/>
              <a:t>숫자형 열의 최솟값과 최댓값이 예상 범위인지 확인합니다.</a:t>
            </a:r>
          </a:p>
          <a:p>
            <a:pPr lvl="0"/>
            <a:r>
              <a:rPr/>
              <a:t>논리형 열의 </a:t>
            </a:r>
            <a:r>
              <a:rPr>
                <a:latin typeface="Courier"/>
              </a:rPr>
              <a:t>TRUE</a:t>
            </a:r>
            <a:r>
              <a:rPr/>
              <a:t>, </a:t>
            </a:r>
            <a:r>
              <a:rPr>
                <a:latin typeface="Courier"/>
              </a:rPr>
              <a:t>FALSE</a:t>
            </a:r>
            <a:r>
              <a:rPr/>
              <a:t> 개수를 확인합니다.</a:t>
            </a:r>
          </a:p>
          <a:p>
            <a:pPr lvl="0"/>
            <a:r>
              <a:rPr/>
              <a:t>결측값이 있으면 </a:t>
            </a:r>
            <a:r>
              <a:rPr>
                <a:latin typeface="Courier"/>
              </a:rPr>
              <a:t>NA's</a:t>
            </a:r>
            <a:r>
              <a:rPr/>
              <a:t> 개수가 표시됩니다.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결측값이 하나라도 있는지 확인한다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anyNA</a:t>
            </a:r>
            <a:r>
              <a:rPr>
                <a:solidFill>
                  <a:srgbClr val="003B4F"/>
                </a:solidFill>
                <a:latin typeface="Courier"/>
              </a:rPr>
              <a:t>(sample_metadata)</a:t>
            </a:r>
          </a:p>
          <a:p>
            <a:pPr lvl="0"/>
            <a:r>
              <a:rPr/>
              <a:t>결측값이 하나라도 있으면 </a:t>
            </a:r>
            <a:r>
              <a:rPr>
                <a:latin typeface="Courier"/>
              </a:rPr>
              <a:t>TRUE</a:t>
            </a:r>
            <a:r>
              <a:rPr/>
              <a:t>입니다.</a:t>
            </a:r>
          </a:p>
          <a:p>
            <a:pPr lvl="0"/>
            <a:r>
              <a:rPr>
                <a:latin typeface="Courier"/>
              </a:rPr>
              <a:t>FALSE</a:t>
            </a:r>
            <a:r>
              <a:rPr/>
              <a:t>라고 해서 모든 값이 생물학적으로 타당하다는 뜻은 아닙니다.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열별 결측값 개수를 확인한다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colSums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is.na</a:t>
            </a:r>
            <a:r>
              <a:rPr>
                <a:solidFill>
                  <a:srgbClr val="003B4F"/>
                </a:solidFill>
                <a:latin typeface="Courier"/>
              </a:rPr>
              <a:t>(sample_metadata))</a:t>
            </a:r>
          </a:p>
          <a:p>
            <a:pPr lvl="0" indent="-457200" marL="457200">
              <a:buAutoNum type="arabicPeriod"/>
            </a:pPr>
            <a:r>
              <a:rPr>
                <a:latin typeface="Courier"/>
              </a:rPr>
              <a:t>is.na()</a:t>
            </a:r>
            <a:r>
              <a:rPr/>
              <a:t>가 각 셀의 결측 여부를 확인합니다.</a:t>
            </a:r>
          </a:p>
          <a:p>
            <a:pPr lvl="0" indent="-457200" marL="457200">
              <a:buAutoNum type="arabicPeriod"/>
            </a:pPr>
            <a:r>
              <a:rPr>
                <a:latin typeface="Courier"/>
              </a:rPr>
              <a:t>colSums()</a:t>
            </a:r>
            <a:r>
              <a:rPr/>
              <a:t>가 열마다 </a:t>
            </a:r>
            <a:r>
              <a:rPr>
                <a:latin typeface="Courier"/>
              </a:rPr>
              <a:t>TRUE</a:t>
            </a:r>
            <a:r>
              <a:rPr/>
              <a:t>의 개수를 더합니다.</a:t>
            </a:r>
          </a:p>
          <a:p>
            <a:pPr lvl="0" indent="-457200" marL="457200">
              <a:buAutoNum type="arabicPeriod"/>
            </a:pPr>
            <a:r>
              <a:rPr/>
              <a:t>어느 열에 결측값이 있는지 빠르게 알 수 있습니다.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결측값이 있는 행을 확인한다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incomplete_rows &lt;- </a:t>
            </a:r>
            <a:r>
              <a:rPr>
                <a:solidFill>
                  <a:srgbClr val="5E5E5E"/>
                </a:solidFill>
                <a:latin typeface="Courier"/>
              </a:rPr>
              <a:t>!</a:t>
            </a:r>
            <a:r>
              <a:rPr>
                <a:solidFill>
                  <a:srgbClr val="4758AB"/>
                </a:solidFill>
                <a:latin typeface="Courier"/>
              </a:rPr>
              <a:t>complete.cases</a:t>
            </a:r>
            <a:r>
              <a:rPr>
                <a:solidFill>
                  <a:srgbClr val="003B4F"/>
                </a:solidFill>
                <a:latin typeface="Courier"/>
              </a:rPr>
              <a:t>(sample_metadata)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sample_metadata[incomplete_rows, ]</a:t>
            </a:r>
          </a:p>
          <a:p>
            <a:pPr lvl="0"/>
            <a:r>
              <a:rPr>
                <a:latin typeface="Courier"/>
              </a:rPr>
              <a:t>complete.cases()</a:t>
            </a:r>
            <a:r>
              <a:rPr/>
              <a:t>는 모든 열에 값이 있는 행을 찾습니다.</a:t>
            </a:r>
          </a:p>
          <a:p>
            <a:pPr lvl="0"/>
            <a:r>
              <a:rPr>
                <a:latin typeface="Courier"/>
              </a:rPr>
              <a:t>!</a:t>
            </a:r>
            <a:r>
              <a:rPr/>
              <a:t>를 붙이면 결측값이 하나라도 있는 행을 찾습니다.</a:t>
            </a:r>
          </a:p>
          <a:p>
            <a:pPr lvl="0"/>
            <a:r>
              <a:rPr/>
              <a:t>결측값을 삭제하거나 대체하기 전에 해당 행을 먼저 살펴봅니다.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중복된 샘플 이름을 확인한다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duplicated</a:t>
            </a:r>
            <a:r>
              <a:rPr>
                <a:solidFill>
                  <a:srgbClr val="003B4F"/>
                </a:solidFill>
                <a:latin typeface="Courier"/>
              </a:rPr>
              <a:t>(sample_metadata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sample_id)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any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duplicated</a:t>
            </a:r>
            <a:r>
              <a:rPr>
                <a:solidFill>
                  <a:srgbClr val="003B4F"/>
                </a:solidFill>
                <a:latin typeface="Courier"/>
              </a:rPr>
              <a:t>(sample_metadata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sample_id))</a:t>
            </a:r>
          </a:p>
          <a:p>
            <a:pPr lvl="0"/>
            <a:r>
              <a:rPr>
                <a:latin typeface="Courier"/>
              </a:rPr>
              <a:t>duplicated()</a:t>
            </a:r>
            <a:r>
              <a:rPr/>
              <a:t>는 앞에서 이미 나온 값을 </a:t>
            </a:r>
            <a:r>
              <a:rPr>
                <a:latin typeface="Courier"/>
              </a:rPr>
              <a:t>TRUE</a:t>
            </a:r>
            <a:r>
              <a:rPr/>
              <a:t>로 표시합니다.</a:t>
            </a:r>
          </a:p>
          <a:p>
            <a:pPr lvl="0"/>
            <a:r>
              <a:rPr/>
              <a:t>샘플 ID는 보통 각 행을 구분해야 하므로 중복 여부를 확인합니다.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범주형 열의 값을 확인한다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unique</a:t>
            </a:r>
            <a:r>
              <a:rPr>
                <a:solidFill>
                  <a:srgbClr val="003B4F"/>
                </a:solidFill>
                <a:latin typeface="Courier"/>
              </a:rPr>
              <a:t>(sample_metadata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condition)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unique</a:t>
            </a:r>
            <a:r>
              <a:rPr>
                <a:solidFill>
                  <a:srgbClr val="003B4F"/>
                </a:solidFill>
                <a:latin typeface="Courier"/>
              </a:rPr>
              <a:t>(sample_metadata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batch)</a:t>
            </a:r>
          </a:p>
          <a:p>
            <a:pPr lvl="0"/>
            <a:r>
              <a:rPr>
                <a:latin typeface="Courier"/>
              </a:rPr>
              <a:t>unique()</a:t>
            </a:r>
            <a:r>
              <a:rPr/>
              <a:t>는 중복을 제거한 고유한 값을 보여 줍니다.</a:t>
            </a:r>
          </a:p>
          <a:p>
            <a:pPr lvl="0"/>
            <a:r>
              <a:rPr/>
              <a:t>철자가 다른 값이나 예상하지 못한 범주가 있는지 확인합니다.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숫자형 열을 간단히 점검한다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min</a:t>
            </a:r>
            <a:r>
              <a:rPr>
                <a:solidFill>
                  <a:srgbClr val="003B4F"/>
                </a:solidFill>
                <a:latin typeface="Courier"/>
              </a:rPr>
              <a:t>(sample_metadata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cell_count)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max</a:t>
            </a:r>
            <a:r>
              <a:rPr>
                <a:solidFill>
                  <a:srgbClr val="003B4F"/>
                </a:solidFill>
                <a:latin typeface="Courier"/>
              </a:rPr>
              <a:t>(sample_metadata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cell_count)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(sample_metadata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cell_count)</a:t>
            </a:r>
          </a:p>
          <a:p>
            <a:pPr lvl="0"/>
            <a:r>
              <a:rPr/>
              <a:t>값의 범위와 대표값을 확인합니다.</a:t>
            </a:r>
          </a:p>
          <a:p>
            <a:pPr lvl="0"/>
            <a:r>
              <a:rPr/>
              <a:t>결측값이 있는 열에는 필요할 때 </a:t>
            </a:r>
            <a:r>
              <a:rPr>
                <a:latin typeface="Courier"/>
              </a:rPr>
              <a:t>na.rm = TRUE</a:t>
            </a:r>
            <a:r>
              <a:rPr/>
              <a:t>를 사용합니다.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(sample_metadata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doublet_rate,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분석용 열을 추가할 수 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sample_metadata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cell_count_k &lt;-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sample_metadata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cell_count </a:t>
            </a:r>
            <a:r>
              <a:rPr>
                <a:solidFill>
                  <a:srgbClr val="5E5E5E"/>
                </a:solidFill>
                <a:latin typeface="Courier"/>
              </a:rPr>
              <a:t>/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1000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(sample_metadata)</a:t>
            </a:r>
          </a:p>
          <a:p>
            <a:pPr lvl="0" indent="0" marL="0">
              <a:buNone/>
            </a:pPr>
            <a:r>
              <a:rPr/>
              <a:t>원본 파일 자체를 바꾸지 않고, R에서 불러온 데이터 프레임에 새 열을 추가합니다.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저장할 폴더가 있는지 확인한다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dir.exists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"results"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/>
            <a:r>
              <a:rPr/>
              <a:t>폴더가 있으면 </a:t>
            </a:r>
            <a:r>
              <a:rPr>
                <a:latin typeface="Courier"/>
              </a:rPr>
              <a:t>TRUE</a:t>
            </a:r>
            <a:r>
              <a:rPr/>
              <a:t>, 없으면 </a:t>
            </a:r>
            <a:r>
              <a:rPr>
                <a:latin typeface="Courier"/>
              </a:rPr>
              <a:t>FALSE</a:t>
            </a:r>
            <a:r>
              <a:rPr/>
              <a:t>입니다.</a:t>
            </a:r>
          </a:p>
          <a:p>
            <a:pPr lvl="0"/>
            <a:r>
              <a:rPr/>
              <a:t>파일을 저장하기 전에 대상 폴더가 준비되어 있어야 합니다.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dir.create()</a:t>
            </a:r>
            <a:r>
              <a:rPr/>
              <a:t>로 결과 폴더를 만든다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dir.create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"results"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showWarnings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FALSE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/>
            <a:r>
              <a:rPr/>
              <a:t>폴더가 없으면 새로 만듭니다.</a:t>
            </a:r>
          </a:p>
          <a:p>
            <a:pPr lvl="0"/>
            <a:r>
              <a:rPr>
                <a:latin typeface="Courier"/>
              </a:rPr>
              <a:t>showWarnings = FALSE</a:t>
            </a:r>
            <a:r>
              <a:rPr/>
              <a:t>는 이미 폴더가 있을 때의 경고를 숨깁니다.</a:t>
            </a:r>
          </a:p>
          <a:p>
            <a:pPr lvl="0"/>
            <a:r>
              <a:rPr/>
              <a:t>분석 결과와 원본 데이터를 분리할 수 있습니다.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write.csv()</a:t>
            </a:r>
            <a:r>
              <a:rPr/>
              <a:t>로 데이터 프레임을 저장한다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output_path &lt;- </a:t>
            </a:r>
            <a:r>
              <a:rPr>
                <a:solidFill>
                  <a:srgbClr val="20794D"/>
                </a:solidFill>
                <a:latin typeface="Courier"/>
              </a:rPr>
              <a:t>"results/sample_metadata_checked.csv"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write.csv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sample_metadata,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output_path,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row.names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FALSE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/>
            <a:r>
              <a:rPr>
                <a:latin typeface="Courier"/>
              </a:rPr>
              <a:t>row.names = FALSE</a:t>
            </a:r>
            <a:r>
              <a:rPr/>
              <a:t>는 불필요한 행 번호 열을 저장하지 않습니다.</a:t>
            </a:r>
          </a:p>
          <a:p>
            <a:pPr lvl="0"/>
            <a:r>
              <a:rPr/>
              <a:t>원본 파일과 다른 경로에 저장하여 원본을 보존합니다.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저장된 파일이 있는지 확인한다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file.exists</a:t>
            </a:r>
            <a:r>
              <a:rPr>
                <a:solidFill>
                  <a:srgbClr val="003B4F"/>
                </a:solidFill>
                <a:latin typeface="Courier"/>
              </a:rPr>
              <a:t>(output_path)</a:t>
            </a:r>
          </a:p>
          <a:p>
            <a:pPr lvl="0" indent="0" marL="0">
              <a:buNone/>
            </a:pPr>
            <a:r>
              <a:rPr/>
              <a:t>코드가 오류 없이 끝났더라도 결과 파일이 실제로 생성됐는지 확인합니다.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저장한 파일을 다시 불러온다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saved_metadata &lt;- </a:t>
            </a:r>
            <a:r>
              <a:rPr>
                <a:solidFill>
                  <a:srgbClr val="4758AB"/>
                </a:solidFill>
                <a:latin typeface="Courier"/>
              </a:rPr>
              <a:t>read.csv</a:t>
            </a:r>
            <a:r>
              <a:rPr>
                <a:solidFill>
                  <a:srgbClr val="003B4F"/>
                </a:solidFill>
                <a:latin typeface="Courier"/>
              </a:rPr>
              <a:t>(output_path)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(saved_metadata)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dim</a:t>
            </a:r>
            <a:r>
              <a:rPr>
                <a:solidFill>
                  <a:srgbClr val="003B4F"/>
                </a:solidFill>
                <a:latin typeface="Courier"/>
              </a:rPr>
              <a:t>(saved_metadata)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str</a:t>
            </a:r>
            <a:r>
              <a:rPr>
                <a:solidFill>
                  <a:srgbClr val="003B4F"/>
                </a:solidFill>
                <a:latin typeface="Courier"/>
              </a:rPr>
              <a:t>(saved_metadata)</a:t>
            </a:r>
          </a:p>
          <a:p>
            <a:pPr lvl="0"/>
            <a:r>
              <a:rPr/>
              <a:t>저장 후 다시 불러오는 과정을 </a:t>
            </a:r>
            <a:r>
              <a:rPr b="1"/>
              <a:t>읽기 검증</a:t>
            </a:r>
            <a:r>
              <a:rPr/>
              <a:t>이라고 할 수 있습니다.</a:t>
            </a:r>
          </a:p>
          <a:p>
            <a:pPr lvl="0"/>
            <a:r>
              <a:rPr/>
              <a:t>행 수, 열 수, 열 이름과 자료형이 예상과 같은지 확인합니다.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원본과 저장 결과의 크기를 비교한다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dim</a:t>
            </a:r>
            <a:r>
              <a:rPr>
                <a:solidFill>
                  <a:srgbClr val="003B4F"/>
                </a:solidFill>
                <a:latin typeface="Courier"/>
              </a:rPr>
              <a:t>(sample_metadata)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dim</a:t>
            </a:r>
            <a:r>
              <a:rPr>
                <a:solidFill>
                  <a:srgbClr val="003B4F"/>
                </a:solidFill>
                <a:latin typeface="Courier"/>
              </a:rPr>
              <a:t>(saved_metadata)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names</a:t>
            </a:r>
            <a:r>
              <a:rPr>
                <a:solidFill>
                  <a:srgbClr val="003B4F"/>
                </a:solidFill>
                <a:latin typeface="Courier"/>
              </a:rPr>
              <a:t>(sample_metadata)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names</a:t>
            </a:r>
            <a:r>
              <a:rPr>
                <a:solidFill>
                  <a:srgbClr val="003B4F"/>
                </a:solidFill>
                <a:latin typeface="Courier"/>
              </a:rPr>
              <a:t>(saved_metadata)</a:t>
            </a:r>
          </a:p>
          <a:p>
            <a:pPr lvl="0" indent="0" marL="0">
              <a:buNone/>
            </a:pPr>
            <a:r>
              <a:rPr/>
              <a:t>추가한 열을 포함하여 행과 열이 빠짐없이 저장됐는지 확인합니다.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흔한 오류 1: 작업 폴더가 다르다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getwd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file.exists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"data/sample_metadata.csv"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cannot open the connection</a:t>
            </a:r>
            <a:r>
              <a:rPr/>
              <a:t> 오류가 나오면 다음을 확인합니다.</a:t>
            </a:r>
          </a:p>
          <a:p>
            <a:pPr lvl="0" indent="-457200" marL="457200">
              <a:buAutoNum type="arabicPeriod"/>
            </a:pPr>
            <a:r>
              <a:rPr/>
              <a:t>프로젝트 루트에서 실행했는가?</a:t>
            </a:r>
          </a:p>
          <a:p>
            <a:pPr lvl="0" indent="-457200" marL="457200">
              <a:buAutoNum type="arabicPeriod"/>
            </a:pPr>
            <a:r>
              <a:rPr>
                <a:latin typeface="Courier"/>
              </a:rPr>
              <a:t>data</a:t>
            </a:r>
            <a:r>
              <a:rPr/>
              <a:t> 폴더가 있는가?</a:t>
            </a:r>
          </a:p>
          <a:p>
            <a:pPr lvl="0" indent="-457200" marL="457200">
              <a:buAutoNum type="arabicPeriod"/>
            </a:pPr>
            <a:r>
              <a:rPr/>
              <a:t>파일 이름과 확장자가 정확한가?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흔한 오류 2: 경로의 철자가 다르다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read.csv("datas/sample_metadata.csv")</a:t>
            </a:r>
          </a:p>
          <a:p>
            <a:pPr lvl="0"/>
            <a:r>
              <a:rPr/>
              <a:t>실제 폴더 이름은 </a:t>
            </a:r>
            <a:r>
              <a:rPr>
                <a:latin typeface="Courier"/>
              </a:rPr>
              <a:t>data</a:t>
            </a:r>
            <a:r>
              <a:rPr/>
              <a:t>입니다.</a:t>
            </a:r>
          </a:p>
          <a:p>
            <a:pPr lvl="0"/>
            <a:r>
              <a:rPr/>
              <a:t>대소문자, 공백, 확장자 </a:t>
            </a:r>
            <a:r>
              <a:rPr>
                <a:latin typeface="Courier"/>
              </a:rPr>
              <a:t>.csv</a:t>
            </a:r>
            <a:r>
              <a:rPr/>
              <a:t>를 모두 확인합니다.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흔한 오류 3: 행 번호가 열로 저장된다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write.csv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sample_metadata,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20794D"/>
                </a:solidFill>
                <a:latin typeface="Courier"/>
              </a:rPr>
              <a:t>"results/sample_metadata_checked.csv"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row.names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FALSE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row.names = FALSE</a:t>
            </a:r>
            <a:r>
              <a:rPr/>
              <a:t>를 생략하면 원하지 않는 행 번호 열이 추가될 수 있습니다.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실습 1: 파일 불러오기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input_path &lt;- </a:t>
            </a:r>
            <a:r>
              <a:rPr>
                <a:solidFill>
                  <a:srgbClr val="20794D"/>
                </a:solidFill>
                <a:latin typeface="Courier"/>
              </a:rPr>
              <a:t>"data/sample_metadata.csv"</a:t>
            </a:r>
            <a:br/>
            <a:r>
              <a:rPr>
                <a:solidFill>
                  <a:srgbClr val="4758AB"/>
                </a:solidFill>
                <a:latin typeface="Courier"/>
              </a:rPr>
              <a:t>file.exists</a:t>
            </a:r>
            <a:r>
              <a:rPr>
                <a:solidFill>
                  <a:srgbClr val="003B4F"/>
                </a:solidFill>
                <a:latin typeface="Courier"/>
              </a:rPr>
              <a:t>(input_path)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sample_metadata &lt;- </a:t>
            </a:r>
            <a:r>
              <a:rPr>
                <a:solidFill>
                  <a:srgbClr val="4758AB"/>
                </a:solidFill>
                <a:latin typeface="Courier"/>
              </a:rPr>
              <a:t>read.csv</a:t>
            </a:r>
            <a:r>
              <a:rPr>
                <a:solidFill>
                  <a:srgbClr val="003B4F"/>
                </a:solidFill>
                <a:latin typeface="Courier"/>
              </a:rPr>
              <a:t>(input_path)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(sample_metadata)</a:t>
            </a:r>
          </a:p>
          <a:p>
            <a:pPr lvl="0" indent="0" marL="0">
              <a:buNone/>
            </a:pPr>
            <a:r>
              <a:rPr/>
              <a:t>파일 경로와 처음 몇 행이 예상한 모습인지 확인합니다.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실습 2: 구조와 이상 여부 점검하기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dim</a:t>
            </a:r>
            <a:r>
              <a:rPr>
                <a:solidFill>
                  <a:srgbClr val="003B4F"/>
                </a:solidFill>
                <a:latin typeface="Courier"/>
              </a:rPr>
              <a:t>(sample_metadata)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names</a:t>
            </a:r>
            <a:r>
              <a:rPr>
                <a:solidFill>
                  <a:srgbClr val="003B4F"/>
                </a:solidFill>
                <a:latin typeface="Courier"/>
              </a:rPr>
              <a:t>(sample_metadata)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str</a:t>
            </a:r>
            <a:r>
              <a:rPr>
                <a:solidFill>
                  <a:srgbClr val="003B4F"/>
                </a:solidFill>
                <a:latin typeface="Courier"/>
              </a:rPr>
              <a:t>(sample_metadata)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summary</a:t>
            </a:r>
            <a:r>
              <a:rPr>
                <a:solidFill>
                  <a:srgbClr val="003B4F"/>
                </a:solidFill>
                <a:latin typeface="Courier"/>
              </a:rPr>
              <a:t>(sample_metadata)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colSums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is.na</a:t>
            </a:r>
            <a:r>
              <a:rPr>
                <a:solidFill>
                  <a:srgbClr val="003B4F"/>
                </a:solidFill>
                <a:latin typeface="Courier"/>
              </a:rPr>
              <a:t>(sample_metadata))</a:t>
            </a:r>
          </a:p>
          <a:p>
            <a:pPr lvl="0" indent="0" marL="0">
              <a:buNone/>
            </a:pPr>
            <a:r>
              <a:rPr/>
              <a:t>결측값이 있는 열과 해당 행을 찾아봅니다.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실습 3: 결과 열 추가하기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sample_metadata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cell_count_k &lt;-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sample_metadata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cell_count </a:t>
            </a:r>
            <a:r>
              <a:rPr>
                <a:solidFill>
                  <a:srgbClr val="5E5E5E"/>
                </a:solidFill>
                <a:latin typeface="Courier"/>
              </a:rPr>
              <a:t>/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1000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(sample_metadata)</a:t>
            </a:r>
          </a:p>
          <a:p>
            <a:pPr lvl="0" indent="0" marL="0">
              <a:buNone/>
            </a:pPr>
            <a:r>
              <a:rPr/>
              <a:t>새 열의 값과 자료형을 확인합니다.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실습 4: 저장하고 다시 확인하기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dir.create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"results"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showWarnings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FALSE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output_path &lt;- </a:t>
            </a:r>
            <a:r>
              <a:rPr>
                <a:solidFill>
                  <a:srgbClr val="20794D"/>
                </a:solidFill>
                <a:latin typeface="Courier"/>
              </a:rPr>
              <a:t>"results/sample_metadata_checked.csv"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write.csv</a:t>
            </a:r>
            <a:r>
              <a:rPr>
                <a:solidFill>
                  <a:srgbClr val="003B4F"/>
                </a:solidFill>
                <a:latin typeface="Courier"/>
              </a:rPr>
              <a:t>(sample_metadata, output_path, </a:t>
            </a:r>
            <a:r>
              <a:rPr>
                <a:solidFill>
                  <a:srgbClr val="657422"/>
                </a:solidFill>
                <a:latin typeface="Courier"/>
              </a:rPr>
              <a:t>row.names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FALSE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saved_metadata &lt;- </a:t>
            </a:r>
            <a:r>
              <a:rPr>
                <a:solidFill>
                  <a:srgbClr val="4758AB"/>
                </a:solidFill>
                <a:latin typeface="Courier"/>
              </a:rPr>
              <a:t>read.csv</a:t>
            </a:r>
            <a:r>
              <a:rPr>
                <a:solidFill>
                  <a:srgbClr val="003B4F"/>
                </a:solidFill>
                <a:latin typeface="Courier"/>
              </a:rPr>
              <a:t>(output_path)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dim</a:t>
            </a:r>
            <a:r>
              <a:rPr>
                <a:solidFill>
                  <a:srgbClr val="003B4F"/>
                </a:solidFill>
                <a:latin typeface="Courier"/>
              </a:rPr>
              <a:t>(saved_metadata)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names</a:t>
            </a:r>
            <a:r>
              <a:rPr>
                <a:solidFill>
                  <a:srgbClr val="003B4F"/>
                </a:solidFill>
                <a:latin typeface="Courier"/>
              </a:rPr>
              <a:t>(saved_metadata)</a:t>
            </a:r>
          </a:p>
          <a:p>
            <a:pPr lvl="0" indent="0" marL="0">
              <a:buNone/>
            </a:pPr>
            <a:r>
              <a:rPr/>
              <a:t>원본 데이터 프레임과 저장 결과의 크기를 비교합니다.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오늘 배운 내용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CSV는 표 형태의 데이터를 저장하는 텍스트 파일입니다.</a:t>
            </a:r>
          </a:p>
          <a:p>
            <a:pPr lvl="0"/>
            <a:r>
              <a:rPr/>
              <a:t>프로젝트 내부에서는 상대 경로를 사용합니다.</a:t>
            </a:r>
          </a:p>
          <a:p>
            <a:pPr lvl="0"/>
            <a:r>
              <a:rPr>
                <a:latin typeface="Courier"/>
              </a:rPr>
              <a:t>read.csv()</a:t>
            </a:r>
            <a:r>
              <a:rPr/>
              <a:t>로 파일을 데이터 프레임으로 불러옵니다.</a:t>
            </a:r>
          </a:p>
          <a:p>
            <a:pPr lvl="0"/>
            <a:r>
              <a:rPr/>
              <a:t>구조, 자료형, 결측값, 중복값을 불러온 직후 점검합니다.</a:t>
            </a:r>
          </a:p>
          <a:p>
            <a:pPr lvl="0"/>
            <a:r>
              <a:rPr>
                <a:latin typeface="Courier"/>
              </a:rPr>
              <a:t>write.csv()</a:t>
            </a:r>
            <a:r>
              <a:rPr/>
              <a:t>로 결과를 저장하고 다시 읽어 검증합니다.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종료 점검과 다음 차시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457200" marL="457200">
              <a:buAutoNum type="arabicPeriod"/>
            </a:pPr>
            <a:r>
              <a:rPr/>
              <a:t>상대 경로를 사용하면 어떤 점이 좋습니까?</a:t>
            </a:r>
          </a:p>
          <a:p>
            <a:pPr lvl="0" indent="-457200" marL="457200">
              <a:buAutoNum type="arabicPeriod"/>
            </a:pPr>
            <a:r>
              <a:rPr/>
              <a:t>파일을 불러온 직후 어떤 항목을 확인해야 합니까?</a:t>
            </a:r>
          </a:p>
          <a:p>
            <a:pPr lvl="0" indent="-457200" marL="457200">
              <a:buAutoNum type="arabicPeriod"/>
            </a:pPr>
            <a:r>
              <a:rPr/>
              <a:t>열별 결측값 개수는 어떻게 계산합니까?</a:t>
            </a:r>
          </a:p>
          <a:p>
            <a:pPr lvl="0" indent="-457200" marL="457200">
              <a:buAutoNum type="arabicPeriod"/>
            </a:pPr>
            <a:r>
              <a:rPr/>
              <a:t>CSV 저장 시 </a:t>
            </a:r>
            <a:r>
              <a:rPr>
                <a:latin typeface="Courier"/>
              </a:rPr>
              <a:t>row.names = FALSE</a:t>
            </a:r>
            <a:r>
              <a:rPr/>
              <a:t>를 사용하는 이유는 무엇입니까?</a:t>
            </a:r>
          </a:p>
          <a:p>
            <a:pPr lvl="0" indent="0" marL="0">
              <a:buNone/>
            </a:pPr>
            <a:r>
              <a:rPr b="1"/>
              <a:t>다음 차시:</a:t>
            </a:r>
            <a:r>
              <a:rPr/>
              <a:t> 여러 조건을 결합하여 필요한 행을 선택하고 코드의 실행 흐름 제어하기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</Words>
  <Application>Microsoft Office PowerPoint</Application>
  <PresentationFormat>사용자 지정</PresentationFormat>
  <Paragraphs>2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7" baseType="lpstr">
      <vt:lpstr>Pretendard</vt:lpstr>
      <vt:lpstr>맑은 고딕</vt:lpstr>
      <vt:lpstr>Arial</vt:lpstr>
      <vt:lpstr>Inter</vt:lpstr>
      <vt:lpstr>JetBrains Mono</vt:lpstr>
      <vt:lpstr>Office 테마</vt:lpstr>
      <vt:lpstr>R Programming Lecture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6차시: 데이터 불러오기와 저장하기</dc:title>
  <dc:creator/>
  <cp:keywords/>
  <dcterms:created xsi:type="dcterms:W3CDTF">2026-07-12T09:24:09Z</dcterms:created>
  <dcterms:modified xsi:type="dcterms:W3CDTF">2026-07-12T09:24:09Z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header-includes">
    <vt:lpwstr/>
  </property>
  <property fmtid="{D5CDD505-2E9C-101B-9397-08002B2CF9AE}" pid="4" name="include-after">
    <vt:lpwstr/>
  </property>
  <property fmtid="{D5CDD505-2E9C-101B-9397-08002B2CF9AE}" pid="5" name="include-before">
    <vt:lpwstr/>
  </property>
  <property fmtid="{D5CDD505-2E9C-101B-9397-08002B2CF9AE}" pid="6" name="labels">
    <vt:lpwstr/>
  </property>
  <property fmtid="{D5CDD505-2E9C-101B-9397-08002B2CF9AE}" pid="7" name="subtitle">
    <vt:lpwstr>R 기초 프로그래밍</vt:lpwstr>
  </property>
  <property fmtid="{D5CDD505-2E9C-101B-9397-08002B2CF9AE}" pid="8" name="toc-title">
    <vt:lpwstr>목차</vt:lpwstr>
  </property>
</Properties>
</file>